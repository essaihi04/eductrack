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98" r:id="rId2"/>
    <p:sldId id="296" r:id="rId3"/>
    <p:sldId id="256" r:id="rId4"/>
    <p:sldId id="258" r:id="rId5"/>
    <p:sldId id="259" r:id="rId6"/>
    <p:sldId id="309" r:id="rId7"/>
    <p:sldId id="260" r:id="rId8"/>
    <p:sldId id="268" r:id="rId9"/>
    <p:sldId id="261" r:id="rId10"/>
    <p:sldId id="306" r:id="rId11"/>
    <p:sldId id="267" r:id="rId12"/>
    <p:sldId id="430" r:id="rId13"/>
    <p:sldId id="262" r:id="rId14"/>
    <p:sldId id="301" r:id="rId15"/>
    <p:sldId id="299" r:id="rId16"/>
    <p:sldId id="263" r:id="rId17"/>
    <p:sldId id="273" r:id="rId18"/>
    <p:sldId id="274" r:id="rId19"/>
    <p:sldId id="275" r:id="rId20"/>
    <p:sldId id="276" r:id="rId21"/>
    <p:sldId id="277" r:id="rId22"/>
    <p:sldId id="279" r:id="rId23"/>
    <p:sldId id="302" r:id="rId24"/>
    <p:sldId id="281" r:id="rId25"/>
    <p:sldId id="303" r:id="rId26"/>
    <p:sldId id="282" r:id="rId27"/>
    <p:sldId id="278" r:id="rId28"/>
    <p:sldId id="287" r:id="rId29"/>
    <p:sldId id="307" r:id="rId30"/>
    <p:sldId id="308" r:id="rId31"/>
    <p:sldId id="284" r:id="rId32"/>
    <p:sldId id="355" r:id="rId33"/>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00FF00"/>
    <a:srgbClr val="33ED3C"/>
    <a:srgbClr val="FF3399"/>
    <a:srgbClr val="CC00CC"/>
    <a:srgbClr val="FF33CC"/>
    <a:srgbClr val="CFA63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2B0B6D-A14C-4FFB-ABC9-57B5645283A6}" v="1" dt="2024-12-22T11:38:43.7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880"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FEA632-3721-4ABE-821E-0D46DAA57338}" type="datetimeFigureOut">
              <a:rPr lang="fr-FR" smtClean="0"/>
              <a:t>14/01/2026</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F719E8-C549-4EB9-A206-210431F2D7E8}" type="slidenum">
              <a:rPr lang="fr-FR" smtClean="0"/>
              <a:t>‹#›</a:t>
            </a:fld>
            <a:endParaRPr lang="fr-FR"/>
          </a:p>
        </p:txBody>
      </p:sp>
    </p:spTree>
    <p:extLst>
      <p:ext uri="{BB962C8B-B14F-4D97-AF65-F5344CB8AC3E}">
        <p14:creationId xmlns:p14="http://schemas.microsoft.com/office/powerpoint/2010/main" val="516663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48B28A9-C94E-A245-835D-5360345F40FC}" type="slidenum">
              <a:rPr lang="fr-FR" smtClean="0"/>
              <a:t>10</a:t>
            </a:fld>
            <a:endParaRPr lang="fr-FR"/>
          </a:p>
        </p:txBody>
      </p:sp>
    </p:spTree>
    <p:extLst>
      <p:ext uri="{BB962C8B-B14F-4D97-AF65-F5344CB8AC3E}">
        <p14:creationId xmlns:p14="http://schemas.microsoft.com/office/powerpoint/2010/main" val="508639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48B28A9-C94E-A245-835D-5360345F40FC}" type="slidenum">
              <a:rPr lang="fr-FR" smtClean="0"/>
              <a:t>23</a:t>
            </a:fld>
            <a:endParaRPr lang="fr-FR"/>
          </a:p>
        </p:txBody>
      </p:sp>
    </p:spTree>
    <p:extLst>
      <p:ext uri="{BB962C8B-B14F-4D97-AF65-F5344CB8AC3E}">
        <p14:creationId xmlns:p14="http://schemas.microsoft.com/office/powerpoint/2010/main" val="3315115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et modifiez le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E548EA99-F85A-1B49-AB64-2085162C78AC}" type="datetimeFigureOut">
              <a:rPr lang="fr-FR" smtClean="0"/>
              <a:t>14/01/2026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0C46A48-F5F8-8040-AC37-B410FCC47398}" type="slidenum">
              <a:rPr lang="fr-FR" smtClean="0"/>
              <a:t>‹#›</a:t>
            </a:fld>
            <a:endParaRPr lang="fr-FR"/>
          </a:p>
        </p:txBody>
      </p:sp>
    </p:spTree>
    <p:extLst>
      <p:ext uri="{BB962C8B-B14F-4D97-AF65-F5344CB8AC3E}">
        <p14:creationId xmlns:p14="http://schemas.microsoft.com/office/powerpoint/2010/main" val="353146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E548EA99-F85A-1B49-AB64-2085162C78AC}" type="datetimeFigureOut">
              <a:rPr lang="fr-FR" smtClean="0"/>
              <a:t>14/01/2026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0C46A48-F5F8-8040-AC37-B410FCC47398}" type="slidenum">
              <a:rPr lang="fr-FR" smtClean="0"/>
              <a:t>‹#›</a:t>
            </a:fld>
            <a:endParaRPr lang="fr-FR"/>
          </a:p>
        </p:txBody>
      </p:sp>
    </p:spTree>
    <p:extLst>
      <p:ext uri="{BB962C8B-B14F-4D97-AF65-F5344CB8AC3E}">
        <p14:creationId xmlns:p14="http://schemas.microsoft.com/office/powerpoint/2010/main" val="519822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E548EA99-F85A-1B49-AB64-2085162C78AC}" type="datetimeFigureOut">
              <a:rPr lang="fr-FR" smtClean="0"/>
              <a:t>14/01/2026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0C46A48-F5F8-8040-AC37-B410FCC47398}" type="slidenum">
              <a:rPr lang="fr-FR" smtClean="0"/>
              <a:t>‹#›</a:t>
            </a:fld>
            <a:endParaRPr lang="fr-FR"/>
          </a:p>
        </p:txBody>
      </p:sp>
    </p:spTree>
    <p:extLst>
      <p:ext uri="{BB962C8B-B14F-4D97-AF65-F5344CB8AC3E}">
        <p14:creationId xmlns:p14="http://schemas.microsoft.com/office/powerpoint/2010/main" val="1467200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E548EA99-F85A-1B49-AB64-2085162C78AC}" type="datetimeFigureOut">
              <a:rPr lang="fr-FR" smtClean="0"/>
              <a:t>14/01/2026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0C46A48-F5F8-8040-AC37-B410FCC47398}" type="slidenum">
              <a:rPr lang="fr-FR" smtClean="0"/>
              <a:t>‹#›</a:t>
            </a:fld>
            <a:endParaRPr lang="fr-FR"/>
          </a:p>
        </p:txBody>
      </p:sp>
    </p:spTree>
    <p:extLst>
      <p:ext uri="{BB962C8B-B14F-4D97-AF65-F5344CB8AC3E}">
        <p14:creationId xmlns:p14="http://schemas.microsoft.com/office/powerpoint/2010/main" val="2844237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E548EA99-F85A-1B49-AB64-2085162C78AC}" type="datetimeFigureOut">
              <a:rPr lang="fr-FR" smtClean="0"/>
              <a:t>14/01/2026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D0C46A48-F5F8-8040-AC37-B410FCC47398}" type="slidenum">
              <a:rPr lang="fr-FR" smtClean="0"/>
              <a:t>‹#›</a:t>
            </a:fld>
            <a:endParaRPr lang="fr-FR"/>
          </a:p>
        </p:txBody>
      </p:sp>
    </p:spTree>
    <p:extLst>
      <p:ext uri="{BB962C8B-B14F-4D97-AF65-F5344CB8AC3E}">
        <p14:creationId xmlns:p14="http://schemas.microsoft.com/office/powerpoint/2010/main" val="2983521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e la date 2"/>
          <p:cNvSpPr>
            <a:spLocks noGrp="1"/>
          </p:cNvSpPr>
          <p:nvPr>
            <p:ph type="dt" sz="half" idx="10"/>
          </p:nvPr>
        </p:nvSpPr>
        <p:spPr/>
        <p:txBody>
          <a:bodyPr/>
          <a:lstStyle/>
          <a:p>
            <a:fld id="{E548EA99-F85A-1B49-AB64-2085162C78AC}" type="datetimeFigureOut">
              <a:rPr lang="fr-FR" smtClean="0"/>
              <a:t>14/01/2026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D0C46A48-F5F8-8040-AC37-B410FCC47398}" type="slidenum">
              <a:rPr lang="fr-FR" smtClean="0"/>
              <a:t>‹#›</a:t>
            </a:fld>
            <a:endParaRPr lang="fr-FR"/>
          </a:p>
        </p:txBody>
      </p:sp>
    </p:spTree>
    <p:extLst>
      <p:ext uri="{BB962C8B-B14F-4D97-AF65-F5344CB8AC3E}">
        <p14:creationId xmlns:p14="http://schemas.microsoft.com/office/powerpoint/2010/main" val="2034349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548EA99-F85A-1B49-AB64-2085162C78AC}" type="datetimeFigureOut">
              <a:rPr lang="fr-FR" smtClean="0"/>
              <a:t>14/01/2026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D0C46A48-F5F8-8040-AC37-B410FCC47398}" type="slidenum">
              <a:rPr lang="fr-FR" smtClean="0"/>
              <a:t>‹#›</a:t>
            </a:fld>
            <a:endParaRPr lang="fr-FR"/>
          </a:p>
        </p:txBody>
      </p:sp>
    </p:spTree>
    <p:extLst>
      <p:ext uri="{BB962C8B-B14F-4D97-AF65-F5344CB8AC3E}">
        <p14:creationId xmlns:p14="http://schemas.microsoft.com/office/powerpoint/2010/main" val="852029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E548EA99-F85A-1B49-AB64-2085162C78AC}" type="datetimeFigureOut">
              <a:rPr lang="fr-FR" smtClean="0"/>
              <a:t>14/01/2026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0C46A48-F5F8-8040-AC37-B410FCC47398}" type="slidenum">
              <a:rPr lang="fr-FR" smtClean="0"/>
              <a:t>‹#›</a:t>
            </a:fld>
            <a:endParaRPr lang="fr-FR"/>
          </a:p>
        </p:txBody>
      </p:sp>
    </p:spTree>
    <p:extLst>
      <p:ext uri="{BB962C8B-B14F-4D97-AF65-F5344CB8AC3E}">
        <p14:creationId xmlns:p14="http://schemas.microsoft.com/office/powerpoint/2010/main" val="1565331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E548EA99-F85A-1B49-AB64-2085162C78AC}" type="datetimeFigureOut">
              <a:rPr lang="fr-FR" smtClean="0"/>
              <a:t>14/01/2026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0C46A48-F5F8-8040-AC37-B410FCC47398}" type="slidenum">
              <a:rPr lang="fr-FR" smtClean="0"/>
              <a:t>‹#›</a:t>
            </a:fld>
            <a:endParaRPr lang="fr-FR"/>
          </a:p>
        </p:txBody>
      </p:sp>
    </p:spTree>
    <p:extLst>
      <p:ext uri="{BB962C8B-B14F-4D97-AF65-F5344CB8AC3E}">
        <p14:creationId xmlns:p14="http://schemas.microsoft.com/office/powerpoint/2010/main" val="3143094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E548EA99-F85A-1B49-AB64-2085162C78AC}" type="datetimeFigureOut">
              <a:rPr lang="fr-FR" smtClean="0"/>
              <a:t>14/01/2026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0C46A48-F5F8-8040-AC37-B410FCC47398}" type="slidenum">
              <a:rPr lang="fr-FR" smtClean="0"/>
              <a:t>‹#›</a:t>
            </a:fld>
            <a:endParaRPr lang="fr-FR"/>
          </a:p>
        </p:txBody>
      </p:sp>
    </p:spTree>
    <p:extLst>
      <p:ext uri="{BB962C8B-B14F-4D97-AF65-F5344CB8AC3E}">
        <p14:creationId xmlns:p14="http://schemas.microsoft.com/office/powerpoint/2010/main" val="1290290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E548EA99-F85A-1B49-AB64-2085162C78AC}" type="datetimeFigureOut">
              <a:rPr lang="fr-FR" smtClean="0"/>
              <a:t>14/01/2026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0C46A48-F5F8-8040-AC37-B410FCC47398}" type="slidenum">
              <a:rPr lang="fr-FR" smtClean="0"/>
              <a:t>‹#›</a:t>
            </a:fld>
            <a:endParaRPr lang="fr-FR"/>
          </a:p>
        </p:txBody>
      </p:sp>
    </p:spTree>
    <p:extLst>
      <p:ext uri="{BB962C8B-B14F-4D97-AF65-F5344CB8AC3E}">
        <p14:creationId xmlns:p14="http://schemas.microsoft.com/office/powerpoint/2010/main" val="2988488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6000" r="-6000"/>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et modifiez le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48EA99-F85A-1B49-AB64-2085162C78AC}" type="datetimeFigureOut">
              <a:rPr lang="fr-FR" smtClean="0"/>
              <a:t>14/01/2026</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C46A48-F5F8-8040-AC37-B410FCC47398}" type="slidenum">
              <a:rPr lang="fr-FR" smtClean="0"/>
              <a:t>‹#›</a:t>
            </a:fld>
            <a:endParaRPr lang="fr-FR"/>
          </a:p>
        </p:txBody>
      </p:sp>
    </p:spTree>
    <p:extLst>
      <p:ext uri="{BB962C8B-B14F-4D97-AF65-F5344CB8AC3E}">
        <p14:creationId xmlns:p14="http://schemas.microsoft.com/office/powerpoint/2010/main" val="3315410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tiff"/><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tif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5" name="Rectangle : coins arrondis 4">
            <a:extLst>
              <a:ext uri="{FF2B5EF4-FFF2-40B4-BE49-F238E27FC236}">
                <a16:creationId xmlns:a16="http://schemas.microsoft.com/office/drawing/2014/main" id="{94651476-F8B9-4C28-BD15-31BE85A0A46B}"/>
              </a:ext>
            </a:extLst>
          </p:cNvPr>
          <p:cNvSpPr/>
          <p:nvPr/>
        </p:nvSpPr>
        <p:spPr>
          <a:xfrm>
            <a:off x="238539" y="246490"/>
            <a:ext cx="8643068" cy="6261652"/>
          </a:xfrm>
          <a:prstGeom prst="roundRect">
            <a:avLst>
              <a:gd name="adj" fmla="val 1810"/>
            </a:avLst>
          </a:prstGeom>
          <a:noFill/>
          <a:ln w="76200">
            <a:solidFill>
              <a:schemeClr val="tx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093794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147FD82B-AEC3-420B-869F-A6DBBA8B966E}"/>
              </a:ext>
            </a:extLst>
          </p:cNvPr>
          <p:cNvPicPr>
            <a:picLocks noChangeAspect="1"/>
          </p:cNvPicPr>
          <p:nvPr/>
        </p:nvPicPr>
        <p:blipFill rotWithShape="1">
          <a:blip r:embed="rId2">
            <a:extLst>
              <a:ext uri="{28A0092B-C50C-407E-A947-70E740481C1C}">
                <a14:useLocalDpi xmlns:a14="http://schemas.microsoft.com/office/drawing/2010/main" val="0"/>
              </a:ext>
            </a:extLst>
          </a:blip>
          <a:srcRect l="-1013" r="1013" b="21793"/>
          <a:stretch/>
        </p:blipFill>
        <p:spPr>
          <a:xfrm>
            <a:off x="188676" y="1990625"/>
            <a:ext cx="8631796" cy="3888432"/>
          </a:xfrm>
          <a:prstGeom prst="rect">
            <a:avLst/>
          </a:prstGeom>
          <a:ln>
            <a:noFill/>
          </a:ln>
          <a:effectLst>
            <a:outerShdw blurRad="292100" dist="139700" dir="2700000" algn="tl" rotWithShape="0">
              <a:srgbClr val="333333">
                <a:alpha val="65000"/>
              </a:srgbClr>
            </a:outerShdw>
          </a:effectLst>
        </p:spPr>
      </p:pic>
      <p:sp>
        <p:nvSpPr>
          <p:cNvPr id="3" name="ZoneTexte 2">
            <a:extLst>
              <a:ext uri="{FF2B5EF4-FFF2-40B4-BE49-F238E27FC236}">
                <a16:creationId xmlns:a16="http://schemas.microsoft.com/office/drawing/2014/main" id="{580A65D3-BB3A-42B5-8359-D9BF3DF4A9F6}"/>
              </a:ext>
            </a:extLst>
          </p:cNvPr>
          <p:cNvSpPr txBox="1"/>
          <p:nvPr/>
        </p:nvSpPr>
        <p:spPr>
          <a:xfrm>
            <a:off x="3824840" y="839076"/>
            <a:ext cx="1494320" cy="584775"/>
          </a:xfrm>
          <a:prstGeom prst="rect">
            <a:avLst/>
          </a:prstGeom>
          <a:noFill/>
        </p:spPr>
        <p:txBody>
          <a:bodyPr wrap="none" rtlCol="0">
            <a:spAutoFit/>
          </a:bodyPr>
          <a:lstStyle/>
          <a:p>
            <a:r>
              <a:rPr lang="fr-FR" sz="3200" b="1" dirty="0"/>
              <a:t>Partie 2</a:t>
            </a:r>
          </a:p>
        </p:txBody>
      </p:sp>
      <p:pic>
        <p:nvPicPr>
          <p:cNvPr id="4" name="Graphique 3">
            <a:extLst>
              <a:ext uri="{FF2B5EF4-FFF2-40B4-BE49-F238E27FC236}">
                <a16:creationId xmlns:a16="http://schemas.microsoft.com/office/drawing/2014/main" id="{552D4583-90F7-4D79-A439-8FEEAA21CE63}"/>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349934" y="2451403"/>
            <a:ext cx="6309280" cy="1261856"/>
          </a:xfrm>
          <a:prstGeom prst="rect">
            <a:avLst/>
          </a:prstGeom>
        </p:spPr>
      </p:pic>
    </p:spTree>
    <p:extLst>
      <p:ext uri="{BB962C8B-B14F-4D97-AF65-F5344CB8AC3E}">
        <p14:creationId xmlns:p14="http://schemas.microsoft.com/office/powerpoint/2010/main" val="3745184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F1D74282-579C-441E-A4E3-E0EC916A8E93}"/>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993063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s3.tiff"/>
          <p:cNvPicPr>
            <a:picLocks noChangeAspect="1"/>
          </p:cNvPicPr>
          <p:nvPr/>
        </p:nvPicPr>
        <p:blipFill rotWithShape="1">
          <a:blip r:embed="rId2">
            <a:extLst>
              <a:ext uri="{28A0092B-C50C-407E-A947-70E740481C1C}">
                <a14:useLocalDpi xmlns:a14="http://schemas.microsoft.com/office/drawing/2010/main" val="0"/>
              </a:ext>
            </a:extLst>
          </a:blip>
          <a:srcRect r="1033" b="800"/>
          <a:stretch/>
        </p:blipFill>
        <p:spPr>
          <a:xfrm>
            <a:off x="1985853" y="344336"/>
            <a:ext cx="5172293" cy="6169327"/>
          </a:xfrm>
          <a:prstGeom prst="rect">
            <a:avLst/>
          </a:prstGeom>
          <a:ln w="127000" cap="sq">
            <a:solidFill>
              <a:srgbClr val="FF0000"/>
            </a:solidFill>
            <a:miter lim="800000"/>
          </a:ln>
          <a:effectLst>
            <a:outerShdw blurRad="57150" dist="50800" dir="2700000" algn="tl" rotWithShape="0">
              <a:srgbClr val="000000">
                <a:alpha val="40000"/>
              </a:srgbClr>
            </a:outerShdw>
          </a:effectLst>
        </p:spPr>
      </p:pic>
      <p:pic>
        <p:nvPicPr>
          <p:cNvPr id="4" name="Image 3">
            <a:extLst>
              <a:ext uri="{FF2B5EF4-FFF2-40B4-BE49-F238E27FC236}">
                <a16:creationId xmlns:a16="http://schemas.microsoft.com/office/drawing/2014/main" id="{0D31D2A7-E34F-4F59-BEB4-E8BABFC7255C}"/>
              </a:ext>
            </a:extLst>
          </p:cNvPr>
          <p:cNvPicPr>
            <a:picLocks noChangeAspect="1"/>
          </p:cNvPicPr>
          <p:nvPr/>
        </p:nvPicPr>
        <p:blipFill>
          <a:blip r:embed="rId3"/>
          <a:stretch>
            <a:fillRect/>
          </a:stretch>
        </p:blipFill>
        <p:spPr>
          <a:xfrm>
            <a:off x="74817" y="6006052"/>
            <a:ext cx="9010996" cy="616210"/>
          </a:xfrm>
          <a:prstGeom prst="rect">
            <a:avLst/>
          </a:prstGeom>
          <a:ln w="38100" cap="sq">
            <a:solidFill>
              <a:schemeClr val="tx2">
                <a:lumMod val="60000"/>
                <a:lumOff val="40000"/>
              </a:schemeClr>
            </a:solidFill>
            <a:prstDash val="solid"/>
            <a:miter lim="800000"/>
          </a:ln>
          <a:effectLst>
            <a:outerShdw blurRad="50800" dist="38100" dir="2700000" algn="tl" rotWithShape="0">
              <a:srgbClr val="000000">
                <a:alpha val="43000"/>
              </a:srgbClr>
            </a:outerShdw>
          </a:effectLst>
        </p:spPr>
      </p:pic>
      <p:pic>
        <p:nvPicPr>
          <p:cNvPr id="5" name="Image 4">
            <a:extLst>
              <a:ext uri="{FF2B5EF4-FFF2-40B4-BE49-F238E27FC236}">
                <a16:creationId xmlns:a16="http://schemas.microsoft.com/office/drawing/2014/main" id="{1E650805-C53B-4589-8527-77CE79966EAE}"/>
              </a:ext>
            </a:extLst>
          </p:cNvPr>
          <p:cNvPicPr>
            <a:picLocks noChangeAspect="1"/>
          </p:cNvPicPr>
          <p:nvPr/>
        </p:nvPicPr>
        <p:blipFill>
          <a:blip r:embed="rId4"/>
          <a:stretch>
            <a:fillRect/>
          </a:stretch>
        </p:blipFill>
        <p:spPr>
          <a:xfrm>
            <a:off x="-1" y="36230"/>
            <a:ext cx="9143999" cy="1872611"/>
          </a:xfrm>
          <a:prstGeom prst="rect">
            <a:avLst/>
          </a:prstGeom>
          <a:ln w="38100" cap="sq">
            <a:solidFill>
              <a:srgbClr val="FF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562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2" fill="hold" nodeType="clickEffect">
                                  <p:stCondLst>
                                    <p:cond delay="0"/>
                                  </p:stCondLst>
                                  <p:childTnLst>
                                    <p:anim calcmode="lin" valueType="num">
                                      <p:cBhvr additive="base">
                                        <p:cTn id="12" dur="500"/>
                                        <p:tgtEl>
                                          <p:spTgt spid="5"/>
                                        </p:tgtEl>
                                        <p:attrNameLst>
                                          <p:attrName>ppt_x</p:attrName>
                                        </p:attrNameLst>
                                      </p:cBhvr>
                                      <p:tavLst>
                                        <p:tav tm="0">
                                          <p:val>
                                            <p:strVal val="ppt_x"/>
                                          </p:val>
                                        </p:tav>
                                        <p:tav tm="100000">
                                          <p:val>
                                            <p:strVal val="1+ppt_w/2"/>
                                          </p:val>
                                        </p:tav>
                                      </p:tavLst>
                                    </p:anim>
                                    <p:anim calcmode="lin" valueType="num">
                                      <p:cBhvr additive="base">
                                        <p:cTn id="13" dur="500"/>
                                        <p:tgtEl>
                                          <p:spTgt spid="5"/>
                                        </p:tgtEl>
                                        <p:attrNameLst>
                                          <p:attrName>ppt_y</p:attrName>
                                        </p:attrNameLst>
                                      </p:cBhvr>
                                      <p:tavLst>
                                        <p:tav tm="0">
                                          <p:val>
                                            <p:strVal val="ppt_y"/>
                                          </p:val>
                                        </p:tav>
                                        <p:tav tm="100000">
                                          <p:val>
                                            <p:strVal val="ppt_y"/>
                                          </p:val>
                                        </p:tav>
                                      </p:tavLst>
                                    </p:anim>
                                    <p:set>
                                      <p:cBhvr>
                                        <p:cTn id="14" dur="1" fill="hold">
                                          <p:stCondLst>
                                            <p:cond delay="499"/>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1+#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8962EF70-AF10-4D5A-BF44-E7D3777D33A1}"/>
              </a:ext>
            </a:extLst>
          </p:cNvPr>
          <p:cNvPicPr>
            <a:picLocks noChangeAspect="1"/>
          </p:cNvPicPr>
          <p:nvPr/>
        </p:nvPicPr>
        <p:blipFill rotWithShape="1">
          <a:blip r:embed="rId2"/>
          <a:srcRect t="41324"/>
          <a:stretch/>
        </p:blipFill>
        <p:spPr>
          <a:xfrm>
            <a:off x="0" y="3429000"/>
            <a:ext cx="9144000" cy="1817710"/>
          </a:xfrm>
          <a:prstGeom prst="rect">
            <a:avLst/>
          </a:prstGeom>
        </p:spPr>
      </p:pic>
      <p:pic>
        <p:nvPicPr>
          <p:cNvPr id="6" name="Image 5">
            <a:extLst>
              <a:ext uri="{FF2B5EF4-FFF2-40B4-BE49-F238E27FC236}">
                <a16:creationId xmlns:a16="http://schemas.microsoft.com/office/drawing/2014/main" id="{1AE173EC-01A0-4F67-86B6-3562CB67EB6F}"/>
              </a:ext>
            </a:extLst>
          </p:cNvPr>
          <p:cNvPicPr>
            <a:picLocks noChangeAspect="1"/>
          </p:cNvPicPr>
          <p:nvPr/>
        </p:nvPicPr>
        <p:blipFill rotWithShape="1">
          <a:blip r:embed="rId2"/>
          <a:srcRect b="52445"/>
          <a:stretch/>
        </p:blipFill>
        <p:spPr>
          <a:xfrm>
            <a:off x="0" y="543558"/>
            <a:ext cx="9144000" cy="1473201"/>
          </a:xfrm>
          <a:prstGeom prst="rect">
            <a:avLst/>
          </a:prstGeom>
        </p:spPr>
      </p:pic>
    </p:spTree>
    <p:extLst>
      <p:ext uri="{BB962C8B-B14F-4D97-AF65-F5344CB8AC3E}">
        <p14:creationId xmlns:p14="http://schemas.microsoft.com/office/powerpoint/2010/main" val="1961113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descr="C:\Users\toshiba\Documents\Lys\slide_3.jpg">
            <a:extLst>
              <a:ext uri="{FF2B5EF4-FFF2-40B4-BE49-F238E27FC236}">
                <a16:creationId xmlns:a16="http://schemas.microsoft.com/office/drawing/2014/main" id="{3812F448-B21B-4174-8697-93A870E64DA2}"/>
              </a:ext>
            </a:extLst>
          </p:cNvPr>
          <p:cNvPicPr>
            <a:picLocks noChangeAspect="1" noChangeArrowheads="1"/>
          </p:cNvPicPr>
          <p:nvPr/>
        </p:nvPicPr>
        <p:blipFill>
          <a:blip r:embed="rId2"/>
          <a:srcRect/>
          <a:stretch>
            <a:fillRect/>
          </a:stretch>
        </p:blipFill>
        <p:spPr bwMode="auto">
          <a:xfrm>
            <a:off x="4644762" y="1418480"/>
            <a:ext cx="4294199" cy="3592334"/>
          </a:xfrm>
          <a:prstGeom prst="rect">
            <a:avLst/>
          </a:prstGeom>
          <a:noFill/>
        </p:spPr>
      </p:pic>
      <p:sp>
        <p:nvSpPr>
          <p:cNvPr id="14" name="Flèche droite 26">
            <a:extLst>
              <a:ext uri="{FF2B5EF4-FFF2-40B4-BE49-F238E27FC236}">
                <a16:creationId xmlns:a16="http://schemas.microsoft.com/office/drawing/2014/main" id="{BBF700D2-50E0-4F79-9F23-606007D75AC0}"/>
              </a:ext>
            </a:extLst>
          </p:cNvPr>
          <p:cNvSpPr/>
          <p:nvPr/>
        </p:nvSpPr>
        <p:spPr>
          <a:xfrm rot="5400000">
            <a:off x="6327274" y="1637738"/>
            <a:ext cx="795528" cy="301752"/>
          </a:xfrm>
          <a:prstGeom prst="rightArrow">
            <a:avLst/>
          </a:prstGeom>
          <a:solidFill>
            <a:srgbClr val="FFFF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fr-FR"/>
          </a:p>
        </p:txBody>
      </p:sp>
      <p:sp>
        <p:nvSpPr>
          <p:cNvPr id="15" name="Flèche droite 27">
            <a:extLst>
              <a:ext uri="{FF2B5EF4-FFF2-40B4-BE49-F238E27FC236}">
                <a16:creationId xmlns:a16="http://schemas.microsoft.com/office/drawing/2014/main" id="{AB6B6D46-8CA1-4853-A0AB-7A0351C92A85}"/>
              </a:ext>
            </a:extLst>
          </p:cNvPr>
          <p:cNvSpPr/>
          <p:nvPr/>
        </p:nvSpPr>
        <p:spPr>
          <a:xfrm rot="10800000">
            <a:off x="6619385" y="3888187"/>
            <a:ext cx="795528" cy="301752"/>
          </a:xfrm>
          <a:prstGeom prst="rightArrow">
            <a:avLst/>
          </a:prstGeom>
          <a:solidFill>
            <a:srgbClr val="FFFF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fr-FR"/>
          </a:p>
        </p:txBody>
      </p:sp>
      <p:grpSp>
        <p:nvGrpSpPr>
          <p:cNvPr id="16" name="Groupe 15">
            <a:extLst>
              <a:ext uri="{FF2B5EF4-FFF2-40B4-BE49-F238E27FC236}">
                <a16:creationId xmlns:a16="http://schemas.microsoft.com/office/drawing/2014/main" id="{A8819B55-2BED-4F18-B782-3AE62BDC5917}"/>
              </a:ext>
            </a:extLst>
          </p:cNvPr>
          <p:cNvGrpSpPr/>
          <p:nvPr/>
        </p:nvGrpSpPr>
        <p:grpSpPr>
          <a:xfrm>
            <a:off x="235454" y="954541"/>
            <a:ext cx="4065264" cy="5429832"/>
            <a:chOff x="2326817" y="148572"/>
            <a:chExt cx="4708478" cy="6560856"/>
          </a:xfrm>
        </p:grpSpPr>
        <p:pic>
          <p:nvPicPr>
            <p:cNvPr id="17" name="Picture 2" descr="C:\Users\toshiba\Documents\Lys\290px-Lilium_longiflorum.jpg">
              <a:extLst>
                <a:ext uri="{FF2B5EF4-FFF2-40B4-BE49-F238E27FC236}">
                  <a16:creationId xmlns:a16="http://schemas.microsoft.com/office/drawing/2014/main" id="{A4CBD35D-20A4-4FEF-8B3E-CFAE343F0DF2}"/>
                </a:ext>
              </a:extLst>
            </p:cNvPr>
            <p:cNvPicPr>
              <a:picLocks noChangeAspect="1" noChangeArrowheads="1"/>
            </p:cNvPicPr>
            <p:nvPr/>
          </p:nvPicPr>
          <p:blipFill>
            <a:blip r:embed="rId3"/>
            <a:srcRect/>
            <a:stretch>
              <a:fillRect/>
            </a:stretch>
          </p:blipFill>
          <p:spPr bwMode="auto">
            <a:xfrm>
              <a:off x="2326817" y="148572"/>
              <a:ext cx="4708478" cy="6560856"/>
            </a:xfrm>
            <a:prstGeom prst="rect">
              <a:avLst/>
            </a:prstGeom>
            <a:ln w="38100" cap="sq">
              <a:solidFill>
                <a:srgbClr val="92D050"/>
              </a:solidFill>
              <a:prstDash val="solid"/>
              <a:miter lim="800000"/>
            </a:ln>
            <a:effectLst>
              <a:outerShdw blurRad="50800" dist="38100" dir="2700000" algn="tl" rotWithShape="0">
                <a:srgbClr val="000000">
                  <a:alpha val="43000"/>
                </a:srgbClr>
              </a:outerShdw>
            </a:effectLst>
          </p:spPr>
        </p:pic>
        <p:sp>
          <p:nvSpPr>
            <p:cNvPr id="18" name="ZoneTexte 17">
              <a:extLst>
                <a:ext uri="{FF2B5EF4-FFF2-40B4-BE49-F238E27FC236}">
                  <a16:creationId xmlns:a16="http://schemas.microsoft.com/office/drawing/2014/main" id="{D5907D4C-FA95-4B73-A342-B5333CF95A4B}"/>
                </a:ext>
              </a:extLst>
            </p:cNvPr>
            <p:cNvSpPr txBox="1"/>
            <p:nvPr/>
          </p:nvSpPr>
          <p:spPr>
            <a:xfrm>
              <a:off x="2496710" y="298008"/>
              <a:ext cx="708848" cy="400110"/>
            </a:xfrm>
            <a:prstGeom prst="rect">
              <a:avLst/>
            </a:prstGeom>
            <a:solidFill>
              <a:schemeClr val="bg1"/>
            </a:solidFill>
          </p:spPr>
          <p:txBody>
            <a:bodyPr wrap="none" rtlCol="0">
              <a:spAutoFit/>
            </a:bodyPr>
            <a:lstStyle/>
            <a:p>
              <a:r>
                <a:rPr lang="fr-FR" sz="2000" b="1" dirty="0">
                  <a:solidFill>
                    <a:srgbClr val="00B050"/>
                  </a:solidFill>
                </a:rPr>
                <a:t>Le lis</a:t>
              </a:r>
            </a:p>
          </p:txBody>
        </p:sp>
      </p:grpSp>
      <p:sp>
        <p:nvSpPr>
          <p:cNvPr id="38" name="ZoneTexte 37">
            <a:extLst>
              <a:ext uri="{FF2B5EF4-FFF2-40B4-BE49-F238E27FC236}">
                <a16:creationId xmlns:a16="http://schemas.microsoft.com/office/drawing/2014/main" id="{B249FFE1-1C42-4E11-AA97-816AD7C8192B}"/>
              </a:ext>
            </a:extLst>
          </p:cNvPr>
          <p:cNvSpPr txBox="1"/>
          <p:nvPr/>
        </p:nvSpPr>
        <p:spPr>
          <a:xfrm>
            <a:off x="1129931" y="273572"/>
            <a:ext cx="7168053" cy="400110"/>
          </a:xfrm>
          <a:prstGeom prst="rect">
            <a:avLst/>
          </a:prstGeom>
          <a:solidFill>
            <a:schemeClr val="accent1">
              <a:lumMod val="20000"/>
              <a:lumOff val="80000"/>
            </a:schemeClr>
          </a:solidFill>
        </p:spPr>
        <p:txBody>
          <a:bodyPr wrap="none" rtlCol="0">
            <a:spAutoFit/>
          </a:bodyPr>
          <a:lstStyle/>
          <a:p>
            <a:r>
              <a:rPr lang="fr-FR" sz="2000" b="1" dirty="0">
                <a:solidFill>
                  <a:srgbClr val="0070C0"/>
                </a:solidFill>
              </a:rPr>
              <a:t>Observation microscopique de la méiose chez le lys ou lis (Lilium)</a:t>
            </a:r>
          </a:p>
        </p:txBody>
      </p:sp>
    </p:spTree>
    <p:extLst>
      <p:ext uri="{BB962C8B-B14F-4D97-AF65-F5344CB8AC3E}">
        <p14:creationId xmlns:p14="http://schemas.microsoft.com/office/powerpoint/2010/main" val="2678237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repeatCount="indefinite"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000"/>
                                        <p:tgtEl>
                                          <p:spTgt spid="14"/>
                                        </p:tgtEl>
                                      </p:cBhvr>
                                    </p:animEffect>
                                  </p:childTnLst>
                                </p:cTn>
                              </p:par>
                              <p:par>
                                <p:cTn id="8" presetID="22" presetClass="entr" presetSubtype="2" repeatCount="indefinite"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right)">
                                      <p:cBhvr>
                                        <p:cTn id="10"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F7B2AEC-250A-471B-88CF-31C5AFDC3AB3}"/>
              </a:ext>
            </a:extLst>
          </p:cNvPr>
          <p:cNvPicPr>
            <a:picLocks noChangeAspect="1"/>
          </p:cNvPicPr>
          <p:nvPr/>
        </p:nvPicPr>
        <p:blipFill>
          <a:blip r:embed="rId2"/>
          <a:stretch>
            <a:fillRect/>
          </a:stretch>
        </p:blipFill>
        <p:spPr>
          <a:xfrm>
            <a:off x="482390" y="1247663"/>
            <a:ext cx="8179220" cy="4362674"/>
          </a:xfrm>
          <a:prstGeom prst="rect">
            <a:avLst/>
          </a:prstGeom>
          <a:ln w="127000" cap="sq">
            <a:solidFill>
              <a:srgbClr val="FF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27287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1907704" y="174743"/>
            <a:ext cx="5537208" cy="1532416"/>
          </a:xfrm>
          <a:prstGeom prst="rect">
            <a:avLst/>
          </a:prstGeom>
          <a:solidFill>
            <a:srgbClr val="FDEADA"/>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24" name="Rectangle 23"/>
          <p:cNvSpPr/>
          <p:nvPr/>
        </p:nvSpPr>
        <p:spPr>
          <a:xfrm>
            <a:off x="544168" y="5661248"/>
            <a:ext cx="8150252" cy="1080798"/>
          </a:xfrm>
          <a:prstGeom prst="rect">
            <a:avLst/>
          </a:prstGeom>
          <a:solidFill>
            <a:schemeClr val="accent6">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1" name="Rectangle 10"/>
          <p:cNvSpPr/>
          <p:nvPr/>
        </p:nvSpPr>
        <p:spPr>
          <a:xfrm>
            <a:off x="536223" y="4525841"/>
            <a:ext cx="8150252" cy="1080798"/>
          </a:xfrm>
          <a:prstGeom prst="rect">
            <a:avLst/>
          </a:prstGeom>
          <a:solidFill>
            <a:schemeClr val="accent6">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ZoneTexte 2"/>
          <p:cNvSpPr txBox="1"/>
          <p:nvPr/>
        </p:nvSpPr>
        <p:spPr>
          <a:xfrm>
            <a:off x="2281207" y="174743"/>
            <a:ext cx="5019323" cy="369332"/>
          </a:xfrm>
          <a:prstGeom prst="rect">
            <a:avLst/>
          </a:prstGeom>
          <a:noFill/>
        </p:spPr>
        <p:txBody>
          <a:bodyPr wrap="none" rtlCol="0">
            <a:spAutoFit/>
          </a:bodyPr>
          <a:lstStyle/>
          <a:p>
            <a:r>
              <a:rPr lang="fr-FR" dirty="0"/>
              <a:t>Microphotographie                     Nombre de cellules</a:t>
            </a:r>
          </a:p>
        </p:txBody>
      </p:sp>
      <p:sp>
        <p:nvSpPr>
          <p:cNvPr id="6" name="ZoneTexte 5"/>
          <p:cNvSpPr txBox="1"/>
          <p:nvPr/>
        </p:nvSpPr>
        <p:spPr>
          <a:xfrm>
            <a:off x="536223" y="1869279"/>
            <a:ext cx="7931867" cy="1200329"/>
          </a:xfrm>
          <a:prstGeom prst="rect">
            <a:avLst/>
          </a:prstGeom>
          <a:noFill/>
        </p:spPr>
        <p:txBody>
          <a:bodyPr wrap="none" rtlCol="0">
            <a:spAutoFit/>
          </a:bodyPr>
          <a:lstStyle/>
          <a:p>
            <a:pPr algn="just"/>
            <a:r>
              <a:rPr lang="fr-FR" dirty="0"/>
              <a:t>Puisque chaque division cellulaire donne 2 cellules donc on peut dire que la méiose </a:t>
            </a:r>
          </a:p>
          <a:p>
            <a:pPr algn="just"/>
            <a:r>
              <a:rPr lang="fr-FR" dirty="0"/>
              <a:t>est l’ensemble de deux divisions cellulaires:</a:t>
            </a:r>
          </a:p>
          <a:p>
            <a:pPr marL="285750" indent="-285750" algn="just">
              <a:buFontTx/>
              <a:buChar char="-"/>
            </a:pPr>
            <a:r>
              <a:rPr lang="fr-FR" dirty="0"/>
              <a:t>La première division donne à partir d’une cellule mère, 2 cellules filles.</a:t>
            </a:r>
          </a:p>
          <a:p>
            <a:pPr marL="285750" indent="-285750" algn="just">
              <a:buFontTx/>
              <a:buChar char="-"/>
            </a:pPr>
            <a:r>
              <a:rPr lang="fr-FR" dirty="0"/>
              <a:t>La deuxième division donne à partir de deux cellules, 4 cellules filles. </a:t>
            </a:r>
          </a:p>
        </p:txBody>
      </p:sp>
      <p:sp>
        <p:nvSpPr>
          <p:cNvPr id="7" name="ZoneTexte 6"/>
          <p:cNvSpPr txBox="1"/>
          <p:nvPr/>
        </p:nvSpPr>
        <p:spPr>
          <a:xfrm>
            <a:off x="465668" y="61834"/>
            <a:ext cx="371654" cy="369332"/>
          </a:xfrm>
          <a:prstGeom prst="rect">
            <a:avLst/>
          </a:prstGeom>
          <a:noFill/>
        </p:spPr>
        <p:txBody>
          <a:bodyPr wrap="none" rtlCol="0">
            <a:spAutoFit/>
          </a:bodyPr>
          <a:lstStyle/>
          <a:p>
            <a:r>
              <a:rPr lang="fr-FR" dirty="0">
                <a:solidFill>
                  <a:srgbClr val="FF0000"/>
                </a:solidFill>
              </a:rPr>
              <a:t>1)</a:t>
            </a:r>
          </a:p>
        </p:txBody>
      </p:sp>
      <p:sp>
        <p:nvSpPr>
          <p:cNvPr id="8" name="ZoneTexte 7"/>
          <p:cNvSpPr txBox="1"/>
          <p:nvPr/>
        </p:nvSpPr>
        <p:spPr>
          <a:xfrm>
            <a:off x="508001" y="3471336"/>
            <a:ext cx="371654" cy="369332"/>
          </a:xfrm>
          <a:prstGeom prst="rect">
            <a:avLst/>
          </a:prstGeom>
          <a:noFill/>
        </p:spPr>
        <p:txBody>
          <a:bodyPr wrap="none" rtlCol="0">
            <a:spAutoFit/>
          </a:bodyPr>
          <a:lstStyle/>
          <a:p>
            <a:r>
              <a:rPr lang="fr-FR" dirty="0">
                <a:solidFill>
                  <a:srgbClr val="FF0000"/>
                </a:solidFill>
              </a:rPr>
              <a:t>2)</a:t>
            </a:r>
          </a:p>
        </p:txBody>
      </p:sp>
      <p:sp>
        <p:nvSpPr>
          <p:cNvPr id="10" name="ZoneTexte 9"/>
          <p:cNvSpPr txBox="1"/>
          <p:nvPr/>
        </p:nvSpPr>
        <p:spPr>
          <a:xfrm>
            <a:off x="649111" y="4632613"/>
            <a:ext cx="8037364" cy="369332"/>
          </a:xfrm>
          <a:prstGeom prst="rect">
            <a:avLst/>
          </a:prstGeom>
          <a:noFill/>
        </p:spPr>
        <p:txBody>
          <a:bodyPr wrap="none" rtlCol="0">
            <a:spAutoFit/>
          </a:bodyPr>
          <a:lstStyle/>
          <a:p>
            <a:r>
              <a:rPr lang="fr-FR" dirty="0"/>
              <a:t>B: Prophase I               D: Métaphase I                  A: Anaphase I                 C: Télophase I</a:t>
            </a:r>
          </a:p>
        </p:txBody>
      </p:sp>
      <p:grpSp>
        <p:nvGrpSpPr>
          <p:cNvPr id="2" name="Grouper 1"/>
          <p:cNvGrpSpPr/>
          <p:nvPr/>
        </p:nvGrpSpPr>
        <p:grpSpPr>
          <a:xfrm>
            <a:off x="649111" y="3880558"/>
            <a:ext cx="7948999" cy="369332"/>
            <a:chOff x="649111" y="3880558"/>
            <a:chExt cx="7948999" cy="369332"/>
          </a:xfrm>
        </p:grpSpPr>
        <p:sp>
          <p:nvSpPr>
            <p:cNvPr id="9" name="ZoneTexte 8"/>
            <p:cNvSpPr txBox="1"/>
            <p:nvPr/>
          </p:nvSpPr>
          <p:spPr>
            <a:xfrm>
              <a:off x="649111" y="3880558"/>
              <a:ext cx="7948999" cy="369332"/>
            </a:xfrm>
            <a:prstGeom prst="rect">
              <a:avLst/>
            </a:prstGeom>
            <a:noFill/>
          </p:spPr>
          <p:txBody>
            <a:bodyPr wrap="none" rtlCol="0">
              <a:spAutoFit/>
            </a:bodyPr>
            <a:lstStyle/>
            <a:p>
              <a:r>
                <a:rPr lang="fr-FR" dirty="0"/>
                <a:t>B               D                 A                  C                  E                   H                    F                   G                               </a:t>
              </a:r>
            </a:p>
          </p:txBody>
        </p:sp>
        <p:cxnSp>
          <p:nvCxnSpPr>
            <p:cNvPr id="12" name="Connecteur droit avec flèche 11"/>
            <p:cNvCxnSpPr/>
            <p:nvPr/>
          </p:nvCxnSpPr>
          <p:spPr>
            <a:xfrm>
              <a:off x="987777" y="4092225"/>
              <a:ext cx="62088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Connecteur droit avec flèche 13"/>
            <p:cNvCxnSpPr/>
            <p:nvPr/>
          </p:nvCxnSpPr>
          <p:spPr>
            <a:xfrm>
              <a:off x="1907704" y="4077072"/>
              <a:ext cx="62088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Connecteur droit avec flèche 14"/>
            <p:cNvCxnSpPr/>
            <p:nvPr/>
          </p:nvCxnSpPr>
          <p:spPr>
            <a:xfrm>
              <a:off x="2915816" y="4077072"/>
              <a:ext cx="62088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avec flèche 15"/>
            <p:cNvCxnSpPr/>
            <p:nvPr/>
          </p:nvCxnSpPr>
          <p:spPr>
            <a:xfrm>
              <a:off x="3995936" y="4077072"/>
              <a:ext cx="62088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Connecteur droit avec flèche 16"/>
            <p:cNvCxnSpPr/>
            <p:nvPr/>
          </p:nvCxnSpPr>
          <p:spPr>
            <a:xfrm>
              <a:off x="5076056" y="4077072"/>
              <a:ext cx="62088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Connecteur droit avec flèche 17"/>
            <p:cNvCxnSpPr/>
            <p:nvPr/>
          </p:nvCxnSpPr>
          <p:spPr>
            <a:xfrm>
              <a:off x="6228184" y="4077072"/>
              <a:ext cx="62088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Connecteur droit avec flèche 18"/>
            <p:cNvCxnSpPr/>
            <p:nvPr/>
          </p:nvCxnSpPr>
          <p:spPr>
            <a:xfrm>
              <a:off x="7308304" y="4077072"/>
              <a:ext cx="62088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21" name="ZoneTexte 20"/>
          <p:cNvSpPr txBox="1"/>
          <p:nvPr/>
        </p:nvSpPr>
        <p:spPr>
          <a:xfrm>
            <a:off x="2572414" y="5121112"/>
            <a:ext cx="4291860" cy="369332"/>
          </a:xfrm>
          <a:prstGeom prst="rect">
            <a:avLst/>
          </a:prstGeom>
          <a:noFill/>
        </p:spPr>
        <p:txBody>
          <a:bodyPr wrap="none" rtlCol="0">
            <a:spAutoFit/>
          </a:bodyPr>
          <a:lstStyle/>
          <a:p>
            <a:r>
              <a:rPr lang="fr-FR" b="1" dirty="0">
                <a:solidFill>
                  <a:srgbClr val="FF0000"/>
                </a:solidFill>
              </a:rPr>
              <a:t>Première division = Division réductionnelle</a:t>
            </a:r>
          </a:p>
        </p:txBody>
      </p:sp>
      <p:sp>
        <p:nvSpPr>
          <p:cNvPr id="22" name="ZoneTexte 21"/>
          <p:cNvSpPr txBox="1"/>
          <p:nvPr/>
        </p:nvSpPr>
        <p:spPr>
          <a:xfrm>
            <a:off x="2564637" y="6209291"/>
            <a:ext cx="4315642" cy="369332"/>
          </a:xfrm>
          <a:prstGeom prst="rect">
            <a:avLst/>
          </a:prstGeom>
          <a:noFill/>
        </p:spPr>
        <p:txBody>
          <a:bodyPr wrap="none" rtlCol="0">
            <a:spAutoFit/>
          </a:bodyPr>
          <a:lstStyle/>
          <a:p>
            <a:r>
              <a:rPr lang="fr-FR" b="1" dirty="0">
                <a:solidFill>
                  <a:srgbClr val="FF0000"/>
                </a:solidFill>
              </a:rPr>
              <a:t>Deuxième division = Division équationnelle</a:t>
            </a:r>
          </a:p>
        </p:txBody>
      </p:sp>
      <p:sp>
        <p:nvSpPr>
          <p:cNvPr id="23" name="ZoneTexte 22"/>
          <p:cNvSpPr txBox="1"/>
          <p:nvPr/>
        </p:nvSpPr>
        <p:spPr>
          <a:xfrm>
            <a:off x="597092" y="5727890"/>
            <a:ext cx="8149624" cy="369332"/>
          </a:xfrm>
          <a:prstGeom prst="rect">
            <a:avLst/>
          </a:prstGeom>
          <a:noFill/>
        </p:spPr>
        <p:txBody>
          <a:bodyPr wrap="none" rtlCol="0">
            <a:spAutoFit/>
          </a:bodyPr>
          <a:lstStyle/>
          <a:p>
            <a:r>
              <a:rPr lang="fr-FR" dirty="0"/>
              <a:t>E: Prophase II               H: Métaphase II                F: Anaphase II                 G: Télophase II</a:t>
            </a:r>
          </a:p>
        </p:txBody>
      </p:sp>
      <p:cxnSp>
        <p:nvCxnSpPr>
          <p:cNvPr id="26" name="Connecteur droit 25"/>
          <p:cNvCxnSpPr/>
          <p:nvPr/>
        </p:nvCxnSpPr>
        <p:spPr>
          <a:xfrm>
            <a:off x="1907704" y="579776"/>
            <a:ext cx="5537208" cy="0"/>
          </a:xfrm>
          <a:prstGeom prst="line">
            <a:avLst/>
          </a:prstGeom>
          <a:ln w="635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Connecteur droit 28"/>
          <p:cNvCxnSpPr/>
          <p:nvPr/>
        </p:nvCxnSpPr>
        <p:spPr>
          <a:xfrm flipH="1">
            <a:off x="4696285" y="174743"/>
            <a:ext cx="1" cy="1532416"/>
          </a:xfrm>
          <a:prstGeom prst="line">
            <a:avLst/>
          </a:prstGeom>
          <a:ln w="6350" cmpd="sng">
            <a:solidFill>
              <a:srgbClr val="000000"/>
            </a:solidFill>
          </a:ln>
        </p:spPr>
        <p:style>
          <a:lnRef idx="2">
            <a:schemeClr val="accent1"/>
          </a:lnRef>
          <a:fillRef idx="0">
            <a:schemeClr val="accent1"/>
          </a:fillRef>
          <a:effectRef idx="1">
            <a:schemeClr val="accent1"/>
          </a:effectRef>
          <a:fontRef idx="minor">
            <a:schemeClr val="tx1"/>
          </a:fontRef>
        </p:style>
      </p:cxnSp>
      <p:sp>
        <p:nvSpPr>
          <p:cNvPr id="32" name="ZoneTexte 31"/>
          <p:cNvSpPr txBox="1"/>
          <p:nvPr/>
        </p:nvSpPr>
        <p:spPr>
          <a:xfrm>
            <a:off x="3131840" y="610206"/>
            <a:ext cx="3547628" cy="369332"/>
          </a:xfrm>
          <a:prstGeom prst="rect">
            <a:avLst/>
          </a:prstGeom>
          <a:noFill/>
        </p:spPr>
        <p:txBody>
          <a:bodyPr wrap="none" rtlCol="0">
            <a:spAutoFit/>
          </a:bodyPr>
          <a:lstStyle/>
          <a:p>
            <a:r>
              <a:rPr lang="fr-FR" dirty="0"/>
              <a:t>A                                             1 cellule</a:t>
            </a:r>
          </a:p>
        </p:txBody>
      </p:sp>
      <p:sp>
        <p:nvSpPr>
          <p:cNvPr id="33" name="ZoneTexte 32"/>
          <p:cNvSpPr txBox="1"/>
          <p:nvPr/>
        </p:nvSpPr>
        <p:spPr>
          <a:xfrm>
            <a:off x="3131840" y="955222"/>
            <a:ext cx="3432776" cy="369332"/>
          </a:xfrm>
          <a:prstGeom prst="rect">
            <a:avLst/>
          </a:prstGeom>
          <a:noFill/>
        </p:spPr>
        <p:txBody>
          <a:bodyPr wrap="none" rtlCol="0">
            <a:spAutoFit/>
          </a:bodyPr>
          <a:lstStyle/>
          <a:p>
            <a:r>
              <a:rPr lang="fr-FR" dirty="0"/>
              <a:t>C                                             2 cellule</a:t>
            </a:r>
          </a:p>
        </p:txBody>
      </p:sp>
      <p:sp>
        <p:nvSpPr>
          <p:cNvPr id="34" name="ZoneTexte 33"/>
          <p:cNvSpPr txBox="1"/>
          <p:nvPr/>
        </p:nvSpPr>
        <p:spPr>
          <a:xfrm>
            <a:off x="3131840" y="1300238"/>
            <a:ext cx="3403133" cy="369332"/>
          </a:xfrm>
          <a:prstGeom prst="rect">
            <a:avLst/>
          </a:prstGeom>
          <a:noFill/>
        </p:spPr>
        <p:txBody>
          <a:bodyPr wrap="none" rtlCol="0">
            <a:spAutoFit/>
          </a:bodyPr>
          <a:lstStyle/>
          <a:p>
            <a:r>
              <a:rPr lang="fr-FR" dirty="0"/>
              <a:t>G                                            4 cellule</a:t>
            </a:r>
          </a:p>
        </p:txBody>
      </p:sp>
    </p:spTree>
    <p:extLst>
      <p:ext uri="{BB962C8B-B14F-4D97-AF65-F5344CB8AC3E}">
        <p14:creationId xmlns:p14="http://schemas.microsoft.com/office/powerpoint/2010/main" val="575278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left)">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47"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left)">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0-#ppt_w/2"/>
                                          </p:val>
                                        </p:tav>
                                        <p:tav tm="100000">
                                          <p:val>
                                            <p:strVal val="#ppt_x"/>
                                          </p:val>
                                        </p:tav>
                                      </p:tavLst>
                                    </p:anim>
                                    <p:anim calcmode="lin" valueType="num">
                                      <p:cBhvr additive="base">
                                        <p:cTn id="35"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left)">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 calcmode="lin" valueType="num">
                                      <p:cBhvr additive="base">
                                        <p:cTn id="50" dur="500" fill="hold"/>
                                        <p:tgtEl>
                                          <p:spTgt spid="24"/>
                                        </p:tgtEl>
                                        <p:attrNameLst>
                                          <p:attrName>ppt_x</p:attrName>
                                        </p:attrNameLst>
                                      </p:cBhvr>
                                      <p:tavLst>
                                        <p:tav tm="0">
                                          <p:val>
                                            <p:strVal val="0-#ppt_w/2"/>
                                          </p:val>
                                        </p:tav>
                                        <p:tav tm="100000">
                                          <p:val>
                                            <p:strVal val="#ppt_x"/>
                                          </p:val>
                                        </p:tav>
                                      </p:tavLst>
                                    </p:anim>
                                    <p:anim calcmode="lin" valueType="num">
                                      <p:cBhvr additive="base">
                                        <p:cTn id="51"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6" dur="50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wipe(left)">
                                      <p:cBhvr>
                                        <p:cTn id="6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1" grpId="0" animBg="1"/>
      <p:bldP spid="6" grpId="0"/>
      <p:bldP spid="10" grpId="0"/>
      <p:bldP spid="21" grpId="0"/>
      <p:bldP spid="22" grpId="0"/>
      <p:bldP spid="23" grpId="0"/>
      <p:bldP spid="32" grpId="0"/>
      <p:bldP spid="33" grpId="0"/>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7267E261-09D9-42E0-8563-0AE7766E53A6}"/>
              </a:ext>
            </a:extLst>
          </p:cNvPr>
          <p:cNvPicPr>
            <a:picLocks noChangeAspect="1"/>
          </p:cNvPicPr>
          <p:nvPr/>
        </p:nvPicPr>
        <p:blipFill>
          <a:blip r:embed="rId2"/>
          <a:stretch>
            <a:fillRect/>
          </a:stretch>
        </p:blipFill>
        <p:spPr>
          <a:xfrm>
            <a:off x="307869" y="1258200"/>
            <a:ext cx="8528262" cy="4277312"/>
          </a:xfrm>
          <a:prstGeom prst="rect">
            <a:avLst/>
          </a:prstGeom>
          <a:ln w="127000" cap="sq">
            <a:solidFill>
              <a:srgbClr val="FF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905947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54716" y="739325"/>
            <a:ext cx="4296834" cy="1476110"/>
          </a:xfrm>
          <a:prstGeom prst="rect">
            <a:avLst/>
          </a:prstGeom>
          <a:solidFill>
            <a:schemeClr val="accent6">
              <a:lumMod val="40000"/>
              <a:lumOff val="60000"/>
            </a:schemeClr>
          </a:solidFill>
        </p:spPr>
        <p:txBody>
          <a:bodyPr wrap="square" rtlCol="0">
            <a:spAutoFit/>
          </a:bodyPr>
          <a:lstStyle/>
          <a:p>
            <a:pPr>
              <a:lnSpc>
                <a:spcPct val="80000"/>
              </a:lnSpc>
            </a:pPr>
            <a:r>
              <a:rPr lang="fr-FR" sz="1600" b="1" dirty="0">
                <a:solidFill>
                  <a:srgbClr val="0000FF"/>
                </a:solidFill>
              </a:rPr>
              <a:t>PROPHASE I</a:t>
            </a:r>
          </a:p>
          <a:p>
            <a:pPr marL="285750" indent="-285750">
              <a:lnSpc>
                <a:spcPct val="80000"/>
              </a:lnSpc>
              <a:buFontTx/>
              <a:buChar char="-"/>
            </a:pPr>
            <a:r>
              <a:rPr lang="fr-FR" sz="1600" b="1" dirty="0"/>
              <a:t>Appariement</a:t>
            </a:r>
            <a:r>
              <a:rPr lang="fr-FR" sz="1600" dirty="0"/>
              <a:t> des chromosomes homologues et </a:t>
            </a:r>
            <a:r>
              <a:rPr lang="fr-FR" sz="1600" b="1" dirty="0"/>
              <a:t>formation des tétrades </a:t>
            </a:r>
            <a:r>
              <a:rPr lang="fr-FR" sz="1600" dirty="0"/>
              <a:t>ou </a:t>
            </a:r>
            <a:r>
              <a:rPr lang="fr-FR" sz="1600" b="1" dirty="0"/>
              <a:t>bivalents</a:t>
            </a:r>
            <a:r>
              <a:rPr lang="fr-FR" sz="1600" dirty="0"/>
              <a:t> </a:t>
            </a:r>
          </a:p>
          <a:p>
            <a:pPr>
              <a:lnSpc>
                <a:spcPct val="80000"/>
              </a:lnSpc>
            </a:pPr>
            <a:r>
              <a:rPr lang="fr-FR" sz="1600" dirty="0"/>
              <a:t>      (= chromosomes à 2 chromatides chacun : </a:t>
            </a:r>
          </a:p>
          <a:p>
            <a:pPr>
              <a:lnSpc>
                <a:spcPct val="80000"/>
              </a:lnSpc>
            </a:pPr>
            <a:r>
              <a:rPr lang="fr-FR" sz="1600" dirty="0"/>
              <a:t>      </a:t>
            </a:r>
            <a:r>
              <a:rPr lang="fr-FR" sz="1600" b="1" dirty="0" err="1"/>
              <a:t>bichromatidien</a:t>
            </a:r>
            <a:r>
              <a:rPr lang="fr-FR" sz="1600" dirty="0"/>
              <a:t>).</a:t>
            </a:r>
          </a:p>
          <a:p>
            <a:pPr marL="285750" indent="-285750">
              <a:lnSpc>
                <a:spcPct val="80000"/>
              </a:lnSpc>
              <a:buFontTx/>
              <a:buChar char="-"/>
            </a:pPr>
            <a:r>
              <a:rPr lang="fr-FR" sz="1600" dirty="0"/>
              <a:t>Présence de </a:t>
            </a:r>
            <a:r>
              <a:rPr lang="fr-FR" sz="1600" b="1" dirty="0"/>
              <a:t>chiasmas</a:t>
            </a:r>
            <a:r>
              <a:rPr lang="fr-FR" sz="1600" dirty="0"/>
              <a:t> (croisement entre    </a:t>
            </a:r>
          </a:p>
          <a:p>
            <a:pPr>
              <a:lnSpc>
                <a:spcPct val="80000"/>
              </a:lnSpc>
            </a:pPr>
            <a:r>
              <a:rPr lang="fr-FR" sz="1600" dirty="0"/>
              <a:t>      chromatides homologues).</a:t>
            </a:r>
          </a:p>
        </p:txBody>
      </p:sp>
      <p:sp>
        <p:nvSpPr>
          <p:cNvPr id="3" name="ZoneTexte 2"/>
          <p:cNvSpPr txBox="1"/>
          <p:nvPr/>
        </p:nvSpPr>
        <p:spPr>
          <a:xfrm>
            <a:off x="249041" y="2232848"/>
            <a:ext cx="4345497" cy="1476110"/>
          </a:xfrm>
          <a:prstGeom prst="rect">
            <a:avLst/>
          </a:prstGeom>
          <a:solidFill>
            <a:schemeClr val="accent6">
              <a:lumMod val="40000"/>
              <a:lumOff val="60000"/>
            </a:schemeClr>
          </a:solidFill>
        </p:spPr>
        <p:txBody>
          <a:bodyPr wrap="square" rtlCol="0">
            <a:spAutoFit/>
          </a:bodyPr>
          <a:lstStyle/>
          <a:p>
            <a:pPr>
              <a:lnSpc>
                <a:spcPct val="80000"/>
              </a:lnSpc>
            </a:pPr>
            <a:r>
              <a:rPr lang="fr-FR" sz="1600" b="1" dirty="0">
                <a:solidFill>
                  <a:srgbClr val="0000FF"/>
                </a:solidFill>
              </a:rPr>
              <a:t>METAPHASE I</a:t>
            </a:r>
            <a:endParaRPr lang="fr-FR" sz="1600" dirty="0"/>
          </a:p>
          <a:p>
            <a:pPr>
              <a:lnSpc>
                <a:spcPct val="80000"/>
              </a:lnSpc>
            </a:pPr>
            <a:r>
              <a:rPr lang="fr-FR" sz="1600" b="1" dirty="0"/>
              <a:t>- Disposition des tétrades </a:t>
            </a:r>
            <a:r>
              <a:rPr lang="fr-FR" sz="1600" dirty="0"/>
              <a:t> sont placés au niveau du </a:t>
            </a:r>
            <a:r>
              <a:rPr lang="fr-FR" sz="1600" b="1" dirty="0"/>
              <a:t>plan équatorial </a:t>
            </a:r>
            <a:r>
              <a:rPr lang="fr-FR" sz="1600" dirty="0"/>
              <a:t>;</a:t>
            </a:r>
          </a:p>
          <a:p>
            <a:pPr>
              <a:lnSpc>
                <a:spcPct val="80000"/>
              </a:lnSpc>
            </a:pPr>
            <a:r>
              <a:rPr lang="fr-FR" sz="1600" dirty="0"/>
              <a:t>- Les centromères des chromosomes homologues sont disposés </a:t>
            </a:r>
            <a:r>
              <a:rPr lang="fr-FR" sz="1600" b="1" dirty="0"/>
              <a:t>de part et d’autre </a:t>
            </a:r>
            <a:r>
              <a:rPr lang="fr-FR" sz="1600" dirty="0"/>
              <a:t>du plan équatorial.</a:t>
            </a:r>
          </a:p>
          <a:p>
            <a:pPr>
              <a:lnSpc>
                <a:spcPct val="80000"/>
              </a:lnSpc>
            </a:pPr>
            <a:endParaRPr lang="fr-FR" sz="1600" dirty="0"/>
          </a:p>
        </p:txBody>
      </p:sp>
      <p:sp>
        <p:nvSpPr>
          <p:cNvPr id="4" name="ZoneTexte 3"/>
          <p:cNvSpPr txBox="1"/>
          <p:nvPr/>
        </p:nvSpPr>
        <p:spPr>
          <a:xfrm>
            <a:off x="275165" y="3767458"/>
            <a:ext cx="4274296" cy="1673087"/>
          </a:xfrm>
          <a:prstGeom prst="rect">
            <a:avLst/>
          </a:prstGeom>
          <a:solidFill>
            <a:schemeClr val="accent6">
              <a:lumMod val="40000"/>
              <a:lumOff val="60000"/>
            </a:schemeClr>
          </a:solidFill>
        </p:spPr>
        <p:txBody>
          <a:bodyPr wrap="square" rtlCol="0">
            <a:spAutoFit/>
          </a:bodyPr>
          <a:lstStyle/>
          <a:p>
            <a:pPr>
              <a:lnSpc>
                <a:spcPct val="80000"/>
              </a:lnSpc>
            </a:pPr>
            <a:r>
              <a:rPr lang="fr-FR" sz="1600" b="1" dirty="0">
                <a:solidFill>
                  <a:srgbClr val="0000FF"/>
                </a:solidFill>
              </a:rPr>
              <a:t>ANAPHASE I</a:t>
            </a:r>
          </a:p>
          <a:p>
            <a:pPr>
              <a:lnSpc>
                <a:spcPct val="80000"/>
              </a:lnSpc>
            </a:pPr>
            <a:endParaRPr lang="fr-FR" sz="1600" b="1" dirty="0">
              <a:solidFill>
                <a:srgbClr val="0000FF"/>
              </a:solidFill>
            </a:endParaRPr>
          </a:p>
          <a:p>
            <a:pPr>
              <a:lnSpc>
                <a:spcPct val="80000"/>
              </a:lnSpc>
            </a:pPr>
            <a:r>
              <a:rPr lang="fr-FR" sz="1600" b="1" dirty="0"/>
              <a:t>-     Séparation </a:t>
            </a:r>
            <a:r>
              <a:rPr lang="fr-FR" sz="1600" dirty="0"/>
              <a:t>(disjonction) des chromosomes homologues </a:t>
            </a:r>
            <a:r>
              <a:rPr lang="fr-FR" sz="1600" b="1" dirty="0"/>
              <a:t>sans fissuration des centromères </a:t>
            </a:r>
            <a:endParaRPr lang="fr-FR" sz="1600" dirty="0"/>
          </a:p>
          <a:p>
            <a:pPr marL="285750" indent="-285750">
              <a:lnSpc>
                <a:spcPct val="80000"/>
              </a:lnSpc>
              <a:buFontTx/>
              <a:buChar char="-"/>
            </a:pPr>
            <a:r>
              <a:rPr lang="fr-FR" sz="1600" b="1" dirty="0"/>
              <a:t>Migration </a:t>
            </a:r>
            <a:r>
              <a:rPr lang="fr-FR" sz="1600" dirty="0"/>
              <a:t>de </a:t>
            </a:r>
            <a:r>
              <a:rPr lang="fr-FR" sz="1600" b="1" dirty="0"/>
              <a:t>n chromosomes dédoublés  </a:t>
            </a:r>
            <a:r>
              <a:rPr lang="fr-FR" sz="1600" dirty="0"/>
              <a:t>vers chacun des 2 pôles opposés de la cellule :  </a:t>
            </a:r>
          </a:p>
          <a:p>
            <a:pPr>
              <a:lnSpc>
                <a:spcPct val="80000"/>
              </a:lnSpc>
            </a:pPr>
            <a:endParaRPr lang="fr-FR" sz="1600" dirty="0"/>
          </a:p>
          <a:p>
            <a:pPr>
              <a:lnSpc>
                <a:spcPct val="80000"/>
              </a:lnSpc>
            </a:pPr>
            <a:r>
              <a:rPr lang="fr-FR" sz="1600" dirty="0"/>
              <a:t> </a:t>
            </a:r>
          </a:p>
        </p:txBody>
      </p:sp>
      <p:sp>
        <p:nvSpPr>
          <p:cNvPr id="5" name="ZoneTexte 4"/>
          <p:cNvSpPr txBox="1"/>
          <p:nvPr/>
        </p:nvSpPr>
        <p:spPr>
          <a:xfrm>
            <a:off x="275166" y="5321771"/>
            <a:ext cx="4296834" cy="1279133"/>
          </a:xfrm>
          <a:prstGeom prst="rect">
            <a:avLst/>
          </a:prstGeom>
          <a:solidFill>
            <a:schemeClr val="accent6">
              <a:lumMod val="40000"/>
              <a:lumOff val="60000"/>
            </a:schemeClr>
          </a:solidFill>
        </p:spPr>
        <p:txBody>
          <a:bodyPr wrap="square" rtlCol="0">
            <a:spAutoFit/>
          </a:bodyPr>
          <a:lstStyle/>
          <a:p>
            <a:pPr>
              <a:lnSpc>
                <a:spcPct val="80000"/>
              </a:lnSpc>
            </a:pPr>
            <a:r>
              <a:rPr lang="fr-FR" sz="1600" b="1" dirty="0">
                <a:solidFill>
                  <a:srgbClr val="0000FF"/>
                </a:solidFill>
              </a:rPr>
              <a:t>TELOPHASE I</a:t>
            </a:r>
          </a:p>
          <a:p>
            <a:pPr>
              <a:lnSpc>
                <a:spcPct val="80000"/>
              </a:lnSpc>
            </a:pPr>
            <a:r>
              <a:rPr lang="fr-FR" sz="1600" b="1" dirty="0"/>
              <a:t>- Division </a:t>
            </a:r>
            <a:r>
              <a:rPr lang="fr-FR" sz="1600" dirty="0"/>
              <a:t>de la cellule-mère </a:t>
            </a:r>
            <a:r>
              <a:rPr lang="fr-FR" sz="1600" b="1" dirty="0"/>
              <a:t>diploïde </a:t>
            </a:r>
          </a:p>
          <a:p>
            <a:pPr>
              <a:lnSpc>
                <a:spcPct val="80000"/>
              </a:lnSpc>
            </a:pPr>
            <a:r>
              <a:rPr lang="fr-FR" sz="1600" b="1" dirty="0"/>
              <a:t>   (2n </a:t>
            </a:r>
            <a:r>
              <a:rPr lang="fr-FR" sz="1600" b="1" dirty="0" err="1"/>
              <a:t>ch</a:t>
            </a:r>
            <a:r>
              <a:rPr lang="fr-FR" sz="1600" b="1" dirty="0"/>
              <a:t>) </a:t>
            </a:r>
            <a:r>
              <a:rPr lang="fr-FR" sz="1600" dirty="0"/>
              <a:t>en deux cellules filles </a:t>
            </a:r>
            <a:r>
              <a:rPr lang="fr-FR" sz="1600" b="1" dirty="0"/>
              <a:t>haploïdes</a:t>
            </a:r>
            <a:r>
              <a:rPr lang="fr-FR" sz="1600" dirty="0"/>
              <a:t> </a:t>
            </a:r>
          </a:p>
          <a:p>
            <a:pPr>
              <a:lnSpc>
                <a:spcPct val="80000"/>
              </a:lnSpc>
            </a:pPr>
            <a:r>
              <a:rPr lang="fr-FR" sz="1600" dirty="0"/>
              <a:t>   à </a:t>
            </a:r>
            <a:r>
              <a:rPr lang="fr-FR" sz="1600" b="1" dirty="0"/>
              <a:t>n chromosomes bichromatidiens</a:t>
            </a:r>
            <a:r>
              <a:rPr lang="fr-FR" sz="1600" dirty="0"/>
              <a:t>.</a:t>
            </a:r>
          </a:p>
          <a:p>
            <a:pPr>
              <a:lnSpc>
                <a:spcPct val="80000"/>
              </a:lnSpc>
            </a:pPr>
            <a:r>
              <a:rPr lang="fr-FR" sz="1600" b="1" dirty="0"/>
              <a:t>- Décondensation </a:t>
            </a:r>
            <a:r>
              <a:rPr lang="fr-FR" sz="1600" dirty="0"/>
              <a:t>des chromosomes .</a:t>
            </a:r>
          </a:p>
          <a:p>
            <a:pPr>
              <a:lnSpc>
                <a:spcPct val="80000"/>
              </a:lnSpc>
            </a:pPr>
            <a:r>
              <a:rPr lang="fr-FR" sz="1600" b="1" dirty="0"/>
              <a:t>- Absence d’interphase</a:t>
            </a:r>
            <a:r>
              <a:rPr lang="fr-FR" sz="1600" dirty="0"/>
              <a:t>: pas de synthèse d’ ADN.</a:t>
            </a:r>
          </a:p>
        </p:txBody>
      </p:sp>
      <p:sp>
        <p:nvSpPr>
          <p:cNvPr id="6" name="ZoneTexte 5"/>
          <p:cNvSpPr txBox="1"/>
          <p:nvPr/>
        </p:nvSpPr>
        <p:spPr>
          <a:xfrm>
            <a:off x="4670777" y="769583"/>
            <a:ext cx="4264036" cy="1082156"/>
          </a:xfrm>
          <a:prstGeom prst="rect">
            <a:avLst/>
          </a:prstGeom>
          <a:noFill/>
        </p:spPr>
        <p:txBody>
          <a:bodyPr wrap="square" rtlCol="0">
            <a:spAutoFit/>
          </a:bodyPr>
          <a:lstStyle/>
          <a:p>
            <a:pPr>
              <a:lnSpc>
                <a:spcPct val="80000"/>
              </a:lnSpc>
            </a:pPr>
            <a:r>
              <a:rPr lang="fr-FR" sz="1600" b="1" dirty="0">
                <a:solidFill>
                  <a:srgbClr val="0000FF"/>
                </a:solidFill>
              </a:rPr>
              <a:t>PROPHASE II</a:t>
            </a:r>
          </a:p>
          <a:p>
            <a:pPr>
              <a:lnSpc>
                <a:spcPct val="80000"/>
              </a:lnSpc>
            </a:pPr>
            <a:endParaRPr lang="fr-FR" sz="1600" b="1" dirty="0">
              <a:solidFill>
                <a:srgbClr val="0000FF"/>
              </a:solidFill>
            </a:endParaRPr>
          </a:p>
          <a:p>
            <a:pPr marL="285750" indent="-285750">
              <a:lnSpc>
                <a:spcPct val="80000"/>
              </a:lnSpc>
              <a:buFontTx/>
              <a:buChar char="-"/>
            </a:pPr>
            <a:r>
              <a:rPr lang="fr-FR" sz="1600" b="1" dirty="0"/>
              <a:t>Individualisation</a:t>
            </a:r>
            <a:r>
              <a:rPr lang="fr-FR" sz="1600" dirty="0"/>
              <a:t> des n chromosomes.</a:t>
            </a:r>
          </a:p>
          <a:p>
            <a:pPr marL="285750" indent="-285750">
              <a:lnSpc>
                <a:spcPct val="80000"/>
              </a:lnSpc>
              <a:buFontTx/>
              <a:buChar char="-"/>
            </a:pPr>
            <a:r>
              <a:rPr lang="fr-FR" sz="1600" dirty="0"/>
              <a:t>Début de </a:t>
            </a:r>
            <a:r>
              <a:rPr lang="fr-FR" sz="1600" b="1" dirty="0"/>
              <a:t>formation du fuseau achromatique </a:t>
            </a:r>
            <a:r>
              <a:rPr lang="fr-FR" sz="1600" dirty="0"/>
              <a:t>pour chacune des deux cellules. </a:t>
            </a:r>
          </a:p>
        </p:txBody>
      </p:sp>
      <p:sp>
        <p:nvSpPr>
          <p:cNvPr id="7" name="ZoneTexte 6"/>
          <p:cNvSpPr txBox="1"/>
          <p:nvPr/>
        </p:nvSpPr>
        <p:spPr>
          <a:xfrm>
            <a:off x="4698999" y="2362914"/>
            <a:ext cx="4160300" cy="1279133"/>
          </a:xfrm>
          <a:prstGeom prst="rect">
            <a:avLst/>
          </a:prstGeom>
          <a:noFill/>
        </p:spPr>
        <p:txBody>
          <a:bodyPr wrap="square" rtlCol="0">
            <a:spAutoFit/>
          </a:bodyPr>
          <a:lstStyle/>
          <a:p>
            <a:pPr>
              <a:lnSpc>
                <a:spcPct val="80000"/>
              </a:lnSpc>
            </a:pPr>
            <a:r>
              <a:rPr lang="fr-FR" sz="1600" b="1" dirty="0">
                <a:solidFill>
                  <a:srgbClr val="0000FF"/>
                </a:solidFill>
              </a:rPr>
              <a:t>METAPHASE II</a:t>
            </a:r>
          </a:p>
          <a:p>
            <a:pPr>
              <a:lnSpc>
                <a:spcPct val="80000"/>
              </a:lnSpc>
            </a:pPr>
            <a:endParaRPr lang="fr-FR" sz="1600" b="1" dirty="0">
              <a:solidFill>
                <a:srgbClr val="0000FF"/>
              </a:solidFill>
            </a:endParaRPr>
          </a:p>
          <a:p>
            <a:pPr>
              <a:lnSpc>
                <a:spcPct val="80000"/>
              </a:lnSpc>
            </a:pPr>
            <a:r>
              <a:rPr lang="fr-FR" sz="1600" b="1" dirty="0"/>
              <a:t>- Emplacement </a:t>
            </a:r>
            <a:r>
              <a:rPr lang="fr-FR" sz="1600" dirty="0"/>
              <a:t>des n chromosomes dédoublés au </a:t>
            </a:r>
            <a:r>
              <a:rPr lang="fr-FR" sz="1600" b="1" dirty="0"/>
              <a:t>niveau du plan équatorial </a:t>
            </a:r>
            <a:r>
              <a:rPr lang="fr-FR" sz="1600" dirty="0"/>
              <a:t>avec les centromères disposés sur ce plan (Formation de </a:t>
            </a:r>
            <a:r>
              <a:rPr lang="fr-FR" sz="1600" b="1" dirty="0"/>
              <a:t>la plaque équatoriale </a:t>
            </a:r>
            <a:r>
              <a:rPr lang="fr-FR" sz="1600" dirty="0"/>
              <a:t>comme en mitose).</a:t>
            </a:r>
          </a:p>
        </p:txBody>
      </p:sp>
      <p:sp>
        <p:nvSpPr>
          <p:cNvPr id="8" name="ZoneTexte 7"/>
          <p:cNvSpPr txBox="1"/>
          <p:nvPr/>
        </p:nvSpPr>
        <p:spPr>
          <a:xfrm>
            <a:off x="4684890" y="3795460"/>
            <a:ext cx="4233332" cy="1476110"/>
          </a:xfrm>
          <a:prstGeom prst="rect">
            <a:avLst/>
          </a:prstGeom>
          <a:noFill/>
        </p:spPr>
        <p:txBody>
          <a:bodyPr wrap="square" rtlCol="0">
            <a:spAutoFit/>
          </a:bodyPr>
          <a:lstStyle/>
          <a:p>
            <a:pPr>
              <a:lnSpc>
                <a:spcPct val="80000"/>
              </a:lnSpc>
            </a:pPr>
            <a:r>
              <a:rPr lang="fr-FR" sz="1600" b="1" dirty="0">
                <a:solidFill>
                  <a:srgbClr val="0000FF"/>
                </a:solidFill>
              </a:rPr>
              <a:t>ANAPHASE II</a:t>
            </a:r>
          </a:p>
          <a:p>
            <a:pPr>
              <a:lnSpc>
                <a:spcPct val="80000"/>
              </a:lnSpc>
            </a:pPr>
            <a:r>
              <a:rPr lang="fr-FR" sz="1600" b="1" dirty="0"/>
              <a:t>- Fissuration des centromères </a:t>
            </a:r>
            <a:r>
              <a:rPr lang="fr-FR" sz="1600" dirty="0"/>
              <a:t>et </a:t>
            </a:r>
            <a:r>
              <a:rPr lang="fr-FR" sz="1600" b="1" dirty="0"/>
              <a:t>séparation</a:t>
            </a:r>
            <a:r>
              <a:rPr lang="fr-FR" sz="1600" dirty="0"/>
              <a:t> des chromatides sœurs de chaque chromosome </a:t>
            </a:r>
          </a:p>
          <a:p>
            <a:pPr>
              <a:lnSpc>
                <a:spcPct val="80000"/>
              </a:lnSpc>
            </a:pPr>
            <a:r>
              <a:rPr lang="fr-FR" sz="1600" b="1" dirty="0"/>
              <a:t>- Migration </a:t>
            </a:r>
            <a:r>
              <a:rPr lang="fr-FR" sz="1600" dirty="0"/>
              <a:t>de n chromosomes  vers les pôles opposés.</a:t>
            </a:r>
          </a:p>
          <a:p>
            <a:pPr>
              <a:lnSpc>
                <a:spcPct val="80000"/>
              </a:lnSpc>
            </a:pPr>
            <a:r>
              <a:rPr lang="fr-FR" sz="1600" dirty="0"/>
              <a:t>- Chaque chromosome est formé d’une </a:t>
            </a:r>
            <a:r>
              <a:rPr lang="fr-FR" sz="1600" b="1" dirty="0"/>
              <a:t>seule chromatide</a:t>
            </a:r>
            <a:r>
              <a:rPr lang="fr-FR" sz="1600" dirty="0"/>
              <a:t> (</a:t>
            </a:r>
            <a:r>
              <a:rPr lang="fr-FR" sz="1600" dirty="0" err="1"/>
              <a:t>monchromatidien</a:t>
            </a:r>
            <a:r>
              <a:rPr lang="fr-FR" sz="1600" dirty="0"/>
              <a:t>)</a:t>
            </a:r>
          </a:p>
        </p:txBody>
      </p:sp>
      <p:sp>
        <p:nvSpPr>
          <p:cNvPr id="9" name="ZoneTexte 8"/>
          <p:cNvSpPr txBox="1"/>
          <p:nvPr/>
        </p:nvSpPr>
        <p:spPr>
          <a:xfrm>
            <a:off x="3242300" y="2571"/>
            <a:ext cx="2673328" cy="369332"/>
          </a:xfrm>
          <a:prstGeom prst="rect">
            <a:avLst/>
          </a:prstGeom>
          <a:noFill/>
        </p:spPr>
        <p:txBody>
          <a:bodyPr wrap="none" rtlCol="0">
            <a:spAutoFit/>
          </a:bodyPr>
          <a:lstStyle/>
          <a:p>
            <a:r>
              <a:rPr lang="fr-FR" b="1" dirty="0"/>
              <a:t>LES ÉTAPES DE LA MEIOSE</a:t>
            </a:r>
          </a:p>
        </p:txBody>
      </p:sp>
      <p:sp>
        <p:nvSpPr>
          <p:cNvPr id="11" name="ZoneTexte 10"/>
          <p:cNvSpPr txBox="1"/>
          <p:nvPr/>
        </p:nvSpPr>
        <p:spPr>
          <a:xfrm>
            <a:off x="4578964" y="5327825"/>
            <a:ext cx="4342695" cy="1279133"/>
          </a:xfrm>
          <a:prstGeom prst="rect">
            <a:avLst/>
          </a:prstGeom>
          <a:noFill/>
        </p:spPr>
        <p:txBody>
          <a:bodyPr wrap="square" rtlCol="0">
            <a:spAutoFit/>
          </a:bodyPr>
          <a:lstStyle/>
          <a:p>
            <a:pPr>
              <a:lnSpc>
                <a:spcPct val="80000"/>
              </a:lnSpc>
            </a:pPr>
            <a:r>
              <a:rPr lang="fr-FR" sz="1600" b="1" dirty="0">
                <a:solidFill>
                  <a:srgbClr val="0000FF"/>
                </a:solidFill>
              </a:rPr>
              <a:t>TELOPHASE II</a:t>
            </a:r>
          </a:p>
          <a:p>
            <a:pPr>
              <a:lnSpc>
                <a:spcPct val="80000"/>
              </a:lnSpc>
            </a:pPr>
            <a:r>
              <a:rPr lang="fr-FR" sz="1600" b="1" dirty="0"/>
              <a:t>- Division </a:t>
            </a:r>
            <a:r>
              <a:rPr lang="fr-FR" sz="1600" dirty="0"/>
              <a:t>des </a:t>
            </a:r>
            <a:r>
              <a:rPr lang="fr-FR" sz="1600" b="1" dirty="0"/>
              <a:t>2 cellules haploïdes  </a:t>
            </a:r>
            <a:r>
              <a:rPr lang="fr-FR" sz="1600" dirty="0"/>
              <a:t>(n </a:t>
            </a:r>
            <a:r>
              <a:rPr lang="fr-FR" sz="1600" dirty="0" err="1"/>
              <a:t>ch</a:t>
            </a:r>
            <a:r>
              <a:rPr lang="fr-FR" sz="1600" dirty="0"/>
              <a:t>  </a:t>
            </a:r>
            <a:r>
              <a:rPr lang="fr-FR" sz="1600" b="1" dirty="0"/>
              <a:t>bichromatidiens) </a:t>
            </a:r>
            <a:r>
              <a:rPr lang="fr-FR" sz="1600" dirty="0"/>
              <a:t> issues de la division réductionnelle et formation de  4 cellules filles haploïdes</a:t>
            </a:r>
            <a:r>
              <a:rPr lang="fr-FR" sz="1600" b="1" dirty="0"/>
              <a:t> </a:t>
            </a:r>
            <a:r>
              <a:rPr lang="fr-FR" sz="1600" b="1" dirty="0" err="1"/>
              <a:t>monochromatidiennes</a:t>
            </a:r>
            <a:r>
              <a:rPr lang="fr-FR" sz="1600" b="1" dirty="0"/>
              <a:t> </a:t>
            </a:r>
            <a:r>
              <a:rPr lang="fr-FR" sz="1600" dirty="0"/>
              <a:t>à </a:t>
            </a:r>
            <a:r>
              <a:rPr lang="fr-FR" sz="1600" b="1" dirty="0"/>
              <a:t>n </a:t>
            </a:r>
            <a:r>
              <a:rPr lang="fr-FR" sz="1600" b="1" dirty="0" err="1"/>
              <a:t>chr</a:t>
            </a:r>
            <a:r>
              <a:rPr lang="fr-FR" sz="1600" b="1" dirty="0"/>
              <a:t> </a:t>
            </a:r>
            <a:r>
              <a:rPr lang="fr-FR" sz="1600" dirty="0"/>
              <a:t>formé chacun d’une  chromatide.</a:t>
            </a:r>
          </a:p>
        </p:txBody>
      </p:sp>
      <p:sp>
        <p:nvSpPr>
          <p:cNvPr id="13" name="Rectangle 12"/>
          <p:cNvSpPr/>
          <p:nvPr/>
        </p:nvSpPr>
        <p:spPr>
          <a:xfrm>
            <a:off x="253999" y="374479"/>
            <a:ext cx="8664223" cy="6207231"/>
          </a:xfrm>
          <a:prstGeom prst="rect">
            <a:avLst/>
          </a:prstGeom>
          <a:noFill/>
          <a:ln w="127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cxnSp>
        <p:nvCxnSpPr>
          <p:cNvPr id="16" name="Connecteur droit 15"/>
          <p:cNvCxnSpPr/>
          <p:nvPr/>
        </p:nvCxnSpPr>
        <p:spPr>
          <a:xfrm>
            <a:off x="253310" y="726812"/>
            <a:ext cx="8664223" cy="0"/>
          </a:xfrm>
          <a:prstGeom prst="line">
            <a:avLst/>
          </a:prstGeom>
          <a:ln w="12700" cmpd="sng">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9" name="Connecteur droit 18"/>
          <p:cNvCxnSpPr/>
          <p:nvPr/>
        </p:nvCxnSpPr>
        <p:spPr>
          <a:xfrm>
            <a:off x="4571999" y="388592"/>
            <a:ext cx="0" cy="6207231"/>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Connecteur droit 20"/>
          <p:cNvCxnSpPr/>
          <p:nvPr/>
        </p:nvCxnSpPr>
        <p:spPr>
          <a:xfrm>
            <a:off x="237407" y="2212111"/>
            <a:ext cx="8664223" cy="0"/>
          </a:xfrm>
          <a:prstGeom prst="line">
            <a:avLst/>
          </a:prstGeom>
          <a:ln w="12700" cmpd="sng">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22" name="Connecteur droit 21"/>
          <p:cNvCxnSpPr/>
          <p:nvPr/>
        </p:nvCxnSpPr>
        <p:spPr>
          <a:xfrm>
            <a:off x="262426" y="3727731"/>
            <a:ext cx="8664223" cy="0"/>
          </a:xfrm>
          <a:prstGeom prst="line">
            <a:avLst/>
          </a:prstGeom>
          <a:ln w="12700" cmpd="sng">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23" name="Connecteur droit 22"/>
          <p:cNvCxnSpPr/>
          <p:nvPr/>
        </p:nvCxnSpPr>
        <p:spPr>
          <a:xfrm>
            <a:off x="250733" y="5321771"/>
            <a:ext cx="8664223" cy="0"/>
          </a:xfrm>
          <a:prstGeom prst="line">
            <a:avLst/>
          </a:prstGeom>
          <a:ln w="12700" cmpd="sng">
            <a:solidFill>
              <a:srgbClr val="0000FF"/>
            </a:solidFill>
          </a:ln>
        </p:spPr>
        <p:style>
          <a:lnRef idx="2">
            <a:schemeClr val="accent1"/>
          </a:lnRef>
          <a:fillRef idx="0">
            <a:schemeClr val="accent1"/>
          </a:fillRef>
          <a:effectRef idx="1">
            <a:schemeClr val="accent1"/>
          </a:effectRef>
          <a:fontRef idx="minor">
            <a:schemeClr val="tx1"/>
          </a:fontRef>
        </p:style>
      </p:cxnSp>
      <p:sp>
        <p:nvSpPr>
          <p:cNvPr id="17" name="ZoneTexte 16"/>
          <p:cNvSpPr txBox="1"/>
          <p:nvPr/>
        </p:nvSpPr>
        <p:spPr>
          <a:xfrm>
            <a:off x="114356" y="48324"/>
            <a:ext cx="371654" cy="369332"/>
          </a:xfrm>
          <a:prstGeom prst="rect">
            <a:avLst/>
          </a:prstGeom>
          <a:noFill/>
        </p:spPr>
        <p:txBody>
          <a:bodyPr wrap="none" rtlCol="0">
            <a:spAutoFit/>
          </a:bodyPr>
          <a:lstStyle/>
          <a:p>
            <a:r>
              <a:rPr lang="fr-FR" b="1" dirty="0">
                <a:solidFill>
                  <a:srgbClr val="FF0000"/>
                </a:solidFill>
              </a:rPr>
              <a:t>3)</a:t>
            </a:r>
          </a:p>
        </p:txBody>
      </p:sp>
      <p:sp>
        <p:nvSpPr>
          <p:cNvPr id="10" name="Rectangle 9"/>
          <p:cNvSpPr/>
          <p:nvPr/>
        </p:nvSpPr>
        <p:spPr>
          <a:xfrm>
            <a:off x="1289518" y="382142"/>
            <a:ext cx="2151250" cy="338554"/>
          </a:xfrm>
          <a:prstGeom prst="rect">
            <a:avLst/>
          </a:prstGeom>
        </p:spPr>
        <p:txBody>
          <a:bodyPr wrap="none">
            <a:spAutoFit/>
          </a:bodyPr>
          <a:lstStyle/>
          <a:p>
            <a:r>
              <a:rPr lang="fr-FR" sz="1600" b="1" dirty="0">
                <a:solidFill>
                  <a:srgbClr val="FF0000"/>
                </a:solidFill>
              </a:rPr>
              <a:t>Division réductionnelle</a:t>
            </a:r>
            <a:endParaRPr lang="fr-FR" sz="1600" dirty="0"/>
          </a:p>
        </p:txBody>
      </p:sp>
      <p:sp>
        <p:nvSpPr>
          <p:cNvPr id="14" name="Rectangle 13"/>
          <p:cNvSpPr/>
          <p:nvPr/>
        </p:nvSpPr>
        <p:spPr>
          <a:xfrm>
            <a:off x="5675778" y="376248"/>
            <a:ext cx="2095445" cy="338554"/>
          </a:xfrm>
          <a:prstGeom prst="rect">
            <a:avLst/>
          </a:prstGeom>
        </p:spPr>
        <p:txBody>
          <a:bodyPr wrap="none">
            <a:spAutoFit/>
          </a:bodyPr>
          <a:lstStyle/>
          <a:p>
            <a:r>
              <a:rPr lang="fr-FR" sz="1600" b="1" dirty="0">
                <a:solidFill>
                  <a:srgbClr val="FF0000"/>
                </a:solidFill>
              </a:rPr>
              <a:t>Division équationnelle</a:t>
            </a:r>
          </a:p>
        </p:txBody>
      </p:sp>
    </p:spTree>
    <p:extLst>
      <p:ext uri="{BB962C8B-B14F-4D97-AF65-F5344CB8AC3E}">
        <p14:creationId xmlns:p14="http://schemas.microsoft.com/office/powerpoint/2010/main" val="283062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p:bldP spid="8"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650628" y="1185334"/>
            <a:ext cx="2949222" cy="369332"/>
          </a:xfrm>
          <a:prstGeom prst="rect">
            <a:avLst/>
          </a:prstGeom>
          <a:noFill/>
        </p:spPr>
        <p:txBody>
          <a:bodyPr wrap="square" rtlCol="0">
            <a:spAutoFit/>
          </a:bodyPr>
          <a:lstStyle/>
          <a:p>
            <a:r>
              <a:rPr lang="fr-FR" b="1" dirty="0">
                <a:solidFill>
                  <a:srgbClr val="0000FF"/>
                </a:solidFill>
              </a:rPr>
              <a:t>Définition de la méiose:</a:t>
            </a:r>
          </a:p>
        </p:txBody>
      </p:sp>
      <p:sp>
        <p:nvSpPr>
          <p:cNvPr id="9" name="ZoneTexte 8"/>
          <p:cNvSpPr txBox="1"/>
          <p:nvPr/>
        </p:nvSpPr>
        <p:spPr>
          <a:xfrm>
            <a:off x="377358" y="1704661"/>
            <a:ext cx="8339667" cy="1200329"/>
          </a:xfrm>
          <a:prstGeom prst="rect">
            <a:avLst/>
          </a:prstGeom>
          <a:solidFill>
            <a:schemeClr val="accent4">
              <a:lumMod val="20000"/>
              <a:lumOff val="80000"/>
            </a:schemeClr>
          </a:solidFill>
        </p:spPr>
        <p:txBody>
          <a:bodyPr wrap="square" rtlCol="0">
            <a:spAutoFit/>
          </a:bodyPr>
          <a:lstStyle/>
          <a:p>
            <a:pPr algn="just"/>
            <a:r>
              <a:rPr lang="fr-FR" dirty="0"/>
              <a:t>La méiose est une division cellulaire constituée de deux divisions successives. Elle conduit à la formation de 4 cellules qui ne possèdent que la moitié du nombre de chromosomes de la cellule mère (cellule diploïde). La méiose ne permet donc que de former des gamètes (= cellules sexuelles) haploïdes : spermatozoïdes et ovules.</a:t>
            </a:r>
          </a:p>
        </p:txBody>
      </p:sp>
      <p:sp>
        <p:nvSpPr>
          <p:cNvPr id="5" name="ZoneTexte 4"/>
          <p:cNvSpPr txBox="1"/>
          <p:nvPr/>
        </p:nvSpPr>
        <p:spPr>
          <a:xfrm>
            <a:off x="384596" y="1196674"/>
            <a:ext cx="371654" cy="369332"/>
          </a:xfrm>
          <a:prstGeom prst="rect">
            <a:avLst/>
          </a:prstGeom>
          <a:noFill/>
        </p:spPr>
        <p:txBody>
          <a:bodyPr wrap="none" rtlCol="0">
            <a:spAutoFit/>
          </a:bodyPr>
          <a:lstStyle/>
          <a:p>
            <a:r>
              <a:rPr lang="fr-FR" dirty="0">
                <a:solidFill>
                  <a:srgbClr val="FF0000"/>
                </a:solidFill>
              </a:rPr>
              <a:t>4)</a:t>
            </a:r>
          </a:p>
        </p:txBody>
      </p:sp>
      <p:sp>
        <p:nvSpPr>
          <p:cNvPr id="4" name="ZoneTexte 3"/>
          <p:cNvSpPr txBox="1"/>
          <p:nvPr/>
        </p:nvSpPr>
        <p:spPr>
          <a:xfrm>
            <a:off x="377357" y="3134314"/>
            <a:ext cx="8339667" cy="1200329"/>
          </a:xfrm>
          <a:prstGeom prst="rect">
            <a:avLst/>
          </a:prstGeom>
          <a:solidFill>
            <a:srgbClr val="E6E0EC"/>
          </a:solidFill>
        </p:spPr>
        <p:txBody>
          <a:bodyPr wrap="square" rtlCol="0">
            <a:spAutoFit/>
          </a:bodyPr>
          <a:lstStyle/>
          <a:p>
            <a:r>
              <a:rPr lang="fr-FR" b="1" dirty="0"/>
              <a:t>La première division de la méiose </a:t>
            </a:r>
            <a:r>
              <a:rPr lang="fr-FR" dirty="0"/>
              <a:t>est une phase </a:t>
            </a:r>
            <a:r>
              <a:rPr lang="fr-FR" dirty="0">
                <a:solidFill>
                  <a:srgbClr val="FF0000"/>
                </a:solidFill>
              </a:rPr>
              <a:t>réductionnelle</a:t>
            </a:r>
            <a:r>
              <a:rPr lang="fr-FR" dirty="0"/>
              <a:t>, où le stock de chromosomes et la quantité d'ADN sont divisés par deux. Elle assure ainsi</a:t>
            </a:r>
            <a:r>
              <a:rPr lang="fr-FR" dirty="0">
                <a:solidFill>
                  <a:srgbClr val="FF0000"/>
                </a:solidFill>
              </a:rPr>
              <a:t> le passage de la diploïdie à l'haploïdie.</a:t>
            </a:r>
          </a:p>
          <a:p>
            <a:r>
              <a:rPr lang="fr-FR" dirty="0"/>
              <a:t>Cette étape est précédée d'une phase de réplication d'ADN.</a:t>
            </a:r>
          </a:p>
        </p:txBody>
      </p:sp>
      <p:sp>
        <p:nvSpPr>
          <p:cNvPr id="6" name="ZoneTexte 5"/>
          <p:cNvSpPr txBox="1"/>
          <p:nvPr/>
        </p:nvSpPr>
        <p:spPr>
          <a:xfrm>
            <a:off x="377357" y="4417761"/>
            <a:ext cx="8339667" cy="1200329"/>
          </a:xfrm>
          <a:prstGeom prst="rect">
            <a:avLst/>
          </a:prstGeom>
          <a:solidFill>
            <a:srgbClr val="E6E0EC"/>
          </a:solidFill>
        </p:spPr>
        <p:txBody>
          <a:bodyPr wrap="square" rtlCol="0">
            <a:spAutoFit/>
          </a:bodyPr>
          <a:lstStyle/>
          <a:p>
            <a:r>
              <a:rPr lang="fr-FR" b="1" dirty="0"/>
              <a:t>La deuxième division de la méiose </a:t>
            </a:r>
            <a:r>
              <a:rPr lang="fr-FR" dirty="0"/>
              <a:t>est la division </a:t>
            </a:r>
            <a:r>
              <a:rPr lang="fr-FR" dirty="0">
                <a:solidFill>
                  <a:srgbClr val="FF0000"/>
                </a:solidFill>
              </a:rPr>
              <a:t>équationnelle</a:t>
            </a:r>
            <a:r>
              <a:rPr lang="fr-FR" dirty="0"/>
              <a:t>. Elle a toutes les caractéristiques de la mitose, mais n'est pas précédée d'une </a:t>
            </a:r>
            <a:r>
              <a:rPr lang="fr-FR" dirty="0" err="1"/>
              <a:t>inter-phase</a:t>
            </a:r>
            <a:r>
              <a:rPr lang="fr-FR" dirty="0"/>
              <a:t>. Elle produit à partir de chaque cellule à n chromosomes doubles, deux cellules à n chromosomes simples.</a:t>
            </a:r>
          </a:p>
        </p:txBody>
      </p:sp>
    </p:spTree>
    <p:extLst>
      <p:ext uri="{BB962C8B-B14F-4D97-AF65-F5344CB8AC3E}">
        <p14:creationId xmlns:p14="http://schemas.microsoft.com/office/powerpoint/2010/main" val="1209091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0-#ppt_w/2"/>
                                          </p:val>
                                        </p:tav>
                                        <p:tav tm="100000">
                                          <p:val>
                                            <p:strVal val="#ppt_x"/>
                                          </p:val>
                                        </p:tav>
                                      </p:tavLst>
                                    </p:anim>
                                    <p:anim calcmode="lin" valueType="num">
                                      <p:cBhvr additive="base">
                                        <p:cTn id="15"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ppt_x"/>
                                          </p:val>
                                        </p:tav>
                                        <p:tav tm="100000">
                                          <p:val>
                                            <p:strVal val="#ppt_x"/>
                                          </p:val>
                                        </p:tav>
                                      </p:tavLst>
                                    </p:anim>
                                    <p:anim calcmode="lin" valueType="num">
                                      <p:cBhvr additive="base">
                                        <p:cTn id="2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D935C4F5-A120-4715-8F18-5BD926F7EC62}"/>
              </a:ext>
            </a:extLst>
          </p:cNvPr>
          <p:cNvSpPr txBox="1"/>
          <p:nvPr/>
        </p:nvSpPr>
        <p:spPr>
          <a:xfrm>
            <a:off x="3461760" y="4221088"/>
            <a:ext cx="2220480" cy="584775"/>
          </a:xfrm>
          <a:prstGeom prst="rect">
            <a:avLst/>
          </a:prstGeom>
          <a:solidFill>
            <a:schemeClr val="tx2">
              <a:lumMod val="40000"/>
              <a:lumOff val="60000"/>
            </a:schemeClr>
          </a:solidFill>
        </p:spPr>
        <p:txBody>
          <a:bodyPr wrap="none" rtlCol="0">
            <a:spAutoFit/>
          </a:bodyPr>
          <a:lstStyle/>
          <a:p>
            <a:r>
              <a:rPr lang="fr-FR" sz="3200" dirty="0"/>
              <a:t>ANIMATION</a:t>
            </a:r>
          </a:p>
        </p:txBody>
      </p:sp>
      <p:pic>
        <p:nvPicPr>
          <p:cNvPr id="3" name="Image 2">
            <a:extLst>
              <a:ext uri="{FF2B5EF4-FFF2-40B4-BE49-F238E27FC236}">
                <a16:creationId xmlns:a16="http://schemas.microsoft.com/office/drawing/2014/main" id="{CDEE5F27-BCD2-4398-BC9F-EE3B839021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7844" y="1340768"/>
            <a:ext cx="2808312" cy="2808312"/>
          </a:xfrm>
          <a:prstGeom prst="rect">
            <a:avLst/>
          </a:prstGeom>
        </p:spPr>
      </p:pic>
    </p:spTree>
    <p:extLst>
      <p:ext uri="{BB962C8B-B14F-4D97-AF65-F5344CB8AC3E}">
        <p14:creationId xmlns:p14="http://schemas.microsoft.com/office/powerpoint/2010/main" val="3494970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FF194F22-B8CC-41EA-9638-3C7514F371C5}"/>
              </a:ext>
            </a:extLst>
          </p:cNvPr>
          <p:cNvPicPr>
            <a:picLocks noChangeAspect="1"/>
          </p:cNvPicPr>
          <p:nvPr/>
        </p:nvPicPr>
        <p:blipFill>
          <a:blip r:embed="rId2"/>
          <a:stretch>
            <a:fillRect/>
          </a:stretch>
        </p:blipFill>
        <p:spPr>
          <a:xfrm>
            <a:off x="313042" y="245247"/>
            <a:ext cx="8487549" cy="4455633"/>
          </a:xfrm>
          <a:prstGeom prst="rect">
            <a:avLst/>
          </a:prstGeom>
          <a:ln w="127000" cap="sq">
            <a:solidFill>
              <a:srgbClr val="FF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344948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09DFF7-7E8A-43AE-83D7-B8932240C2D0}"/>
              </a:ext>
            </a:extLst>
          </p:cNvPr>
          <p:cNvSpPr/>
          <p:nvPr/>
        </p:nvSpPr>
        <p:spPr>
          <a:xfrm>
            <a:off x="303196" y="1997839"/>
            <a:ext cx="8537608" cy="2862322"/>
          </a:xfrm>
          <a:prstGeom prst="rect">
            <a:avLst/>
          </a:prstGeom>
          <a:solidFill>
            <a:schemeClr val="accent3">
              <a:lumMod val="20000"/>
              <a:lumOff val="80000"/>
            </a:schemeClr>
          </a:solidFill>
        </p:spPr>
        <p:txBody>
          <a:bodyPr wrap="square">
            <a:spAutoFit/>
          </a:bodyPr>
          <a:lstStyle/>
          <a:p>
            <a:r>
              <a:rPr lang="fr-MA" dirty="0">
                <a:latin typeface="Comic Sans MS" panose="030F0902030302020204" pitchFamily="66" charset="0"/>
              </a:rPr>
              <a:t>La méiose est précédée par la réplication de l’ADN pendant l’interphase, ce qui conduit à un dédoublement de sa </a:t>
            </a:r>
            <a:r>
              <a:rPr lang="fr-MA" dirty="0" err="1">
                <a:latin typeface="Comic Sans MS" panose="030F0902030302020204" pitchFamily="66" charset="0"/>
              </a:rPr>
              <a:t>quantite</a:t>
            </a:r>
            <a:r>
              <a:rPr lang="fr-MA" dirty="0">
                <a:latin typeface="Comic Sans MS" panose="030F0902030302020204" pitchFamily="66" charset="0"/>
              </a:rPr>
              <a:t>́ (de Q à 2.Q) et à la transformation des chromosomes monochromatidiens en chromosomes bichromatidiens. </a:t>
            </a:r>
          </a:p>
          <a:p>
            <a:endParaRPr lang="fr-MA" dirty="0">
              <a:latin typeface="Comic Sans MS" panose="030F0902030302020204" pitchFamily="66" charset="0"/>
            </a:endParaRPr>
          </a:p>
          <a:p>
            <a:r>
              <a:rPr lang="fr-MA" dirty="0">
                <a:latin typeface="Comic Sans MS" panose="030F0902030302020204" pitchFamily="66" charset="0"/>
              </a:rPr>
              <a:t>Pendant la division réductionnelle, la séparation des chromosomes homologues fait diminuer la quantité́ d’ADN par cellule de moitié (de 2.Q à Q). </a:t>
            </a:r>
          </a:p>
          <a:p>
            <a:endParaRPr lang="fr-MA" dirty="0">
              <a:latin typeface="Comic Sans MS" panose="030F0902030302020204" pitchFamily="66" charset="0"/>
            </a:endParaRPr>
          </a:p>
          <a:p>
            <a:r>
              <a:rPr lang="fr-MA" dirty="0">
                <a:latin typeface="Comic Sans MS" panose="030F0902030302020204" pitchFamily="66" charset="0"/>
              </a:rPr>
              <a:t>La séparation des chromatides de chaque chromosome pendant la division équationnelle, permet une seconde réduction par deux de la quantité́ d’ADN (de Q à Q/2). </a:t>
            </a:r>
          </a:p>
        </p:txBody>
      </p:sp>
    </p:spTree>
    <p:extLst>
      <p:ext uri="{BB962C8B-B14F-4D97-AF65-F5344CB8AC3E}">
        <p14:creationId xmlns:p14="http://schemas.microsoft.com/office/powerpoint/2010/main" val="2763293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5D3A705C-46D7-4806-857D-48B180C7FD96}"/>
              </a:ext>
            </a:extLst>
          </p:cNvPr>
          <p:cNvPicPr>
            <a:picLocks noChangeAspect="1"/>
          </p:cNvPicPr>
          <p:nvPr/>
        </p:nvPicPr>
        <p:blipFill rotWithShape="1">
          <a:blip r:embed="rId2"/>
          <a:srcRect l="16296" t="21566" r="14814" b="7101"/>
          <a:stretch/>
        </p:blipFill>
        <p:spPr>
          <a:xfrm>
            <a:off x="536896" y="229869"/>
            <a:ext cx="8158463" cy="4434698"/>
          </a:xfrm>
          <a:prstGeom prst="rect">
            <a:avLst/>
          </a:prstGeom>
          <a:ln w="38100" cap="sq">
            <a:solidFill>
              <a:srgbClr val="FF0000"/>
            </a:solidFill>
            <a:prstDash val="solid"/>
            <a:miter lim="800000"/>
          </a:ln>
          <a:effectLst>
            <a:outerShdw blurRad="50800" dist="38100" dir="2700000" algn="tl" rotWithShape="0">
              <a:srgbClr val="000000">
                <a:alpha val="43000"/>
              </a:srgbClr>
            </a:outerShdw>
          </a:effectLst>
        </p:spPr>
      </p:pic>
      <p:grpSp>
        <p:nvGrpSpPr>
          <p:cNvPr id="37" name="Groupe 36">
            <a:extLst>
              <a:ext uri="{FF2B5EF4-FFF2-40B4-BE49-F238E27FC236}">
                <a16:creationId xmlns:a16="http://schemas.microsoft.com/office/drawing/2014/main" id="{E2FA7128-6452-4AD0-9B0D-E6C51F3A1EC3}"/>
              </a:ext>
            </a:extLst>
          </p:cNvPr>
          <p:cNvGrpSpPr/>
          <p:nvPr/>
        </p:nvGrpSpPr>
        <p:grpSpPr>
          <a:xfrm>
            <a:off x="3888010" y="327692"/>
            <a:ext cx="796954" cy="796954"/>
            <a:chOff x="3863071" y="1548536"/>
            <a:chExt cx="796954" cy="796954"/>
          </a:xfrm>
        </p:grpSpPr>
        <p:sp>
          <p:nvSpPr>
            <p:cNvPr id="10" name="Ellipse 9">
              <a:extLst>
                <a:ext uri="{FF2B5EF4-FFF2-40B4-BE49-F238E27FC236}">
                  <a16:creationId xmlns:a16="http://schemas.microsoft.com/office/drawing/2014/main" id="{64E87408-6559-44CC-B978-2909EB3CD008}"/>
                </a:ext>
              </a:extLst>
            </p:cNvPr>
            <p:cNvSpPr/>
            <p:nvPr/>
          </p:nvSpPr>
          <p:spPr>
            <a:xfrm>
              <a:off x="3863071" y="1548536"/>
              <a:ext cx="796954" cy="796954"/>
            </a:xfrm>
            <a:prstGeom prst="ellipse">
              <a:avLst/>
            </a:prstGeom>
            <a:solidFill>
              <a:schemeClr val="accent3">
                <a:lumMod val="20000"/>
                <a:lumOff val="8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6" name="Grouper 8">
              <a:extLst>
                <a:ext uri="{FF2B5EF4-FFF2-40B4-BE49-F238E27FC236}">
                  <a16:creationId xmlns:a16="http://schemas.microsoft.com/office/drawing/2014/main" id="{3E914612-9B12-4151-9242-621DDD20390D}"/>
                </a:ext>
              </a:extLst>
            </p:cNvPr>
            <p:cNvGrpSpPr/>
            <p:nvPr/>
          </p:nvGrpSpPr>
          <p:grpSpPr>
            <a:xfrm>
              <a:off x="4330679" y="1667971"/>
              <a:ext cx="151588" cy="512949"/>
              <a:chOff x="6543747" y="1484784"/>
              <a:chExt cx="159256" cy="769986"/>
            </a:xfrm>
          </p:grpSpPr>
          <p:sp>
            <p:nvSpPr>
              <p:cNvPr id="7" name="Rectangle à coins arrondis 4">
                <a:extLst>
                  <a:ext uri="{FF2B5EF4-FFF2-40B4-BE49-F238E27FC236}">
                    <a16:creationId xmlns:a16="http://schemas.microsoft.com/office/drawing/2014/main" id="{6AE4EA30-9D24-4B38-A5DA-80D69FAF2A6C}"/>
                  </a:ext>
                </a:extLst>
              </p:cNvPr>
              <p:cNvSpPr/>
              <p:nvPr/>
            </p:nvSpPr>
            <p:spPr>
              <a:xfrm>
                <a:off x="6543747" y="1484784"/>
                <a:ext cx="66433" cy="769986"/>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Rectangle à coins arrondis 6">
                <a:extLst>
                  <a:ext uri="{FF2B5EF4-FFF2-40B4-BE49-F238E27FC236}">
                    <a16:creationId xmlns:a16="http://schemas.microsoft.com/office/drawing/2014/main" id="{48965F1B-928A-4459-9CC8-6CEAA326ED35}"/>
                  </a:ext>
                </a:extLst>
              </p:cNvPr>
              <p:cNvSpPr/>
              <p:nvPr/>
            </p:nvSpPr>
            <p:spPr>
              <a:xfrm>
                <a:off x="6639813" y="1484784"/>
                <a:ext cx="63190" cy="769986"/>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4B94461E-9B9D-4D45-93A0-AB1CB06E541A}"/>
                  </a:ext>
                </a:extLst>
              </p:cNvPr>
              <p:cNvSpPr/>
              <p:nvPr/>
            </p:nvSpPr>
            <p:spPr>
              <a:xfrm>
                <a:off x="6585676" y="1822378"/>
                <a:ext cx="82500" cy="81748"/>
              </a:xfrm>
              <a:prstGeom prst="ellipse">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15" name="Grouper 8">
              <a:extLst>
                <a:ext uri="{FF2B5EF4-FFF2-40B4-BE49-F238E27FC236}">
                  <a16:creationId xmlns:a16="http://schemas.microsoft.com/office/drawing/2014/main" id="{747BA284-429A-461C-9B07-AB3B6165E131}"/>
                </a:ext>
              </a:extLst>
            </p:cNvPr>
            <p:cNvGrpSpPr/>
            <p:nvPr/>
          </p:nvGrpSpPr>
          <p:grpSpPr>
            <a:xfrm>
              <a:off x="4067633" y="1667971"/>
              <a:ext cx="151588" cy="512949"/>
              <a:chOff x="6543747" y="1484784"/>
              <a:chExt cx="159256" cy="769986"/>
            </a:xfrm>
          </p:grpSpPr>
          <p:sp>
            <p:nvSpPr>
              <p:cNvPr id="16" name="Rectangle à coins arrondis 4">
                <a:extLst>
                  <a:ext uri="{FF2B5EF4-FFF2-40B4-BE49-F238E27FC236}">
                    <a16:creationId xmlns:a16="http://schemas.microsoft.com/office/drawing/2014/main" id="{478C128B-D80A-4F3B-8D9A-FF33ED1225AF}"/>
                  </a:ext>
                </a:extLst>
              </p:cNvPr>
              <p:cNvSpPr/>
              <p:nvPr/>
            </p:nvSpPr>
            <p:spPr>
              <a:xfrm>
                <a:off x="6543747" y="1484784"/>
                <a:ext cx="66433" cy="769986"/>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7" name="Rectangle à coins arrondis 6">
                <a:extLst>
                  <a:ext uri="{FF2B5EF4-FFF2-40B4-BE49-F238E27FC236}">
                    <a16:creationId xmlns:a16="http://schemas.microsoft.com/office/drawing/2014/main" id="{1B51AD01-891E-4FC1-8F54-372B0600233A}"/>
                  </a:ext>
                </a:extLst>
              </p:cNvPr>
              <p:cNvSpPr/>
              <p:nvPr/>
            </p:nvSpPr>
            <p:spPr>
              <a:xfrm>
                <a:off x="6639813" y="1484784"/>
                <a:ext cx="63190" cy="769986"/>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57EE3667-BB09-4FA0-9FDC-3F26AA32DB1B}"/>
                  </a:ext>
                </a:extLst>
              </p:cNvPr>
              <p:cNvSpPr/>
              <p:nvPr/>
            </p:nvSpPr>
            <p:spPr>
              <a:xfrm>
                <a:off x="6585676" y="1822378"/>
                <a:ext cx="82500" cy="81748"/>
              </a:xfrm>
              <a:prstGeom prst="ellipse">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grpSp>
        <p:nvGrpSpPr>
          <p:cNvPr id="38" name="Groupe 37">
            <a:extLst>
              <a:ext uri="{FF2B5EF4-FFF2-40B4-BE49-F238E27FC236}">
                <a16:creationId xmlns:a16="http://schemas.microsoft.com/office/drawing/2014/main" id="{455DAB52-6785-4F12-8420-2FFC5826B548}"/>
              </a:ext>
            </a:extLst>
          </p:cNvPr>
          <p:cNvGrpSpPr/>
          <p:nvPr/>
        </p:nvGrpSpPr>
        <p:grpSpPr>
          <a:xfrm>
            <a:off x="5258282" y="1692852"/>
            <a:ext cx="796954" cy="796954"/>
            <a:chOff x="5258282" y="2913696"/>
            <a:chExt cx="796954" cy="796954"/>
          </a:xfrm>
        </p:grpSpPr>
        <p:sp>
          <p:nvSpPr>
            <p:cNvPr id="13" name="Ellipse 12">
              <a:extLst>
                <a:ext uri="{FF2B5EF4-FFF2-40B4-BE49-F238E27FC236}">
                  <a16:creationId xmlns:a16="http://schemas.microsoft.com/office/drawing/2014/main" id="{B8F185CF-B1FE-4B5A-AC28-B7597DC87517}"/>
                </a:ext>
              </a:extLst>
            </p:cNvPr>
            <p:cNvSpPr/>
            <p:nvPr/>
          </p:nvSpPr>
          <p:spPr>
            <a:xfrm>
              <a:off x="5258282" y="2913696"/>
              <a:ext cx="796954" cy="796954"/>
            </a:xfrm>
            <a:prstGeom prst="ellipse">
              <a:avLst/>
            </a:prstGeom>
            <a:solidFill>
              <a:schemeClr val="accent3">
                <a:lumMod val="20000"/>
                <a:lumOff val="8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19" name="Grouper 8">
              <a:extLst>
                <a:ext uri="{FF2B5EF4-FFF2-40B4-BE49-F238E27FC236}">
                  <a16:creationId xmlns:a16="http://schemas.microsoft.com/office/drawing/2014/main" id="{A8AA00EC-5C84-4168-8A1F-F0E7FBABFFF6}"/>
                </a:ext>
              </a:extLst>
            </p:cNvPr>
            <p:cNvGrpSpPr/>
            <p:nvPr/>
          </p:nvGrpSpPr>
          <p:grpSpPr>
            <a:xfrm>
              <a:off x="5575637" y="3063182"/>
              <a:ext cx="151588" cy="512949"/>
              <a:chOff x="6543747" y="1484784"/>
              <a:chExt cx="159256" cy="769986"/>
            </a:xfrm>
          </p:grpSpPr>
          <p:sp>
            <p:nvSpPr>
              <p:cNvPr id="20" name="Rectangle à coins arrondis 4">
                <a:extLst>
                  <a:ext uri="{FF2B5EF4-FFF2-40B4-BE49-F238E27FC236}">
                    <a16:creationId xmlns:a16="http://schemas.microsoft.com/office/drawing/2014/main" id="{05D917A0-16BC-436B-A0D5-B2E1D0000152}"/>
                  </a:ext>
                </a:extLst>
              </p:cNvPr>
              <p:cNvSpPr/>
              <p:nvPr/>
            </p:nvSpPr>
            <p:spPr>
              <a:xfrm>
                <a:off x="6543747" y="1484784"/>
                <a:ext cx="66433" cy="769986"/>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1" name="Rectangle à coins arrondis 6">
                <a:extLst>
                  <a:ext uri="{FF2B5EF4-FFF2-40B4-BE49-F238E27FC236}">
                    <a16:creationId xmlns:a16="http://schemas.microsoft.com/office/drawing/2014/main" id="{F69AF1C7-079C-4DF8-BA4D-386B8DAB369E}"/>
                  </a:ext>
                </a:extLst>
              </p:cNvPr>
              <p:cNvSpPr/>
              <p:nvPr/>
            </p:nvSpPr>
            <p:spPr>
              <a:xfrm>
                <a:off x="6639813" y="1484784"/>
                <a:ext cx="63190" cy="769986"/>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CFA9AB48-5BD0-4C22-B2CB-2452865DA2FE}"/>
                  </a:ext>
                </a:extLst>
              </p:cNvPr>
              <p:cNvSpPr/>
              <p:nvPr/>
            </p:nvSpPr>
            <p:spPr>
              <a:xfrm>
                <a:off x="6585676" y="1822378"/>
                <a:ext cx="82500" cy="81748"/>
              </a:xfrm>
              <a:prstGeom prst="ellipse">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grpSp>
        <p:nvGrpSpPr>
          <p:cNvPr id="36" name="Groupe 35">
            <a:extLst>
              <a:ext uri="{FF2B5EF4-FFF2-40B4-BE49-F238E27FC236}">
                <a16:creationId xmlns:a16="http://schemas.microsoft.com/office/drawing/2014/main" id="{B110F687-8E81-4FC2-A458-12B04D7F36A2}"/>
              </a:ext>
            </a:extLst>
          </p:cNvPr>
          <p:cNvGrpSpPr/>
          <p:nvPr/>
        </p:nvGrpSpPr>
        <p:grpSpPr>
          <a:xfrm>
            <a:off x="1853967" y="1723996"/>
            <a:ext cx="796954" cy="796954"/>
            <a:chOff x="1853967" y="2978092"/>
            <a:chExt cx="796954" cy="796954"/>
          </a:xfrm>
        </p:grpSpPr>
        <p:sp>
          <p:nvSpPr>
            <p:cNvPr id="3" name="Ellipse 2">
              <a:extLst>
                <a:ext uri="{FF2B5EF4-FFF2-40B4-BE49-F238E27FC236}">
                  <a16:creationId xmlns:a16="http://schemas.microsoft.com/office/drawing/2014/main" id="{1CE6D860-7368-4DEA-8AAA-B47234ED17B1}"/>
                </a:ext>
              </a:extLst>
            </p:cNvPr>
            <p:cNvSpPr/>
            <p:nvPr/>
          </p:nvSpPr>
          <p:spPr>
            <a:xfrm>
              <a:off x="1853967" y="2978092"/>
              <a:ext cx="796954" cy="796954"/>
            </a:xfrm>
            <a:prstGeom prst="ellipse">
              <a:avLst/>
            </a:prstGeom>
            <a:solidFill>
              <a:schemeClr val="accent3">
                <a:lumMod val="20000"/>
                <a:lumOff val="8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35" name="Groupe 34">
              <a:extLst>
                <a:ext uri="{FF2B5EF4-FFF2-40B4-BE49-F238E27FC236}">
                  <a16:creationId xmlns:a16="http://schemas.microsoft.com/office/drawing/2014/main" id="{EDA98677-22BA-47E9-B138-FC8F5E470771}"/>
                </a:ext>
              </a:extLst>
            </p:cNvPr>
            <p:cNvGrpSpPr/>
            <p:nvPr/>
          </p:nvGrpSpPr>
          <p:grpSpPr>
            <a:xfrm>
              <a:off x="2137148" y="3120095"/>
              <a:ext cx="230593" cy="512949"/>
              <a:chOff x="2098439" y="3106112"/>
              <a:chExt cx="230593" cy="512949"/>
            </a:xfrm>
          </p:grpSpPr>
          <p:grpSp>
            <p:nvGrpSpPr>
              <p:cNvPr id="28" name="Groupe 27">
                <a:extLst>
                  <a:ext uri="{FF2B5EF4-FFF2-40B4-BE49-F238E27FC236}">
                    <a16:creationId xmlns:a16="http://schemas.microsoft.com/office/drawing/2014/main" id="{F843384A-73F2-42B6-87AC-00C72F330D58}"/>
                  </a:ext>
                </a:extLst>
              </p:cNvPr>
              <p:cNvGrpSpPr/>
              <p:nvPr/>
            </p:nvGrpSpPr>
            <p:grpSpPr>
              <a:xfrm>
                <a:off x="2250504" y="3106112"/>
                <a:ext cx="78528" cy="512949"/>
                <a:chOff x="2450461" y="2320501"/>
                <a:chExt cx="78528" cy="512949"/>
              </a:xfrm>
            </p:grpSpPr>
            <p:sp>
              <p:nvSpPr>
                <p:cNvPr id="25" name="Rectangle à coins arrondis 4">
                  <a:extLst>
                    <a:ext uri="{FF2B5EF4-FFF2-40B4-BE49-F238E27FC236}">
                      <a16:creationId xmlns:a16="http://schemas.microsoft.com/office/drawing/2014/main" id="{972B1917-07F1-4E0B-A2B9-4642EDC79854}"/>
                    </a:ext>
                  </a:extLst>
                </p:cNvPr>
                <p:cNvSpPr/>
                <p:nvPr/>
              </p:nvSpPr>
              <p:spPr>
                <a:xfrm>
                  <a:off x="2458108" y="2320501"/>
                  <a:ext cx="63234" cy="512949"/>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E8E3861B-47D6-4882-9E28-43D1C47B88B9}"/>
                    </a:ext>
                  </a:extLst>
                </p:cNvPr>
                <p:cNvSpPr/>
                <p:nvPr/>
              </p:nvSpPr>
              <p:spPr>
                <a:xfrm>
                  <a:off x="2450461" y="2545399"/>
                  <a:ext cx="78528" cy="54459"/>
                </a:xfrm>
                <a:prstGeom prst="ellipse">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29" name="Groupe 28">
                <a:extLst>
                  <a:ext uri="{FF2B5EF4-FFF2-40B4-BE49-F238E27FC236}">
                    <a16:creationId xmlns:a16="http://schemas.microsoft.com/office/drawing/2014/main" id="{DED453A0-35DB-4C86-8A9D-A471AD403BF1}"/>
                  </a:ext>
                </a:extLst>
              </p:cNvPr>
              <p:cNvGrpSpPr/>
              <p:nvPr/>
            </p:nvGrpSpPr>
            <p:grpSpPr>
              <a:xfrm>
                <a:off x="2098439" y="3106112"/>
                <a:ext cx="78528" cy="512949"/>
                <a:chOff x="2450461" y="2290450"/>
                <a:chExt cx="78528" cy="512949"/>
              </a:xfrm>
            </p:grpSpPr>
            <p:sp>
              <p:nvSpPr>
                <p:cNvPr id="30" name="Rectangle à coins arrondis 4">
                  <a:extLst>
                    <a:ext uri="{FF2B5EF4-FFF2-40B4-BE49-F238E27FC236}">
                      <a16:creationId xmlns:a16="http://schemas.microsoft.com/office/drawing/2014/main" id="{F2F022CB-1530-4E01-8A37-D30F24FE4549}"/>
                    </a:ext>
                  </a:extLst>
                </p:cNvPr>
                <p:cNvSpPr/>
                <p:nvPr/>
              </p:nvSpPr>
              <p:spPr>
                <a:xfrm>
                  <a:off x="2458108" y="2290450"/>
                  <a:ext cx="63234" cy="512949"/>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1" name="Ellipse 30">
                  <a:extLst>
                    <a:ext uri="{FF2B5EF4-FFF2-40B4-BE49-F238E27FC236}">
                      <a16:creationId xmlns:a16="http://schemas.microsoft.com/office/drawing/2014/main" id="{EE256760-5A20-459B-ADED-DFEAF5C94F9B}"/>
                    </a:ext>
                  </a:extLst>
                </p:cNvPr>
                <p:cNvSpPr/>
                <p:nvPr/>
              </p:nvSpPr>
              <p:spPr>
                <a:xfrm>
                  <a:off x="2450461" y="2523934"/>
                  <a:ext cx="78528" cy="54459"/>
                </a:xfrm>
                <a:prstGeom prst="ellipse">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grpSp>
      <p:grpSp>
        <p:nvGrpSpPr>
          <p:cNvPr id="39" name="Groupe 38">
            <a:extLst>
              <a:ext uri="{FF2B5EF4-FFF2-40B4-BE49-F238E27FC236}">
                <a16:creationId xmlns:a16="http://schemas.microsoft.com/office/drawing/2014/main" id="{67CF7334-0276-43EB-87CB-1663B911ECD2}"/>
              </a:ext>
            </a:extLst>
          </p:cNvPr>
          <p:cNvGrpSpPr/>
          <p:nvPr/>
        </p:nvGrpSpPr>
        <p:grpSpPr>
          <a:xfrm>
            <a:off x="6501403" y="2410867"/>
            <a:ext cx="796954" cy="796954"/>
            <a:chOff x="6576220" y="3664963"/>
            <a:chExt cx="796954" cy="796954"/>
          </a:xfrm>
        </p:grpSpPr>
        <p:sp>
          <p:nvSpPr>
            <p:cNvPr id="14" name="Ellipse 13">
              <a:extLst>
                <a:ext uri="{FF2B5EF4-FFF2-40B4-BE49-F238E27FC236}">
                  <a16:creationId xmlns:a16="http://schemas.microsoft.com/office/drawing/2014/main" id="{7C011A88-0972-42FA-87AC-35E33564652E}"/>
                </a:ext>
              </a:extLst>
            </p:cNvPr>
            <p:cNvSpPr/>
            <p:nvPr/>
          </p:nvSpPr>
          <p:spPr>
            <a:xfrm>
              <a:off x="6576220" y="3664963"/>
              <a:ext cx="796954" cy="796954"/>
            </a:xfrm>
            <a:prstGeom prst="ellipse">
              <a:avLst/>
            </a:prstGeom>
            <a:solidFill>
              <a:schemeClr val="accent3">
                <a:lumMod val="20000"/>
                <a:lumOff val="8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32" name="Groupe 31">
              <a:extLst>
                <a:ext uri="{FF2B5EF4-FFF2-40B4-BE49-F238E27FC236}">
                  <a16:creationId xmlns:a16="http://schemas.microsoft.com/office/drawing/2014/main" id="{1862D847-D705-4646-B944-164BD1418239}"/>
                </a:ext>
              </a:extLst>
            </p:cNvPr>
            <p:cNvGrpSpPr/>
            <p:nvPr/>
          </p:nvGrpSpPr>
          <p:grpSpPr>
            <a:xfrm>
              <a:off x="6935433" y="3806966"/>
              <a:ext cx="78528" cy="512949"/>
              <a:chOff x="2450461" y="2320501"/>
              <a:chExt cx="78528" cy="512949"/>
            </a:xfrm>
          </p:grpSpPr>
          <p:sp>
            <p:nvSpPr>
              <p:cNvPr id="33" name="Rectangle à coins arrondis 4">
                <a:extLst>
                  <a:ext uri="{FF2B5EF4-FFF2-40B4-BE49-F238E27FC236}">
                    <a16:creationId xmlns:a16="http://schemas.microsoft.com/office/drawing/2014/main" id="{03049982-FECA-42B3-B51F-6FC829BA7655}"/>
                  </a:ext>
                </a:extLst>
              </p:cNvPr>
              <p:cNvSpPr/>
              <p:nvPr/>
            </p:nvSpPr>
            <p:spPr>
              <a:xfrm>
                <a:off x="2458108" y="2320501"/>
                <a:ext cx="63234" cy="512949"/>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4" name="Ellipse 33">
                <a:extLst>
                  <a:ext uri="{FF2B5EF4-FFF2-40B4-BE49-F238E27FC236}">
                    <a16:creationId xmlns:a16="http://schemas.microsoft.com/office/drawing/2014/main" id="{1EFAE909-ABBC-4780-A166-24AC66808886}"/>
                  </a:ext>
                </a:extLst>
              </p:cNvPr>
              <p:cNvSpPr/>
              <p:nvPr/>
            </p:nvSpPr>
            <p:spPr>
              <a:xfrm>
                <a:off x="2450461" y="2545399"/>
                <a:ext cx="78528" cy="54459"/>
              </a:xfrm>
              <a:prstGeom prst="ellipse">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sp>
        <p:nvSpPr>
          <p:cNvPr id="46" name="ZoneTexte 45">
            <a:extLst>
              <a:ext uri="{FF2B5EF4-FFF2-40B4-BE49-F238E27FC236}">
                <a16:creationId xmlns:a16="http://schemas.microsoft.com/office/drawing/2014/main" id="{8F8C569A-1C4D-478A-BD43-96BEE03D18F1}"/>
              </a:ext>
            </a:extLst>
          </p:cNvPr>
          <p:cNvSpPr txBox="1"/>
          <p:nvPr/>
        </p:nvSpPr>
        <p:spPr>
          <a:xfrm>
            <a:off x="466094" y="347371"/>
            <a:ext cx="2517228" cy="369332"/>
          </a:xfrm>
          <a:prstGeom prst="rect">
            <a:avLst/>
          </a:prstGeom>
          <a:noFill/>
        </p:spPr>
        <p:txBody>
          <a:bodyPr wrap="none" rtlCol="0">
            <a:spAutoFit/>
          </a:bodyPr>
          <a:lstStyle/>
          <a:p>
            <a:r>
              <a:rPr lang="fr-FR" dirty="0">
                <a:solidFill>
                  <a:srgbClr val="C00000"/>
                </a:solidFill>
              </a:rPr>
              <a:t>Quantité ADN par cellule</a:t>
            </a:r>
          </a:p>
        </p:txBody>
      </p:sp>
      <p:sp>
        <p:nvSpPr>
          <p:cNvPr id="47" name="ZoneTexte 46">
            <a:extLst>
              <a:ext uri="{FF2B5EF4-FFF2-40B4-BE49-F238E27FC236}">
                <a16:creationId xmlns:a16="http://schemas.microsoft.com/office/drawing/2014/main" id="{4EC802FD-4365-4D99-A259-99D0ABC9E8DD}"/>
              </a:ext>
            </a:extLst>
          </p:cNvPr>
          <p:cNvSpPr txBox="1"/>
          <p:nvPr/>
        </p:nvSpPr>
        <p:spPr>
          <a:xfrm>
            <a:off x="98779" y="4844223"/>
            <a:ext cx="7676445" cy="369332"/>
          </a:xfrm>
          <a:prstGeom prst="rect">
            <a:avLst/>
          </a:prstGeom>
          <a:noFill/>
        </p:spPr>
        <p:txBody>
          <a:bodyPr wrap="square" rtlCol="0">
            <a:spAutoFit/>
          </a:bodyPr>
          <a:lstStyle/>
          <a:p>
            <a:r>
              <a:rPr lang="fr-FR" dirty="0">
                <a:solidFill>
                  <a:srgbClr val="FF0000"/>
                </a:solidFill>
              </a:rPr>
              <a:t>(1) </a:t>
            </a:r>
            <a:r>
              <a:rPr lang="fr-FR" dirty="0"/>
              <a:t>Cellule à </a:t>
            </a:r>
            <a:r>
              <a:rPr lang="fr-FR" b="1" dirty="0"/>
              <a:t>2n chromosomes monochromatidiens</a:t>
            </a:r>
            <a:r>
              <a:rPr lang="fr-FR" dirty="0"/>
              <a:t>.</a:t>
            </a:r>
          </a:p>
        </p:txBody>
      </p:sp>
      <p:sp>
        <p:nvSpPr>
          <p:cNvPr id="48" name="ZoneTexte 47">
            <a:extLst>
              <a:ext uri="{FF2B5EF4-FFF2-40B4-BE49-F238E27FC236}">
                <a16:creationId xmlns:a16="http://schemas.microsoft.com/office/drawing/2014/main" id="{92A45078-8518-496B-B4ED-6A17E036E49C}"/>
              </a:ext>
            </a:extLst>
          </p:cNvPr>
          <p:cNvSpPr txBox="1"/>
          <p:nvPr/>
        </p:nvSpPr>
        <p:spPr>
          <a:xfrm>
            <a:off x="98779" y="5229418"/>
            <a:ext cx="3612445" cy="369332"/>
          </a:xfrm>
          <a:prstGeom prst="rect">
            <a:avLst/>
          </a:prstGeom>
          <a:noFill/>
        </p:spPr>
        <p:txBody>
          <a:bodyPr wrap="square" rtlCol="0">
            <a:spAutoFit/>
          </a:bodyPr>
          <a:lstStyle/>
          <a:p>
            <a:r>
              <a:rPr lang="fr-FR" dirty="0">
                <a:solidFill>
                  <a:srgbClr val="FF0000"/>
                </a:solidFill>
              </a:rPr>
              <a:t>(2) </a:t>
            </a:r>
            <a:r>
              <a:rPr lang="fr-FR" dirty="0"/>
              <a:t>Synthèse d’ADN (duplication).</a:t>
            </a:r>
          </a:p>
        </p:txBody>
      </p:sp>
      <p:sp>
        <p:nvSpPr>
          <p:cNvPr id="49" name="ZoneTexte 48">
            <a:extLst>
              <a:ext uri="{FF2B5EF4-FFF2-40B4-BE49-F238E27FC236}">
                <a16:creationId xmlns:a16="http://schemas.microsoft.com/office/drawing/2014/main" id="{B4680D93-A033-46FA-B9D7-9F97F513E448}"/>
              </a:ext>
            </a:extLst>
          </p:cNvPr>
          <p:cNvSpPr txBox="1"/>
          <p:nvPr/>
        </p:nvSpPr>
        <p:spPr>
          <a:xfrm>
            <a:off x="98779" y="5614613"/>
            <a:ext cx="7676445" cy="369332"/>
          </a:xfrm>
          <a:prstGeom prst="rect">
            <a:avLst/>
          </a:prstGeom>
          <a:noFill/>
        </p:spPr>
        <p:txBody>
          <a:bodyPr wrap="square" rtlCol="0">
            <a:spAutoFit/>
          </a:bodyPr>
          <a:lstStyle/>
          <a:p>
            <a:r>
              <a:rPr lang="fr-FR" dirty="0">
                <a:solidFill>
                  <a:srgbClr val="FF0000"/>
                </a:solidFill>
              </a:rPr>
              <a:t>(3) </a:t>
            </a:r>
            <a:r>
              <a:rPr lang="fr-FR" dirty="0"/>
              <a:t>Cellule à </a:t>
            </a:r>
            <a:r>
              <a:rPr lang="fr-FR" b="1" dirty="0"/>
              <a:t>2n chromosomes bichromatidiens</a:t>
            </a:r>
            <a:r>
              <a:rPr lang="fr-FR" dirty="0"/>
              <a:t>.</a:t>
            </a:r>
          </a:p>
        </p:txBody>
      </p:sp>
      <p:sp>
        <p:nvSpPr>
          <p:cNvPr id="50" name="ZoneTexte 49">
            <a:extLst>
              <a:ext uri="{FF2B5EF4-FFF2-40B4-BE49-F238E27FC236}">
                <a16:creationId xmlns:a16="http://schemas.microsoft.com/office/drawing/2014/main" id="{1580BD5C-35BF-489D-BB31-7EAF9ABE1783}"/>
              </a:ext>
            </a:extLst>
          </p:cNvPr>
          <p:cNvSpPr txBox="1"/>
          <p:nvPr/>
        </p:nvSpPr>
        <p:spPr>
          <a:xfrm>
            <a:off x="98778" y="5999808"/>
            <a:ext cx="9045221" cy="369332"/>
          </a:xfrm>
          <a:prstGeom prst="rect">
            <a:avLst/>
          </a:prstGeom>
          <a:noFill/>
        </p:spPr>
        <p:txBody>
          <a:bodyPr wrap="square" rtlCol="0">
            <a:spAutoFit/>
          </a:bodyPr>
          <a:lstStyle/>
          <a:p>
            <a:r>
              <a:rPr lang="fr-FR" dirty="0">
                <a:solidFill>
                  <a:srgbClr val="FF0000"/>
                </a:solidFill>
              </a:rPr>
              <a:t>(4) </a:t>
            </a:r>
            <a:r>
              <a:rPr lang="fr-FR" b="1" dirty="0"/>
              <a:t>Première division </a:t>
            </a:r>
            <a:r>
              <a:rPr lang="fr-FR" dirty="0"/>
              <a:t>de la méiose, passage à </a:t>
            </a:r>
            <a:r>
              <a:rPr lang="fr-FR" b="1" dirty="0"/>
              <a:t>2 cellules à n chromosomes bichromatidiens.</a:t>
            </a:r>
          </a:p>
        </p:txBody>
      </p:sp>
      <p:sp>
        <p:nvSpPr>
          <p:cNvPr id="51" name="ZoneTexte 50">
            <a:extLst>
              <a:ext uri="{FF2B5EF4-FFF2-40B4-BE49-F238E27FC236}">
                <a16:creationId xmlns:a16="http://schemas.microsoft.com/office/drawing/2014/main" id="{39ABD045-97F7-4CF3-B922-7E82DD6A6327}"/>
              </a:ext>
            </a:extLst>
          </p:cNvPr>
          <p:cNvSpPr txBox="1"/>
          <p:nvPr/>
        </p:nvSpPr>
        <p:spPr>
          <a:xfrm>
            <a:off x="98779" y="6385004"/>
            <a:ext cx="9179975" cy="369332"/>
          </a:xfrm>
          <a:prstGeom prst="rect">
            <a:avLst/>
          </a:prstGeom>
          <a:noFill/>
        </p:spPr>
        <p:txBody>
          <a:bodyPr wrap="square" rtlCol="0">
            <a:spAutoFit/>
          </a:bodyPr>
          <a:lstStyle/>
          <a:p>
            <a:r>
              <a:rPr lang="fr-FR" dirty="0">
                <a:solidFill>
                  <a:srgbClr val="FF0000"/>
                </a:solidFill>
              </a:rPr>
              <a:t>(5) </a:t>
            </a:r>
            <a:r>
              <a:rPr lang="fr-FR" b="1" dirty="0"/>
              <a:t>Deuxième division </a:t>
            </a:r>
            <a:r>
              <a:rPr lang="fr-FR" dirty="0"/>
              <a:t>de la méiose, passage à </a:t>
            </a:r>
            <a:r>
              <a:rPr lang="fr-FR" b="1" dirty="0"/>
              <a:t>4 cellules à n chromosomes monochromatidiens</a:t>
            </a:r>
            <a:r>
              <a:rPr lang="fr-FR" dirty="0"/>
              <a:t>.</a:t>
            </a:r>
          </a:p>
        </p:txBody>
      </p:sp>
      <p:sp>
        <p:nvSpPr>
          <p:cNvPr id="52" name="ZoneTexte 51">
            <a:extLst>
              <a:ext uri="{FF2B5EF4-FFF2-40B4-BE49-F238E27FC236}">
                <a16:creationId xmlns:a16="http://schemas.microsoft.com/office/drawing/2014/main" id="{334F7568-19FA-4826-903E-83BF55956BD7}"/>
              </a:ext>
            </a:extLst>
          </p:cNvPr>
          <p:cNvSpPr txBox="1"/>
          <p:nvPr/>
        </p:nvSpPr>
        <p:spPr>
          <a:xfrm>
            <a:off x="2012454" y="2626403"/>
            <a:ext cx="441647" cy="369332"/>
          </a:xfrm>
          <a:prstGeom prst="rect">
            <a:avLst/>
          </a:prstGeom>
          <a:noFill/>
        </p:spPr>
        <p:txBody>
          <a:bodyPr wrap="none" rtlCol="0">
            <a:spAutoFit/>
          </a:bodyPr>
          <a:lstStyle/>
          <a:p>
            <a:r>
              <a:rPr lang="fr-FR" dirty="0">
                <a:solidFill>
                  <a:srgbClr val="FF0000"/>
                </a:solidFill>
              </a:rPr>
              <a:t>(1)</a:t>
            </a:r>
          </a:p>
        </p:txBody>
      </p:sp>
      <p:sp>
        <p:nvSpPr>
          <p:cNvPr id="53" name="ZoneTexte 52">
            <a:extLst>
              <a:ext uri="{FF2B5EF4-FFF2-40B4-BE49-F238E27FC236}">
                <a16:creationId xmlns:a16="http://schemas.microsoft.com/office/drawing/2014/main" id="{2E2BC9E5-F186-4A09-835A-D82FDD52570F}"/>
              </a:ext>
            </a:extLst>
          </p:cNvPr>
          <p:cNvSpPr txBox="1"/>
          <p:nvPr/>
        </p:nvSpPr>
        <p:spPr>
          <a:xfrm>
            <a:off x="2992267" y="1616266"/>
            <a:ext cx="441647" cy="369332"/>
          </a:xfrm>
          <a:prstGeom prst="rect">
            <a:avLst/>
          </a:prstGeom>
          <a:noFill/>
        </p:spPr>
        <p:txBody>
          <a:bodyPr wrap="none" rtlCol="0">
            <a:spAutoFit/>
          </a:bodyPr>
          <a:lstStyle/>
          <a:p>
            <a:r>
              <a:rPr lang="fr-FR" dirty="0">
                <a:solidFill>
                  <a:srgbClr val="FF0000"/>
                </a:solidFill>
              </a:rPr>
              <a:t>(2)</a:t>
            </a:r>
          </a:p>
        </p:txBody>
      </p:sp>
      <p:sp>
        <p:nvSpPr>
          <p:cNvPr id="54" name="ZoneTexte 53">
            <a:extLst>
              <a:ext uri="{FF2B5EF4-FFF2-40B4-BE49-F238E27FC236}">
                <a16:creationId xmlns:a16="http://schemas.microsoft.com/office/drawing/2014/main" id="{88D5550C-0F5F-4BDD-9289-AD9AFBF32B69}"/>
              </a:ext>
            </a:extLst>
          </p:cNvPr>
          <p:cNvSpPr txBox="1"/>
          <p:nvPr/>
        </p:nvSpPr>
        <p:spPr>
          <a:xfrm>
            <a:off x="4092572" y="1195006"/>
            <a:ext cx="441647" cy="369332"/>
          </a:xfrm>
          <a:prstGeom prst="rect">
            <a:avLst/>
          </a:prstGeom>
          <a:noFill/>
        </p:spPr>
        <p:txBody>
          <a:bodyPr wrap="none" rtlCol="0">
            <a:spAutoFit/>
          </a:bodyPr>
          <a:lstStyle/>
          <a:p>
            <a:r>
              <a:rPr lang="fr-FR" dirty="0">
                <a:solidFill>
                  <a:srgbClr val="FF0000"/>
                </a:solidFill>
              </a:rPr>
              <a:t>(3)</a:t>
            </a:r>
          </a:p>
        </p:txBody>
      </p:sp>
      <p:sp>
        <p:nvSpPr>
          <p:cNvPr id="55" name="ZoneTexte 54">
            <a:extLst>
              <a:ext uri="{FF2B5EF4-FFF2-40B4-BE49-F238E27FC236}">
                <a16:creationId xmlns:a16="http://schemas.microsoft.com/office/drawing/2014/main" id="{B0CB496A-24AF-4432-978E-C38F211B50B1}"/>
              </a:ext>
            </a:extLst>
          </p:cNvPr>
          <p:cNvSpPr txBox="1"/>
          <p:nvPr/>
        </p:nvSpPr>
        <p:spPr>
          <a:xfrm>
            <a:off x="4815725" y="2706198"/>
            <a:ext cx="441647" cy="369332"/>
          </a:xfrm>
          <a:prstGeom prst="rect">
            <a:avLst/>
          </a:prstGeom>
          <a:noFill/>
        </p:spPr>
        <p:txBody>
          <a:bodyPr wrap="none" rtlCol="0">
            <a:spAutoFit/>
          </a:bodyPr>
          <a:lstStyle/>
          <a:p>
            <a:r>
              <a:rPr lang="fr-FR" dirty="0">
                <a:solidFill>
                  <a:srgbClr val="FF0000"/>
                </a:solidFill>
              </a:rPr>
              <a:t>(4)</a:t>
            </a:r>
          </a:p>
        </p:txBody>
      </p:sp>
      <p:sp>
        <p:nvSpPr>
          <p:cNvPr id="56" name="ZoneTexte 55">
            <a:extLst>
              <a:ext uri="{FF2B5EF4-FFF2-40B4-BE49-F238E27FC236}">
                <a16:creationId xmlns:a16="http://schemas.microsoft.com/office/drawing/2014/main" id="{B16641B7-D3BD-4B6A-80A8-80E6CC427744}"/>
              </a:ext>
            </a:extLst>
          </p:cNvPr>
          <p:cNvSpPr txBox="1"/>
          <p:nvPr/>
        </p:nvSpPr>
        <p:spPr>
          <a:xfrm>
            <a:off x="5576639" y="3380920"/>
            <a:ext cx="441647" cy="369332"/>
          </a:xfrm>
          <a:prstGeom prst="rect">
            <a:avLst/>
          </a:prstGeom>
          <a:noFill/>
        </p:spPr>
        <p:txBody>
          <a:bodyPr wrap="none" rtlCol="0">
            <a:spAutoFit/>
          </a:bodyPr>
          <a:lstStyle/>
          <a:p>
            <a:r>
              <a:rPr lang="fr-FR" dirty="0">
                <a:solidFill>
                  <a:srgbClr val="FF0000"/>
                </a:solidFill>
              </a:rPr>
              <a:t>(5)</a:t>
            </a:r>
          </a:p>
        </p:txBody>
      </p:sp>
    </p:spTree>
    <p:extLst>
      <p:ext uri="{BB962C8B-B14F-4D97-AF65-F5344CB8AC3E}">
        <p14:creationId xmlns:p14="http://schemas.microsoft.com/office/powerpoint/2010/main" val="3087635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1000"/>
                                        <p:tgtEl>
                                          <p:spTgt spid="37"/>
                                        </p:tgtEl>
                                      </p:cBhvr>
                                    </p:animEffect>
                                    <p:anim calcmode="lin" valueType="num">
                                      <p:cBhvr>
                                        <p:cTn id="15" dur="1000" fill="hold"/>
                                        <p:tgtEl>
                                          <p:spTgt spid="37"/>
                                        </p:tgtEl>
                                        <p:attrNameLst>
                                          <p:attrName>ppt_x</p:attrName>
                                        </p:attrNameLst>
                                      </p:cBhvr>
                                      <p:tavLst>
                                        <p:tav tm="0">
                                          <p:val>
                                            <p:strVal val="#ppt_x"/>
                                          </p:val>
                                        </p:tav>
                                        <p:tav tm="100000">
                                          <p:val>
                                            <p:strVal val="#ppt_x"/>
                                          </p:val>
                                        </p:tav>
                                      </p:tavLst>
                                    </p:anim>
                                    <p:anim calcmode="lin" valueType="num">
                                      <p:cBhvr>
                                        <p:cTn id="16"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1000"/>
                                        <p:tgtEl>
                                          <p:spTgt spid="38"/>
                                        </p:tgtEl>
                                      </p:cBhvr>
                                    </p:animEffect>
                                    <p:anim calcmode="lin" valueType="num">
                                      <p:cBhvr>
                                        <p:cTn id="22" dur="1000" fill="hold"/>
                                        <p:tgtEl>
                                          <p:spTgt spid="38"/>
                                        </p:tgtEl>
                                        <p:attrNameLst>
                                          <p:attrName>ppt_x</p:attrName>
                                        </p:attrNameLst>
                                      </p:cBhvr>
                                      <p:tavLst>
                                        <p:tav tm="0">
                                          <p:val>
                                            <p:strVal val="#ppt_x"/>
                                          </p:val>
                                        </p:tav>
                                        <p:tav tm="100000">
                                          <p:val>
                                            <p:strVal val="#ppt_x"/>
                                          </p:val>
                                        </p:tav>
                                      </p:tavLst>
                                    </p:anim>
                                    <p:anim calcmode="lin" valueType="num">
                                      <p:cBhvr>
                                        <p:cTn id="23"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1000"/>
                                        <p:tgtEl>
                                          <p:spTgt spid="39"/>
                                        </p:tgtEl>
                                      </p:cBhvr>
                                    </p:animEffect>
                                    <p:anim calcmode="lin" valueType="num">
                                      <p:cBhvr>
                                        <p:cTn id="29" dur="1000" fill="hold"/>
                                        <p:tgtEl>
                                          <p:spTgt spid="39"/>
                                        </p:tgtEl>
                                        <p:attrNameLst>
                                          <p:attrName>ppt_x</p:attrName>
                                        </p:attrNameLst>
                                      </p:cBhvr>
                                      <p:tavLst>
                                        <p:tav tm="0">
                                          <p:val>
                                            <p:strVal val="#ppt_x"/>
                                          </p:val>
                                        </p:tav>
                                        <p:tav tm="100000">
                                          <p:val>
                                            <p:strVal val="#ppt_x"/>
                                          </p:val>
                                        </p:tav>
                                      </p:tavLst>
                                    </p:anim>
                                    <p:anim calcmode="lin" valueType="num">
                                      <p:cBhvr>
                                        <p:cTn id="30"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wipe(left)">
                                      <p:cBhvr>
                                        <p:cTn id="35" dur="500"/>
                                        <p:tgtEl>
                                          <p:spTgt spid="4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wipe(left)">
                                      <p:cBhvr>
                                        <p:cTn id="40" dur="500"/>
                                        <p:tgtEl>
                                          <p:spTgt spid="4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wipe(left)">
                                      <p:cBhvr>
                                        <p:cTn id="45" dur="500"/>
                                        <p:tgtEl>
                                          <p:spTgt spid="4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50"/>
                                        </p:tgtEl>
                                        <p:attrNameLst>
                                          <p:attrName>style.visibility</p:attrName>
                                        </p:attrNameLst>
                                      </p:cBhvr>
                                      <p:to>
                                        <p:strVal val="visible"/>
                                      </p:to>
                                    </p:set>
                                    <p:animEffect transition="in" filter="wipe(left)">
                                      <p:cBhvr>
                                        <p:cTn id="50" dur="500"/>
                                        <p:tgtEl>
                                          <p:spTgt spid="5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wipe(left)">
                                      <p:cBhvr>
                                        <p:cTn id="55"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49" grpId="0"/>
      <p:bldP spid="50" grpId="0"/>
      <p:bldP spid="5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2A362854-D561-442D-A840-79FA80599258}"/>
              </a:ext>
            </a:extLst>
          </p:cNvPr>
          <p:cNvPicPr>
            <a:picLocks noChangeAspect="1"/>
          </p:cNvPicPr>
          <p:nvPr/>
        </p:nvPicPr>
        <p:blipFill>
          <a:blip r:embed="rId2"/>
          <a:stretch>
            <a:fillRect/>
          </a:stretch>
        </p:blipFill>
        <p:spPr>
          <a:xfrm>
            <a:off x="186431" y="452375"/>
            <a:ext cx="8763564" cy="5953250"/>
          </a:xfrm>
          <a:prstGeom prst="rect">
            <a:avLst/>
          </a:prstGeom>
          <a:ln w="127000" cap="sq">
            <a:solidFill>
              <a:srgbClr val="FF0000"/>
            </a:solidFill>
            <a:miter lim="800000"/>
          </a:ln>
          <a:effectLst>
            <a:outerShdw blurRad="57150" dist="50800" dir="2700000" algn="tl" rotWithShape="0">
              <a:srgbClr val="000000">
                <a:alpha val="40000"/>
              </a:srgbClr>
            </a:outerShdw>
          </a:effectLst>
        </p:spPr>
      </p:pic>
      <p:grpSp>
        <p:nvGrpSpPr>
          <p:cNvPr id="9" name="Grouper 8"/>
          <p:cNvGrpSpPr/>
          <p:nvPr/>
        </p:nvGrpSpPr>
        <p:grpSpPr>
          <a:xfrm>
            <a:off x="4224969" y="2552310"/>
            <a:ext cx="174325" cy="644288"/>
            <a:chOff x="6543747" y="1484784"/>
            <a:chExt cx="159256" cy="769986"/>
          </a:xfrm>
        </p:grpSpPr>
        <p:sp>
          <p:nvSpPr>
            <p:cNvPr id="5" name="Rectangle à coins arrondis 4"/>
            <p:cNvSpPr/>
            <p:nvPr/>
          </p:nvSpPr>
          <p:spPr>
            <a:xfrm>
              <a:off x="6543747" y="1484784"/>
              <a:ext cx="66433" cy="769986"/>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7" name="Rectangle à coins arrondis 6"/>
            <p:cNvSpPr/>
            <p:nvPr/>
          </p:nvSpPr>
          <p:spPr>
            <a:xfrm>
              <a:off x="6639813" y="1484784"/>
              <a:ext cx="63190" cy="769986"/>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Ellipse 7"/>
            <p:cNvSpPr/>
            <p:nvPr/>
          </p:nvSpPr>
          <p:spPr>
            <a:xfrm>
              <a:off x="6585676" y="1822378"/>
              <a:ext cx="82500" cy="81748"/>
            </a:xfrm>
            <a:prstGeom prst="ellipse">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18" name="Grouper 17"/>
          <p:cNvGrpSpPr/>
          <p:nvPr/>
        </p:nvGrpSpPr>
        <p:grpSpPr>
          <a:xfrm>
            <a:off x="4660003" y="2801481"/>
            <a:ext cx="155961" cy="395117"/>
            <a:chOff x="7236296" y="1704968"/>
            <a:chExt cx="260058" cy="549801"/>
          </a:xfrm>
        </p:grpSpPr>
        <p:sp>
          <p:nvSpPr>
            <p:cNvPr id="15" name="Rectangle à coins arrondis 14"/>
            <p:cNvSpPr/>
            <p:nvPr/>
          </p:nvSpPr>
          <p:spPr>
            <a:xfrm>
              <a:off x="7236296" y="1704968"/>
              <a:ext cx="105003" cy="549801"/>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6" name="Rectangle à coins arrondis 15"/>
            <p:cNvSpPr/>
            <p:nvPr/>
          </p:nvSpPr>
          <p:spPr>
            <a:xfrm>
              <a:off x="7391351" y="1704968"/>
              <a:ext cx="105003" cy="549801"/>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7" name="Ellipse 16"/>
            <p:cNvSpPr/>
            <p:nvPr/>
          </p:nvSpPr>
          <p:spPr>
            <a:xfrm>
              <a:off x="7308852" y="1914823"/>
              <a:ext cx="114998" cy="109989"/>
            </a:xfrm>
            <a:prstGeom prst="ellipse">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24" name="Grouper 23"/>
          <p:cNvGrpSpPr/>
          <p:nvPr/>
        </p:nvGrpSpPr>
        <p:grpSpPr>
          <a:xfrm>
            <a:off x="4432208" y="2566165"/>
            <a:ext cx="184313" cy="630433"/>
            <a:chOff x="6543747" y="1484784"/>
            <a:chExt cx="159256" cy="769986"/>
          </a:xfrm>
          <a:solidFill>
            <a:srgbClr val="FF0000"/>
          </a:solidFill>
        </p:grpSpPr>
        <p:sp>
          <p:nvSpPr>
            <p:cNvPr id="25" name="Rectangle à coins arrondis 24"/>
            <p:cNvSpPr/>
            <p:nvPr/>
          </p:nvSpPr>
          <p:spPr>
            <a:xfrm>
              <a:off x="6543747" y="1484784"/>
              <a:ext cx="66433" cy="769986"/>
            </a:xfrm>
            <a:prstGeom prst="roundRect">
              <a:avLst/>
            </a:prstGeom>
            <a:grp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6" name="Rectangle à coins arrondis 25"/>
            <p:cNvSpPr/>
            <p:nvPr/>
          </p:nvSpPr>
          <p:spPr>
            <a:xfrm>
              <a:off x="6639813" y="1484784"/>
              <a:ext cx="63190" cy="769986"/>
            </a:xfrm>
            <a:prstGeom prst="roundRect">
              <a:avLst/>
            </a:prstGeom>
            <a:grp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7" name="Ellipse 26"/>
            <p:cNvSpPr/>
            <p:nvPr/>
          </p:nvSpPr>
          <p:spPr>
            <a:xfrm>
              <a:off x="6585676" y="1822378"/>
              <a:ext cx="82500" cy="81748"/>
            </a:xfrm>
            <a:prstGeom prst="ellipse">
              <a:avLst/>
            </a:prstGeom>
            <a:grp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28" name="Grouper 27"/>
          <p:cNvGrpSpPr/>
          <p:nvPr/>
        </p:nvGrpSpPr>
        <p:grpSpPr>
          <a:xfrm>
            <a:off x="4848879" y="2801481"/>
            <a:ext cx="155961" cy="395117"/>
            <a:chOff x="7236296" y="1704968"/>
            <a:chExt cx="260058" cy="549801"/>
          </a:xfrm>
          <a:solidFill>
            <a:srgbClr val="FF0000"/>
          </a:solidFill>
        </p:grpSpPr>
        <p:sp>
          <p:nvSpPr>
            <p:cNvPr id="29" name="Rectangle à coins arrondis 28"/>
            <p:cNvSpPr/>
            <p:nvPr/>
          </p:nvSpPr>
          <p:spPr>
            <a:xfrm>
              <a:off x="7236296" y="1704968"/>
              <a:ext cx="105003" cy="549801"/>
            </a:xfrm>
            <a:prstGeom prst="roundRect">
              <a:avLst/>
            </a:prstGeom>
            <a:grp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0" name="Rectangle à coins arrondis 29"/>
            <p:cNvSpPr/>
            <p:nvPr/>
          </p:nvSpPr>
          <p:spPr>
            <a:xfrm>
              <a:off x="7391351" y="1704968"/>
              <a:ext cx="105003" cy="549801"/>
            </a:xfrm>
            <a:prstGeom prst="roundRect">
              <a:avLst/>
            </a:prstGeom>
            <a:grp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1" name="Ellipse 30"/>
            <p:cNvSpPr/>
            <p:nvPr/>
          </p:nvSpPr>
          <p:spPr>
            <a:xfrm>
              <a:off x="7308852" y="1914823"/>
              <a:ext cx="114998" cy="109989"/>
            </a:xfrm>
            <a:prstGeom prst="ellipse">
              <a:avLst/>
            </a:prstGeom>
            <a:grp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32" name="Grouper 31"/>
          <p:cNvGrpSpPr/>
          <p:nvPr/>
        </p:nvGrpSpPr>
        <p:grpSpPr>
          <a:xfrm>
            <a:off x="2396398" y="3491529"/>
            <a:ext cx="151588" cy="703608"/>
            <a:chOff x="6543747" y="1484784"/>
            <a:chExt cx="159256" cy="769986"/>
          </a:xfrm>
        </p:grpSpPr>
        <p:sp>
          <p:nvSpPr>
            <p:cNvPr id="33" name="Rectangle à coins arrondis 32"/>
            <p:cNvSpPr/>
            <p:nvPr/>
          </p:nvSpPr>
          <p:spPr>
            <a:xfrm>
              <a:off x="6543747" y="1484784"/>
              <a:ext cx="66433" cy="769986"/>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4" name="Rectangle à coins arrondis 33"/>
            <p:cNvSpPr/>
            <p:nvPr/>
          </p:nvSpPr>
          <p:spPr>
            <a:xfrm>
              <a:off x="6639813" y="1484784"/>
              <a:ext cx="63190" cy="769986"/>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5" name="Ellipse 34"/>
            <p:cNvSpPr/>
            <p:nvPr/>
          </p:nvSpPr>
          <p:spPr>
            <a:xfrm>
              <a:off x="6585676" y="1822378"/>
              <a:ext cx="82500" cy="81748"/>
            </a:xfrm>
            <a:prstGeom prst="ellipse">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36" name="Grouper 35"/>
          <p:cNvGrpSpPr/>
          <p:nvPr/>
        </p:nvGrpSpPr>
        <p:grpSpPr>
          <a:xfrm>
            <a:off x="2684430" y="3800019"/>
            <a:ext cx="155961" cy="395117"/>
            <a:chOff x="7236296" y="1704968"/>
            <a:chExt cx="260058" cy="549801"/>
          </a:xfrm>
        </p:grpSpPr>
        <p:sp>
          <p:nvSpPr>
            <p:cNvPr id="37" name="Rectangle à coins arrondis 36"/>
            <p:cNvSpPr/>
            <p:nvPr/>
          </p:nvSpPr>
          <p:spPr>
            <a:xfrm>
              <a:off x="7236296" y="1704968"/>
              <a:ext cx="105003" cy="549801"/>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8" name="Rectangle à coins arrondis 37"/>
            <p:cNvSpPr/>
            <p:nvPr/>
          </p:nvSpPr>
          <p:spPr>
            <a:xfrm>
              <a:off x="7391351" y="1704968"/>
              <a:ext cx="105003" cy="549801"/>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9" name="Ellipse 38"/>
            <p:cNvSpPr/>
            <p:nvPr/>
          </p:nvSpPr>
          <p:spPr>
            <a:xfrm>
              <a:off x="7308852" y="1914823"/>
              <a:ext cx="114998" cy="109989"/>
            </a:xfrm>
            <a:prstGeom prst="ellipse">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40" name="Grouper 39"/>
          <p:cNvGrpSpPr/>
          <p:nvPr/>
        </p:nvGrpSpPr>
        <p:grpSpPr>
          <a:xfrm>
            <a:off x="6420936" y="3491529"/>
            <a:ext cx="151588" cy="703608"/>
            <a:chOff x="6543747" y="1484784"/>
            <a:chExt cx="159256" cy="769986"/>
          </a:xfrm>
          <a:solidFill>
            <a:srgbClr val="FF0000"/>
          </a:solidFill>
        </p:grpSpPr>
        <p:sp>
          <p:nvSpPr>
            <p:cNvPr id="41" name="Rectangle à coins arrondis 40"/>
            <p:cNvSpPr/>
            <p:nvPr/>
          </p:nvSpPr>
          <p:spPr>
            <a:xfrm>
              <a:off x="6543747" y="1484784"/>
              <a:ext cx="66433" cy="769986"/>
            </a:xfrm>
            <a:prstGeom prst="roundRect">
              <a:avLst/>
            </a:prstGeom>
            <a:grp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42" name="Rectangle à coins arrondis 41"/>
            <p:cNvSpPr/>
            <p:nvPr/>
          </p:nvSpPr>
          <p:spPr>
            <a:xfrm>
              <a:off x="6639813" y="1484784"/>
              <a:ext cx="63190" cy="769986"/>
            </a:xfrm>
            <a:prstGeom prst="roundRect">
              <a:avLst/>
            </a:prstGeom>
            <a:grp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43" name="Ellipse 42"/>
            <p:cNvSpPr/>
            <p:nvPr/>
          </p:nvSpPr>
          <p:spPr>
            <a:xfrm>
              <a:off x="6585676" y="1822378"/>
              <a:ext cx="82500" cy="81748"/>
            </a:xfrm>
            <a:prstGeom prst="ellipse">
              <a:avLst/>
            </a:prstGeom>
            <a:grp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44" name="Grouper 43"/>
          <p:cNvGrpSpPr/>
          <p:nvPr/>
        </p:nvGrpSpPr>
        <p:grpSpPr>
          <a:xfrm>
            <a:off x="6695550" y="3789506"/>
            <a:ext cx="155961" cy="395117"/>
            <a:chOff x="7236296" y="1704968"/>
            <a:chExt cx="260058" cy="549801"/>
          </a:xfrm>
          <a:solidFill>
            <a:srgbClr val="FF0000"/>
          </a:solidFill>
        </p:grpSpPr>
        <p:sp>
          <p:nvSpPr>
            <p:cNvPr id="45" name="Rectangle à coins arrondis 44"/>
            <p:cNvSpPr/>
            <p:nvPr/>
          </p:nvSpPr>
          <p:spPr>
            <a:xfrm>
              <a:off x="7236296" y="1704968"/>
              <a:ext cx="105003" cy="549801"/>
            </a:xfrm>
            <a:prstGeom prst="roundRect">
              <a:avLst/>
            </a:prstGeom>
            <a:grp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46" name="Rectangle à coins arrondis 45"/>
            <p:cNvSpPr/>
            <p:nvPr/>
          </p:nvSpPr>
          <p:spPr>
            <a:xfrm>
              <a:off x="7391351" y="1704968"/>
              <a:ext cx="105003" cy="549801"/>
            </a:xfrm>
            <a:prstGeom prst="roundRect">
              <a:avLst/>
            </a:prstGeom>
            <a:grp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47" name="Ellipse 46"/>
            <p:cNvSpPr/>
            <p:nvPr/>
          </p:nvSpPr>
          <p:spPr>
            <a:xfrm>
              <a:off x="7308852" y="1914823"/>
              <a:ext cx="114998" cy="109989"/>
            </a:xfrm>
            <a:prstGeom prst="ellipse">
              <a:avLst/>
            </a:prstGeom>
            <a:grp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sp>
        <p:nvSpPr>
          <p:cNvPr id="49" name="Rectangle à coins arrondis 48"/>
          <p:cNvSpPr/>
          <p:nvPr/>
        </p:nvSpPr>
        <p:spPr>
          <a:xfrm>
            <a:off x="1592934" y="4909290"/>
            <a:ext cx="63234" cy="703608"/>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0" name="Rectangle à coins arrondis 49"/>
          <p:cNvSpPr/>
          <p:nvPr/>
        </p:nvSpPr>
        <p:spPr>
          <a:xfrm>
            <a:off x="3379776" y="4909290"/>
            <a:ext cx="60148" cy="703608"/>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3" name="Rectangle à coins arrondis 52"/>
          <p:cNvSpPr/>
          <p:nvPr/>
        </p:nvSpPr>
        <p:spPr>
          <a:xfrm>
            <a:off x="1808958" y="5217781"/>
            <a:ext cx="62972" cy="395117"/>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4" name="Rectangle à coins arrondis 53"/>
          <p:cNvSpPr/>
          <p:nvPr/>
        </p:nvSpPr>
        <p:spPr>
          <a:xfrm>
            <a:off x="3586085" y="5217781"/>
            <a:ext cx="62972" cy="395117"/>
          </a:xfrm>
          <a:prstGeom prst="roundRect">
            <a:avLst/>
          </a:prstGeom>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6" name="Rectangle à coins arrondis 55"/>
          <p:cNvSpPr/>
          <p:nvPr/>
        </p:nvSpPr>
        <p:spPr>
          <a:xfrm>
            <a:off x="5548943" y="4909290"/>
            <a:ext cx="63234" cy="703608"/>
          </a:xfrm>
          <a:prstGeom prst="roundRect">
            <a:avLst/>
          </a:prstGeom>
          <a:solidFill>
            <a:srgbClr val="FF0000"/>
          </a:solid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7" name="Rectangle à coins arrondis 56"/>
          <p:cNvSpPr/>
          <p:nvPr/>
        </p:nvSpPr>
        <p:spPr>
          <a:xfrm>
            <a:off x="5764967" y="5217781"/>
            <a:ext cx="62972" cy="395117"/>
          </a:xfrm>
          <a:prstGeom prst="roundRect">
            <a:avLst/>
          </a:prstGeom>
          <a:solidFill>
            <a:srgbClr val="FF0000"/>
          </a:solid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8" name="Rectangle à coins arrondis 57"/>
          <p:cNvSpPr/>
          <p:nvPr/>
        </p:nvSpPr>
        <p:spPr>
          <a:xfrm>
            <a:off x="7380964" y="4909290"/>
            <a:ext cx="63234" cy="703608"/>
          </a:xfrm>
          <a:prstGeom prst="roundRect">
            <a:avLst/>
          </a:prstGeom>
          <a:solidFill>
            <a:srgbClr val="FF0000"/>
          </a:solid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9" name="Rectangle à coins arrondis 58"/>
          <p:cNvSpPr/>
          <p:nvPr/>
        </p:nvSpPr>
        <p:spPr>
          <a:xfrm>
            <a:off x="7596988" y="5217781"/>
            <a:ext cx="62972" cy="395117"/>
          </a:xfrm>
          <a:prstGeom prst="roundRect">
            <a:avLst/>
          </a:prstGeom>
          <a:solidFill>
            <a:srgbClr val="FF0000"/>
          </a:solidFill>
          <a:ln w="6350" cmpd="sng">
            <a:solidFill>
              <a:schemeClr val="bg2">
                <a:lumMod val="1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60" name="ZoneTexte 59"/>
          <p:cNvSpPr txBox="1"/>
          <p:nvPr/>
        </p:nvSpPr>
        <p:spPr>
          <a:xfrm>
            <a:off x="5714167" y="2505482"/>
            <a:ext cx="287136" cy="369332"/>
          </a:xfrm>
          <a:prstGeom prst="rect">
            <a:avLst/>
          </a:prstGeom>
          <a:noFill/>
        </p:spPr>
        <p:txBody>
          <a:bodyPr wrap="square" rtlCol="0">
            <a:spAutoFit/>
          </a:bodyPr>
          <a:lstStyle/>
          <a:p>
            <a:r>
              <a:rPr lang="fr-FR" dirty="0">
                <a:solidFill>
                  <a:srgbClr val="0000FF"/>
                </a:solidFill>
              </a:rPr>
              <a:t>4</a:t>
            </a:r>
          </a:p>
        </p:txBody>
      </p:sp>
      <p:sp>
        <p:nvSpPr>
          <p:cNvPr id="61" name="ZoneTexte 60"/>
          <p:cNvSpPr txBox="1"/>
          <p:nvPr/>
        </p:nvSpPr>
        <p:spPr>
          <a:xfrm>
            <a:off x="1147070" y="3444899"/>
            <a:ext cx="287136" cy="369332"/>
          </a:xfrm>
          <a:prstGeom prst="rect">
            <a:avLst/>
          </a:prstGeom>
          <a:noFill/>
        </p:spPr>
        <p:txBody>
          <a:bodyPr wrap="square" rtlCol="0">
            <a:spAutoFit/>
          </a:bodyPr>
          <a:lstStyle/>
          <a:p>
            <a:r>
              <a:rPr lang="fr-FR" dirty="0">
                <a:solidFill>
                  <a:srgbClr val="0000FF"/>
                </a:solidFill>
              </a:rPr>
              <a:t>2</a:t>
            </a:r>
          </a:p>
        </p:txBody>
      </p:sp>
      <p:sp>
        <p:nvSpPr>
          <p:cNvPr id="62" name="ZoneTexte 61"/>
          <p:cNvSpPr txBox="1"/>
          <p:nvPr/>
        </p:nvSpPr>
        <p:spPr>
          <a:xfrm>
            <a:off x="7584541" y="3430688"/>
            <a:ext cx="287136" cy="369332"/>
          </a:xfrm>
          <a:prstGeom prst="rect">
            <a:avLst/>
          </a:prstGeom>
          <a:noFill/>
        </p:spPr>
        <p:txBody>
          <a:bodyPr wrap="square" rtlCol="0">
            <a:spAutoFit/>
          </a:bodyPr>
          <a:lstStyle/>
          <a:p>
            <a:r>
              <a:rPr lang="fr-FR" dirty="0">
                <a:solidFill>
                  <a:srgbClr val="0000FF"/>
                </a:solidFill>
              </a:rPr>
              <a:t>2</a:t>
            </a:r>
          </a:p>
        </p:txBody>
      </p:sp>
      <p:sp>
        <p:nvSpPr>
          <p:cNvPr id="63" name="ZoneTexte 62"/>
          <p:cNvSpPr txBox="1"/>
          <p:nvPr/>
        </p:nvSpPr>
        <p:spPr>
          <a:xfrm>
            <a:off x="7506232" y="5706375"/>
            <a:ext cx="287136" cy="369332"/>
          </a:xfrm>
          <a:prstGeom prst="rect">
            <a:avLst/>
          </a:prstGeom>
          <a:noFill/>
        </p:spPr>
        <p:txBody>
          <a:bodyPr wrap="square" rtlCol="0">
            <a:spAutoFit/>
          </a:bodyPr>
          <a:lstStyle/>
          <a:p>
            <a:r>
              <a:rPr lang="fr-FR" dirty="0">
                <a:solidFill>
                  <a:srgbClr val="0000FF"/>
                </a:solidFill>
              </a:rPr>
              <a:t>2</a:t>
            </a:r>
          </a:p>
        </p:txBody>
      </p:sp>
      <p:sp>
        <p:nvSpPr>
          <p:cNvPr id="64" name="ZoneTexte 63"/>
          <p:cNvSpPr txBox="1"/>
          <p:nvPr/>
        </p:nvSpPr>
        <p:spPr>
          <a:xfrm>
            <a:off x="5724327" y="5706375"/>
            <a:ext cx="287136" cy="369332"/>
          </a:xfrm>
          <a:prstGeom prst="rect">
            <a:avLst/>
          </a:prstGeom>
          <a:noFill/>
        </p:spPr>
        <p:txBody>
          <a:bodyPr wrap="square" rtlCol="0">
            <a:spAutoFit/>
          </a:bodyPr>
          <a:lstStyle/>
          <a:p>
            <a:r>
              <a:rPr lang="fr-FR" dirty="0">
                <a:solidFill>
                  <a:srgbClr val="0000FF"/>
                </a:solidFill>
              </a:rPr>
              <a:t>2</a:t>
            </a:r>
          </a:p>
        </p:txBody>
      </p:sp>
      <p:sp>
        <p:nvSpPr>
          <p:cNvPr id="65" name="ZoneTexte 64"/>
          <p:cNvSpPr txBox="1"/>
          <p:nvPr/>
        </p:nvSpPr>
        <p:spPr>
          <a:xfrm>
            <a:off x="3361921" y="5714608"/>
            <a:ext cx="287136" cy="369332"/>
          </a:xfrm>
          <a:prstGeom prst="rect">
            <a:avLst/>
          </a:prstGeom>
          <a:noFill/>
        </p:spPr>
        <p:txBody>
          <a:bodyPr wrap="square" rtlCol="0">
            <a:spAutoFit/>
          </a:bodyPr>
          <a:lstStyle/>
          <a:p>
            <a:r>
              <a:rPr lang="fr-FR" dirty="0">
                <a:solidFill>
                  <a:srgbClr val="0000FF"/>
                </a:solidFill>
              </a:rPr>
              <a:t>2</a:t>
            </a:r>
          </a:p>
        </p:txBody>
      </p:sp>
      <p:sp>
        <p:nvSpPr>
          <p:cNvPr id="66" name="ZoneTexte 65"/>
          <p:cNvSpPr txBox="1"/>
          <p:nvPr/>
        </p:nvSpPr>
        <p:spPr>
          <a:xfrm>
            <a:off x="1606258" y="5686055"/>
            <a:ext cx="287136" cy="369332"/>
          </a:xfrm>
          <a:prstGeom prst="rect">
            <a:avLst/>
          </a:prstGeom>
          <a:noFill/>
        </p:spPr>
        <p:txBody>
          <a:bodyPr wrap="square" rtlCol="0">
            <a:spAutoFit/>
          </a:bodyPr>
          <a:lstStyle/>
          <a:p>
            <a:r>
              <a:rPr lang="fr-FR" dirty="0">
                <a:solidFill>
                  <a:srgbClr val="0000FF"/>
                </a:solidFill>
              </a:rPr>
              <a:t>2</a:t>
            </a:r>
          </a:p>
        </p:txBody>
      </p:sp>
      <p:sp>
        <p:nvSpPr>
          <p:cNvPr id="52" name="ZoneTexte 51">
            <a:extLst>
              <a:ext uri="{FF2B5EF4-FFF2-40B4-BE49-F238E27FC236}">
                <a16:creationId xmlns:a16="http://schemas.microsoft.com/office/drawing/2014/main" id="{51A78DB3-F9BF-4490-9AB8-C7FEBF7F8076}"/>
              </a:ext>
            </a:extLst>
          </p:cNvPr>
          <p:cNvSpPr txBox="1"/>
          <p:nvPr/>
        </p:nvSpPr>
        <p:spPr>
          <a:xfrm>
            <a:off x="5947654" y="2783626"/>
            <a:ext cx="511905" cy="369332"/>
          </a:xfrm>
          <a:prstGeom prst="rect">
            <a:avLst/>
          </a:prstGeom>
          <a:noFill/>
        </p:spPr>
        <p:txBody>
          <a:bodyPr wrap="square" rtlCol="0">
            <a:spAutoFit/>
          </a:bodyPr>
          <a:lstStyle/>
          <a:p>
            <a:r>
              <a:rPr lang="fr-FR" dirty="0">
                <a:solidFill>
                  <a:srgbClr val="0000FF"/>
                </a:solidFill>
              </a:rPr>
              <a:t>2q</a:t>
            </a:r>
          </a:p>
        </p:txBody>
      </p:sp>
      <p:sp>
        <p:nvSpPr>
          <p:cNvPr id="55" name="ZoneTexte 54">
            <a:extLst>
              <a:ext uri="{FF2B5EF4-FFF2-40B4-BE49-F238E27FC236}">
                <a16:creationId xmlns:a16="http://schemas.microsoft.com/office/drawing/2014/main" id="{38C6C6E5-F45E-42E7-ADC8-79906D2283C3}"/>
              </a:ext>
            </a:extLst>
          </p:cNvPr>
          <p:cNvSpPr txBox="1"/>
          <p:nvPr/>
        </p:nvSpPr>
        <p:spPr>
          <a:xfrm>
            <a:off x="7959810" y="3712604"/>
            <a:ext cx="511905" cy="369332"/>
          </a:xfrm>
          <a:prstGeom prst="rect">
            <a:avLst/>
          </a:prstGeom>
          <a:noFill/>
        </p:spPr>
        <p:txBody>
          <a:bodyPr wrap="square" rtlCol="0">
            <a:spAutoFit/>
          </a:bodyPr>
          <a:lstStyle/>
          <a:p>
            <a:r>
              <a:rPr lang="fr-FR" dirty="0">
                <a:solidFill>
                  <a:srgbClr val="0000FF"/>
                </a:solidFill>
              </a:rPr>
              <a:t>q</a:t>
            </a:r>
          </a:p>
        </p:txBody>
      </p:sp>
      <p:sp>
        <p:nvSpPr>
          <p:cNvPr id="67" name="ZoneTexte 66">
            <a:extLst>
              <a:ext uri="{FF2B5EF4-FFF2-40B4-BE49-F238E27FC236}">
                <a16:creationId xmlns:a16="http://schemas.microsoft.com/office/drawing/2014/main" id="{9063D7E9-0578-4A32-8DC2-D17B45A8DAB1}"/>
              </a:ext>
            </a:extLst>
          </p:cNvPr>
          <p:cNvSpPr txBox="1"/>
          <p:nvPr/>
        </p:nvSpPr>
        <p:spPr>
          <a:xfrm>
            <a:off x="7796774" y="5943386"/>
            <a:ext cx="511905" cy="369332"/>
          </a:xfrm>
          <a:prstGeom prst="rect">
            <a:avLst/>
          </a:prstGeom>
          <a:noFill/>
        </p:spPr>
        <p:txBody>
          <a:bodyPr wrap="square" rtlCol="0">
            <a:spAutoFit/>
          </a:bodyPr>
          <a:lstStyle/>
          <a:p>
            <a:r>
              <a:rPr lang="fr-FR" dirty="0">
                <a:solidFill>
                  <a:srgbClr val="0000FF"/>
                </a:solidFill>
              </a:rPr>
              <a:t>q/2</a:t>
            </a:r>
          </a:p>
        </p:txBody>
      </p:sp>
      <p:sp>
        <p:nvSpPr>
          <p:cNvPr id="68" name="ZoneTexte 67">
            <a:extLst>
              <a:ext uri="{FF2B5EF4-FFF2-40B4-BE49-F238E27FC236}">
                <a16:creationId xmlns:a16="http://schemas.microsoft.com/office/drawing/2014/main" id="{EC39E596-5624-4B94-99DD-7EFA79B38ED4}"/>
              </a:ext>
            </a:extLst>
          </p:cNvPr>
          <p:cNvSpPr txBox="1"/>
          <p:nvPr/>
        </p:nvSpPr>
        <p:spPr>
          <a:xfrm>
            <a:off x="6018774" y="5933226"/>
            <a:ext cx="511905" cy="369332"/>
          </a:xfrm>
          <a:prstGeom prst="rect">
            <a:avLst/>
          </a:prstGeom>
          <a:noFill/>
        </p:spPr>
        <p:txBody>
          <a:bodyPr wrap="square" rtlCol="0">
            <a:spAutoFit/>
          </a:bodyPr>
          <a:lstStyle/>
          <a:p>
            <a:r>
              <a:rPr lang="fr-FR" dirty="0">
                <a:solidFill>
                  <a:srgbClr val="0000FF"/>
                </a:solidFill>
              </a:rPr>
              <a:t>q/2</a:t>
            </a:r>
          </a:p>
        </p:txBody>
      </p:sp>
      <p:sp>
        <p:nvSpPr>
          <p:cNvPr id="69" name="ZoneTexte 68">
            <a:extLst>
              <a:ext uri="{FF2B5EF4-FFF2-40B4-BE49-F238E27FC236}">
                <a16:creationId xmlns:a16="http://schemas.microsoft.com/office/drawing/2014/main" id="{CC436A12-2AEB-494C-9DA2-9306DB4F44C0}"/>
              </a:ext>
            </a:extLst>
          </p:cNvPr>
          <p:cNvSpPr txBox="1"/>
          <p:nvPr/>
        </p:nvSpPr>
        <p:spPr>
          <a:xfrm>
            <a:off x="3661654" y="5933226"/>
            <a:ext cx="511905" cy="369332"/>
          </a:xfrm>
          <a:prstGeom prst="rect">
            <a:avLst/>
          </a:prstGeom>
          <a:noFill/>
        </p:spPr>
        <p:txBody>
          <a:bodyPr wrap="square" rtlCol="0">
            <a:spAutoFit/>
          </a:bodyPr>
          <a:lstStyle/>
          <a:p>
            <a:r>
              <a:rPr lang="fr-FR" dirty="0">
                <a:solidFill>
                  <a:srgbClr val="0000FF"/>
                </a:solidFill>
              </a:rPr>
              <a:t>q/2</a:t>
            </a:r>
          </a:p>
        </p:txBody>
      </p:sp>
      <p:sp>
        <p:nvSpPr>
          <p:cNvPr id="70" name="ZoneTexte 69">
            <a:extLst>
              <a:ext uri="{FF2B5EF4-FFF2-40B4-BE49-F238E27FC236}">
                <a16:creationId xmlns:a16="http://schemas.microsoft.com/office/drawing/2014/main" id="{B2111B20-2AA7-4084-8050-19A83E8514C4}"/>
              </a:ext>
            </a:extLst>
          </p:cNvPr>
          <p:cNvSpPr txBox="1"/>
          <p:nvPr/>
        </p:nvSpPr>
        <p:spPr>
          <a:xfrm>
            <a:off x="1873494" y="5943386"/>
            <a:ext cx="511905" cy="369332"/>
          </a:xfrm>
          <a:prstGeom prst="rect">
            <a:avLst/>
          </a:prstGeom>
          <a:noFill/>
        </p:spPr>
        <p:txBody>
          <a:bodyPr wrap="square" rtlCol="0">
            <a:spAutoFit/>
          </a:bodyPr>
          <a:lstStyle/>
          <a:p>
            <a:r>
              <a:rPr lang="fr-FR" dirty="0">
                <a:solidFill>
                  <a:srgbClr val="0000FF"/>
                </a:solidFill>
              </a:rPr>
              <a:t>q/2</a:t>
            </a:r>
          </a:p>
        </p:txBody>
      </p:sp>
      <p:sp>
        <p:nvSpPr>
          <p:cNvPr id="71" name="ZoneTexte 70">
            <a:extLst>
              <a:ext uri="{FF2B5EF4-FFF2-40B4-BE49-F238E27FC236}">
                <a16:creationId xmlns:a16="http://schemas.microsoft.com/office/drawing/2014/main" id="{5B83D515-DA02-4782-A450-AC63FD27EB0E}"/>
              </a:ext>
            </a:extLst>
          </p:cNvPr>
          <p:cNvSpPr txBox="1"/>
          <p:nvPr/>
        </p:nvSpPr>
        <p:spPr>
          <a:xfrm>
            <a:off x="1571342" y="3718346"/>
            <a:ext cx="511905" cy="369332"/>
          </a:xfrm>
          <a:prstGeom prst="rect">
            <a:avLst/>
          </a:prstGeom>
          <a:noFill/>
        </p:spPr>
        <p:txBody>
          <a:bodyPr wrap="square" rtlCol="0">
            <a:spAutoFit/>
          </a:bodyPr>
          <a:lstStyle/>
          <a:p>
            <a:r>
              <a:rPr lang="fr-FR" dirty="0">
                <a:solidFill>
                  <a:srgbClr val="0000FF"/>
                </a:solidFill>
              </a:rPr>
              <a:t>q</a:t>
            </a:r>
          </a:p>
        </p:txBody>
      </p:sp>
    </p:spTree>
    <p:extLst>
      <p:ext uri="{BB962C8B-B14F-4D97-AF65-F5344CB8AC3E}">
        <p14:creationId xmlns:p14="http://schemas.microsoft.com/office/powerpoint/2010/main" val="145806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1000"/>
                                        <p:tgtEl>
                                          <p:spTgt spid="24"/>
                                        </p:tgtEl>
                                      </p:cBhvr>
                                    </p:animEffect>
                                    <p:anim calcmode="lin" valueType="num">
                                      <p:cBhvr>
                                        <p:cTn id="15" dur="1000" fill="hold"/>
                                        <p:tgtEl>
                                          <p:spTgt spid="24"/>
                                        </p:tgtEl>
                                        <p:attrNameLst>
                                          <p:attrName>ppt_x</p:attrName>
                                        </p:attrNameLst>
                                      </p:cBhvr>
                                      <p:tavLst>
                                        <p:tav tm="0">
                                          <p:val>
                                            <p:strVal val="#ppt_x"/>
                                          </p:val>
                                        </p:tav>
                                        <p:tav tm="100000">
                                          <p:val>
                                            <p:strVal val="#ppt_x"/>
                                          </p:val>
                                        </p:tav>
                                      </p:tavLst>
                                    </p:anim>
                                    <p:anim calcmode="lin" valueType="num">
                                      <p:cBhvr>
                                        <p:cTn id="1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1000"/>
                                        <p:tgtEl>
                                          <p:spTgt spid="18"/>
                                        </p:tgtEl>
                                      </p:cBhvr>
                                    </p:animEffect>
                                    <p:anim calcmode="lin" valueType="num">
                                      <p:cBhvr>
                                        <p:cTn id="22" dur="1000" fill="hold"/>
                                        <p:tgtEl>
                                          <p:spTgt spid="18"/>
                                        </p:tgtEl>
                                        <p:attrNameLst>
                                          <p:attrName>ppt_x</p:attrName>
                                        </p:attrNameLst>
                                      </p:cBhvr>
                                      <p:tavLst>
                                        <p:tav tm="0">
                                          <p:val>
                                            <p:strVal val="#ppt_x"/>
                                          </p:val>
                                        </p:tav>
                                        <p:tav tm="100000">
                                          <p:val>
                                            <p:strVal val="#ppt_x"/>
                                          </p:val>
                                        </p:tav>
                                      </p:tavLst>
                                    </p:anim>
                                    <p:anim calcmode="lin" valueType="num">
                                      <p:cBhvr>
                                        <p:cTn id="2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1000"/>
                                        <p:tgtEl>
                                          <p:spTgt spid="28"/>
                                        </p:tgtEl>
                                      </p:cBhvr>
                                    </p:animEffect>
                                    <p:anim calcmode="lin" valueType="num">
                                      <p:cBhvr>
                                        <p:cTn id="29" dur="1000" fill="hold"/>
                                        <p:tgtEl>
                                          <p:spTgt spid="28"/>
                                        </p:tgtEl>
                                        <p:attrNameLst>
                                          <p:attrName>ppt_x</p:attrName>
                                        </p:attrNameLst>
                                      </p:cBhvr>
                                      <p:tavLst>
                                        <p:tav tm="0">
                                          <p:val>
                                            <p:strVal val="#ppt_x"/>
                                          </p:val>
                                        </p:tav>
                                        <p:tav tm="100000">
                                          <p:val>
                                            <p:strVal val="#ppt_x"/>
                                          </p:val>
                                        </p:tav>
                                      </p:tavLst>
                                    </p:anim>
                                    <p:anim calcmode="lin" valueType="num">
                                      <p:cBhvr>
                                        <p:cTn id="3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1000"/>
                                        <p:tgtEl>
                                          <p:spTgt spid="60"/>
                                        </p:tgtEl>
                                      </p:cBhvr>
                                    </p:animEffect>
                                    <p:anim calcmode="lin" valueType="num">
                                      <p:cBhvr>
                                        <p:cTn id="36" dur="1000" fill="hold"/>
                                        <p:tgtEl>
                                          <p:spTgt spid="60"/>
                                        </p:tgtEl>
                                        <p:attrNameLst>
                                          <p:attrName>ppt_x</p:attrName>
                                        </p:attrNameLst>
                                      </p:cBhvr>
                                      <p:tavLst>
                                        <p:tav tm="0">
                                          <p:val>
                                            <p:strVal val="#ppt_x"/>
                                          </p:val>
                                        </p:tav>
                                        <p:tav tm="100000">
                                          <p:val>
                                            <p:strVal val="#ppt_x"/>
                                          </p:val>
                                        </p:tav>
                                      </p:tavLst>
                                    </p:anim>
                                    <p:anim calcmode="lin" valueType="num">
                                      <p:cBhvr>
                                        <p:cTn id="37"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grpId="0" nodeType="click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fade">
                                      <p:cBhvr>
                                        <p:cTn id="42" dur="1000"/>
                                        <p:tgtEl>
                                          <p:spTgt spid="52"/>
                                        </p:tgtEl>
                                      </p:cBhvr>
                                    </p:animEffect>
                                    <p:anim calcmode="lin" valueType="num">
                                      <p:cBhvr>
                                        <p:cTn id="43" dur="1000" fill="hold"/>
                                        <p:tgtEl>
                                          <p:spTgt spid="52"/>
                                        </p:tgtEl>
                                        <p:attrNameLst>
                                          <p:attrName>ppt_x</p:attrName>
                                        </p:attrNameLst>
                                      </p:cBhvr>
                                      <p:tavLst>
                                        <p:tav tm="0">
                                          <p:val>
                                            <p:strVal val="#ppt_x"/>
                                          </p:val>
                                        </p:tav>
                                        <p:tav tm="100000">
                                          <p:val>
                                            <p:strVal val="#ppt_x"/>
                                          </p:val>
                                        </p:tav>
                                      </p:tavLst>
                                    </p:anim>
                                    <p:anim calcmode="lin" valueType="num">
                                      <p:cBhvr>
                                        <p:cTn id="44"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1000"/>
                                        <p:tgtEl>
                                          <p:spTgt spid="32"/>
                                        </p:tgtEl>
                                      </p:cBhvr>
                                    </p:animEffect>
                                    <p:anim calcmode="lin" valueType="num">
                                      <p:cBhvr>
                                        <p:cTn id="50" dur="1000" fill="hold"/>
                                        <p:tgtEl>
                                          <p:spTgt spid="32"/>
                                        </p:tgtEl>
                                        <p:attrNameLst>
                                          <p:attrName>ppt_x</p:attrName>
                                        </p:attrNameLst>
                                      </p:cBhvr>
                                      <p:tavLst>
                                        <p:tav tm="0">
                                          <p:val>
                                            <p:strVal val="#ppt_x"/>
                                          </p:val>
                                        </p:tav>
                                        <p:tav tm="100000">
                                          <p:val>
                                            <p:strVal val="#ppt_x"/>
                                          </p:val>
                                        </p:tav>
                                      </p:tavLst>
                                    </p:anim>
                                    <p:anim calcmode="lin" valueType="num">
                                      <p:cBhvr>
                                        <p:cTn id="51"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7" presetClass="entr" presetSubtype="0" fill="hold" nodeType="click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1000"/>
                                        <p:tgtEl>
                                          <p:spTgt spid="36"/>
                                        </p:tgtEl>
                                      </p:cBhvr>
                                    </p:animEffect>
                                    <p:anim calcmode="lin" valueType="num">
                                      <p:cBhvr>
                                        <p:cTn id="57" dur="1000" fill="hold"/>
                                        <p:tgtEl>
                                          <p:spTgt spid="36"/>
                                        </p:tgtEl>
                                        <p:attrNameLst>
                                          <p:attrName>ppt_x</p:attrName>
                                        </p:attrNameLst>
                                      </p:cBhvr>
                                      <p:tavLst>
                                        <p:tav tm="0">
                                          <p:val>
                                            <p:strVal val="#ppt_x"/>
                                          </p:val>
                                        </p:tav>
                                        <p:tav tm="100000">
                                          <p:val>
                                            <p:strVal val="#ppt_x"/>
                                          </p:val>
                                        </p:tav>
                                      </p:tavLst>
                                    </p:anim>
                                    <p:anim calcmode="lin" valueType="num">
                                      <p:cBhvr>
                                        <p:cTn id="58"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7" presetClass="entr" presetSubtype="0" fill="hold" nodeType="click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1000"/>
                                        <p:tgtEl>
                                          <p:spTgt spid="40"/>
                                        </p:tgtEl>
                                      </p:cBhvr>
                                    </p:animEffect>
                                    <p:anim calcmode="lin" valueType="num">
                                      <p:cBhvr>
                                        <p:cTn id="64" dur="1000" fill="hold"/>
                                        <p:tgtEl>
                                          <p:spTgt spid="40"/>
                                        </p:tgtEl>
                                        <p:attrNameLst>
                                          <p:attrName>ppt_x</p:attrName>
                                        </p:attrNameLst>
                                      </p:cBhvr>
                                      <p:tavLst>
                                        <p:tav tm="0">
                                          <p:val>
                                            <p:strVal val="#ppt_x"/>
                                          </p:val>
                                        </p:tav>
                                        <p:tav tm="100000">
                                          <p:val>
                                            <p:strVal val="#ppt_x"/>
                                          </p:val>
                                        </p:tav>
                                      </p:tavLst>
                                    </p:anim>
                                    <p:anim calcmode="lin" valueType="num">
                                      <p:cBhvr>
                                        <p:cTn id="65"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7" presetClass="entr" presetSubtype="0" fill="hold" nodeType="click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1000"/>
                                        <p:tgtEl>
                                          <p:spTgt spid="44"/>
                                        </p:tgtEl>
                                      </p:cBhvr>
                                    </p:animEffect>
                                    <p:anim calcmode="lin" valueType="num">
                                      <p:cBhvr>
                                        <p:cTn id="71" dur="1000" fill="hold"/>
                                        <p:tgtEl>
                                          <p:spTgt spid="44"/>
                                        </p:tgtEl>
                                        <p:attrNameLst>
                                          <p:attrName>ppt_x</p:attrName>
                                        </p:attrNameLst>
                                      </p:cBhvr>
                                      <p:tavLst>
                                        <p:tav tm="0">
                                          <p:val>
                                            <p:strVal val="#ppt_x"/>
                                          </p:val>
                                        </p:tav>
                                        <p:tav tm="100000">
                                          <p:val>
                                            <p:strVal val="#ppt_x"/>
                                          </p:val>
                                        </p:tav>
                                      </p:tavLst>
                                    </p:anim>
                                    <p:anim calcmode="lin" valueType="num">
                                      <p:cBhvr>
                                        <p:cTn id="72"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7" presetClass="entr" presetSubtype="0" fill="hold" grpId="0" nodeType="clickEffect">
                                  <p:stCondLst>
                                    <p:cond delay="0"/>
                                  </p:stCondLst>
                                  <p:childTnLst>
                                    <p:set>
                                      <p:cBhvr>
                                        <p:cTn id="76" dur="1" fill="hold">
                                          <p:stCondLst>
                                            <p:cond delay="0"/>
                                          </p:stCondLst>
                                        </p:cTn>
                                        <p:tgtEl>
                                          <p:spTgt spid="61"/>
                                        </p:tgtEl>
                                        <p:attrNameLst>
                                          <p:attrName>style.visibility</p:attrName>
                                        </p:attrNameLst>
                                      </p:cBhvr>
                                      <p:to>
                                        <p:strVal val="visible"/>
                                      </p:to>
                                    </p:set>
                                    <p:animEffect transition="in" filter="fade">
                                      <p:cBhvr>
                                        <p:cTn id="77" dur="1000"/>
                                        <p:tgtEl>
                                          <p:spTgt spid="61"/>
                                        </p:tgtEl>
                                      </p:cBhvr>
                                    </p:animEffect>
                                    <p:anim calcmode="lin" valueType="num">
                                      <p:cBhvr>
                                        <p:cTn id="78" dur="1000" fill="hold"/>
                                        <p:tgtEl>
                                          <p:spTgt spid="61"/>
                                        </p:tgtEl>
                                        <p:attrNameLst>
                                          <p:attrName>ppt_x</p:attrName>
                                        </p:attrNameLst>
                                      </p:cBhvr>
                                      <p:tavLst>
                                        <p:tav tm="0">
                                          <p:val>
                                            <p:strVal val="#ppt_x"/>
                                          </p:val>
                                        </p:tav>
                                        <p:tav tm="100000">
                                          <p:val>
                                            <p:strVal val="#ppt_x"/>
                                          </p:val>
                                        </p:tav>
                                      </p:tavLst>
                                    </p:anim>
                                    <p:anim calcmode="lin" valueType="num">
                                      <p:cBhvr>
                                        <p:cTn id="79"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7" presetClass="entr" presetSubtype="0" fill="hold" grpId="0" nodeType="clickEffect">
                                  <p:stCondLst>
                                    <p:cond delay="0"/>
                                  </p:stCondLst>
                                  <p:childTnLst>
                                    <p:set>
                                      <p:cBhvr>
                                        <p:cTn id="83" dur="1" fill="hold">
                                          <p:stCondLst>
                                            <p:cond delay="0"/>
                                          </p:stCondLst>
                                        </p:cTn>
                                        <p:tgtEl>
                                          <p:spTgt spid="71"/>
                                        </p:tgtEl>
                                        <p:attrNameLst>
                                          <p:attrName>style.visibility</p:attrName>
                                        </p:attrNameLst>
                                      </p:cBhvr>
                                      <p:to>
                                        <p:strVal val="visible"/>
                                      </p:to>
                                    </p:set>
                                    <p:animEffect transition="in" filter="fade">
                                      <p:cBhvr>
                                        <p:cTn id="84" dur="1000"/>
                                        <p:tgtEl>
                                          <p:spTgt spid="71"/>
                                        </p:tgtEl>
                                      </p:cBhvr>
                                    </p:animEffect>
                                    <p:anim calcmode="lin" valueType="num">
                                      <p:cBhvr>
                                        <p:cTn id="85" dur="1000" fill="hold"/>
                                        <p:tgtEl>
                                          <p:spTgt spid="71"/>
                                        </p:tgtEl>
                                        <p:attrNameLst>
                                          <p:attrName>ppt_x</p:attrName>
                                        </p:attrNameLst>
                                      </p:cBhvr>
                                      <p:tavLst>
                                        <p:tav tm="0">
                                          <p:val>
                                            <p:strVal val="#ppt_x"/>
                                          </p:val>
                                        </p:tav>
                                        <p:tav tm="100000">
                                          <p:val>
                                            <p:strVal val="#ppt_x"/>
                                          </p:val>
                                        </p:tav>
                                      </p:tavLst>
                                    </p:anim>
                                    <p:anim calcmode="lin" valueType="num">
                                      <p:cBhvr>
                                        <p:cTn id="86"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7" presetClass="entr" presetSubtype="0" fill="hold" grpId="0" nodeType="clickEffect">
                                  <p:stCondLst>
                                    <p:cond delay="0"/>
                                  </p:stCondLst>
                                  <p:childTnLst>
                                    <p:set>
                                      <p:cBhvr>
                                        <p:cTn id="90" dur="1" fill="hold">
                                          <p:stCondLst>
                                            <p:cond delay="0"/>
                                          </p:stCondLst>
                                        </p:cTn>
                                        <p:tgtEl>
                                          <p:spTgt spid="62"/>
                                        </p:tgtEl>
                                        <p:attrNameLst>
                                          <p:attrName>style.visibility</p:attrName>
                                        </p:attrNameLst>
                                      </p:cBhvr>
                                      <p:to>
                                        <p:strVal val="visible"/>
                                      </p:to>
                                    </p:set>
                                    <p:animEffect transition="in" filter="fade">
                                      <p:cBhvr>
                                        <p:cTn id="91" dur="1000"/>
                                        <p:tgtEl>
                                          <p:spTgt spid="62"/>
                                        </p:tgtEl>
                                      </p:cBhvr>
                                    </p:animEffect>
                                    <p:anim calcmode="lin" valueType="num">
                                      <p:cBhvr>
                                        <p:cTn id="92" dur="1000" fill="hold"/>
                                        <p:tgtEl>
                                          <p:spTgt spid="62"/>
                                        </p:tgtEl>
                                        <p:attrNameLst>
                                          <p:attrName>ppt_x</p:attrName>
                                        </p:attrNameLst>
                                      </p:cBhvr>
                                      <p:tavLst>
                                        <p:tav tm="0">
                                          <p:val>
                                            <p:strVal val="#ppt_x"/>
                                          </p:val>
                                        </p:tav>
                                        <p:tav tm="100000">
                                          <p:val>
                                            <p:strVal val="#ppt_x"/>
                                          </p:val>
                                        </p:tav>
                                      </p:tavLst>
                                    </p:anim>
                                    <p:anim calcmode="lin" valueType="num">
                                      <p:cBhvr>
                                        <p:cTn id="93"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7" presetClass="entr" presetSubtype="0" fill="hold" grpId="0" nodeType="clickEffect">
                                  <p:stCondLst>
                                    <p:cond delay="0"/>
                                  </p:stCondLst>
                                  <p:childTnLst>
                                    <p:set>
                                      <p:cBhvr>
                                        <p:cTn id="97" dur="1" fill="hold">
                                          <p:stCondLst>
                                            <p:cond delay="0"/>
                                          </p:stCondLst>
                                        </p:cTn>
                                        <p:tgtEl>
                                          <p:spTgt spid="55"/>
                                        </p:tgtEl>
                                        <p:attrNameLst>
                                          <p:attrName>style.visibility</p:attrName>
                                        </p:attrNameLst>
                                      </p:cBhvr>
                                      <p:to>
                                        <p:strVal val="visible"/>
                                      </p:to>
                                    </p:set>
                                    <p:animEffect transition="in" filter="fade">
                                      <p:cBhvr>
                                        <p:cTn id="98" dur="1000"/>
                                        <p:tgtEl>
                                          <p:spTgt spid="55"/>
                                        </p:tgtEl>
                                      </p:cBhvr>
                                    </p:animEffect>
                                    <p:anim calcmode="lin" valueType="num">
                                      <p:cBhvr>
                                        <p:cTn id="99" dur="1000" fill="hold"/>
                                        <p:tgtEl>
                                          <p:spTgt spid="55"/>
                                        </p:tgtEl>
                                        <p:attrNameLst>
                                          <p:attrName>ppt_x</p:attrName>
                                        </p:attrNameLst>
                                      </p:cBhvr>
                                      <p:tavLst>
                                        <p:tav tm="0">
                                          <p:val>
                                            <p:strVal val="#ppt_x"/>
                                          </p:val>
                                        </p:tav>
                                        <p:tav tm="100000">
                                          <p:val>
                                            <p:strVal val="#ppt_x"/>
                                          </p:val>
                                        </p:tav>
                                      </p:tavLst>
                                    </p:anim>
                                    <p:anim calcmode="lin" valueType="num">
                                      <p:cBhvr>
                                        <p:cTn id="100"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7" presetClass="entr" presetSubtype="0" fill="hold" grpId="0" nodeType="clickEffect">
                                  <p:stCondLst>
                                    <p:cond delay="0"/>
                                  </p:stCondLst>
                                  <p:childTnLst>
                                    <p:set>
                                      <p:cBhvr>
                                        <p:cTn id="104" dur="1" fill="hold">
                                          <p:stCondLst>
                                            <p:cond delay="0"/>
                                          </p:stCondLst>
                                        </p:cTn>
                                        <p:tgtEl>
                                          <p:spTgt spid="49"/>
                                        </p:tgtEl>
                                        <p:attrNameLst>
                                          <p:attrName>style.visibility</p:attrName>
                                        </p:attrNameLst>
                                      </p:cBhvr>
                                      <p:to>
                                        <p:strVal val="visible"/>
                                      </p:to>
                                    </p:set>
                                    <p:animEffect transition="in" filter="fade">
                                      <p:cBhvr>
                                        <p:cTn id="105" dur="1000"/>
                                        <p:tgtEl>
                                          <p:spTgt spid="49"/>
                                        </p:tgtEl>
                                      </p:cBhvr>
                                    </p:animEffect>
                                    <p:anim calcmode="lin" valueType="num">
                                      <p:cBhvr>
                                        <p:cTn id="106" dur="1000" fill="hold"/>
                                        <p:tgtEl>
                                          <p:spTgt spid="49"/>
                                        </p:tgtEl>
                                        <p:attrNameLst>
                                          <p:attrName>ppt_x</p:attrName>
                                        </p:attrNameLst>
                                      </p:cBhvr>
                                      <p:tavLst>
                                        <p:tav tm="0">
                                          <p:val>
                                            <p:strVal val="#ppt_x"/>
                                          </p:val>
                                        </p:tav>
                                        <p:tav tm="100000">
                                          <p:val>
                                            <p:strVal val="#ppt_x"/>
                                          </p:val>
                                        </p:tav>
                                      </p:tavLst>
                                    </p:anim>
                                    <p:anim calcmode="lin" valueType="num">
                                      <p:cBhvr>
                                        <p:cTn id="107" dur="1000" fill="hold"/>
                                        <p:tgtEl>
                                          <p:spTgt spid="49"/>
                                        </p:tgtEl>
                                        <p:attrNameLst>
                                          <p:attrName>ppt_y</p:attrName>
                                        </p:attrNameLst>
                                      </p:cBhvr>
                                      <p:tavLst>
                                        <p:tav tm="0">
                                          <p:val>
                                            <p:strVal val="#ppt_y-.1"/>
                                          </p:val>
                                        </p:tav>
                                        <p:tav tm="100000">
                                          <p:val>
                                            <p:strVal val="#ppt_y"/>
                                          </p:val>
                                        </p:tav>
                                      </p:tavLst>
                                    </p:anim>
                                  </p:childTnLst>
                                </p:cTn>
                              </p:par>
                              <p:par>
                                <p:cTn id="108" presetID="47" presetClass="entr" presetSubtype="0" fill="hold" grpId="0" nodeType="withEffect">
                                  <p:stCondLst>
                                    <p:cond delay="0"/>
                                  </p:stCondLst>
                                  <p:childTnLst>
                                    <p:set>
                                      <p:cBhvr>
                                        <p:cTn id="109" dur="1" fill="hold">
                                          <p:stCondLst>
                                            <p:cond delay="0"/>
                                          </p:stCondLst>
                                        </p:cTn>
                                        <p:tgtEl>
                                          <p:spTgt spid="50"/>
                                        </p:tgtEl>
                                        <p:attrNameLst>
                                          <p:attrName>style.visibility</p:attrName>
                                        </p:attrNameLst>
                                      </p:cBhvr>
                                      <p:to>
                                        <p:strVal val="visible"/>
                                      </p:to>
                                    </p:set>
                                    <p:animEffect transition="in" filter="fade">
                                      <p:cBhvr>
                                        <p:cTn id="110" dur="1000"/>
                                        <p:tgtEl>
                                          <p:spTgt spid="50"/>
                                        </p:tgtEl>
                                      </p:cBhvr>
                                    </p:animEffect>
                                    <p:anim calcmode="lin" valueType="num">
                                      <p:cBhvr>
                                        <p:cTn id="111" dur="1000" fill="hold"/>
                                        <p:tgtEl>
                                          <p:spTgt spid="50"/>
                                        </p:tgtEl>
                                        <p:attrNameLst>
                                          <p:attrName>ppt_x</p:attrName>
                                        </p:attrNameLst>
                                      </p:cBhvr>
                                      <p:tavLst>
                                        <p:tav tm="0">
                                          <p:val>
                                            <p:strVal val="#ppt_x"/>
                                          </p:val>
                                        </p:tav>
                                        <p:tav tm="100000">
                                          <p:val>
                                            <p:strVal val="#ppt_x"/>
                                          </p:val>
                                        </p:tav>
                                      </p:tavLst>
                                    </p:anim>
                                    <p:anim calcmode="lin" valueType="num">
                                      <p:cBhvr>
                                        <p:cTn id="112"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7" presetClass="entr" presetSubtype="0" fill="hold" grpId="0" nodeType="clickEffect">
                                  <p:stCondLst>
                                    <p:cond delay="0"/>
                                  </p:stCondLst>
                                  <p:childTnLst>
                                    <p:set>
                                      <p:cBhvr>
                                        <p:cTn id="116" dur="1" fill="hold">
                                          <p:stCondLst>
                                            <p:cond delay="0"/>
                                          </p:stCondLst>
                                        </p:cTn>
                                        <p:tgtEl>
                                          <p:spTgt spid="53"/>
                                        </p:tgtEl>
                                        <p:attrNameLst>
                                          <p:attrName>style.visibility</p:attrName>
                                        </p:attrNameLst>
                                      </p:cBhvr>
                                      <p:to>
                                        <p:strVal val="visible"/>
                                      </p:to>
                                    </p:set>
                                    <p:animEffect transition="in" filter="fade">
                                      <p:cBhvr>
                                        <p:cTn id="117" dur="1000"/>
                                        <p:tgtEl>
                                          <p:spTgt spid="53"/>
                                        </p:tgtEl>
                                      </p:cBhvr>
                                    </p:animEffect>
                                    <p:anim calcmode="lin" valueType="num">
                                      <p:cBhvr>
                                        <p:cTn id="118" dur="1000" fill="hold"/>
                                        <p:tgtEl>
                                          <p:spTgt spid="53"/>
                                        </p:tgtEl>
                                        <p:attrNameLst>
                                          <p:attrName>ppt_x</p:attrName>
                                        </p:attrNameLst>
                                      </p:cBhvr>
                                      <p:tavLst>
                                        <p:tav tm="0">
                                          <p:val>
                                            <p:strVal val="#ppt_x"/>
                                          </p:val>
                                        </p:tav>
                                        <p:tav tm="100000">
                                          <p:val>
                                            <p:strVal val="#ppt_x"/>
                                          </p:val>
                                        </p:tav>
                                      </p:tavLst>
                                    </p:anim>
                                    <p:anim calcmode="lin" valueType="num">
                                      <p:cBhvr>
                                        <p:cTn id="119" dur="1000" fill="hold"/>
                                        <p:tgtEl>
                                          <p:spTgt spid="53"/>
                                        </p:tgtEl>
                                        <p:attrNameLst>
                                          <p:attrName>ppt_y</p:attrName>
                                        </p:attrNameLst>
                                      </p:cBhvr>
                                      <p:tavLst>
                                        <p:tav tm="0">
                                          <p:val>
                                            <p:strVal val="#ppt_y-.1"/>
                                          </p:val>
                                        </p:tav>
                                        <p:tav tm="100000">
                                          <p:val>
                                            <p:strVal val="#ppt_y"/>
                                          </p:val>
                                        </p:tav>
                                      </p:tavLst>
                                    </p:anim>
                                  </p:childTnLst>
                                </p:cTn>
                              </p:par>
                              <p:par>
                                <p:cTn id="120" presetID="47" presetClass="entr" presetSubtype="0" fill="hold" grpId="0" nodeType="withEffect">
                                  <p:stCondLst>
                                    <p:cond delay="0"/>
                                  </p:stCondLst>
                                  <p:childTnLst>
                                    <p:set>
                                      <p:cBhvr>
                                        <p:cTn id="121" dur="1" fill="hold">
                                          <p:stCondLst>
                                            <p:cond delay="0"/>
                                          </p:stCondLst>
                                        </p:cTn>
                                        <p:tgtEl>
                                          <p:spTgt spid="54"/>
                                        </p:tgtEl>
                                        <p:attrNameLst>
                                          <p:attrName>style.visibility</p:attrName>
                                        </p:attrNameLst>
                                      </p:cBhvr>
                                      <p:to>
                                        <p:strVal val="visible"/>
                                      </p:to>
                                    </p:set>
                                    <p:animEffect transition="in" filter="fade">
                                      <p:cBhvr>
                                        <p:cTn id="122" dur="1000"/>
                                        <p:tgtEl>
                                          <p:spTgt spid="54"/>
                                        </p:tgtEl>
                                      </p:cBhvr>
                                    </p:animEffect>
                                    <p:anim calcmode="lin" valueType="num">
                                      <p:cBhvr>
                                        <p:cTn id="123" dur="1000" fill="hold"/>
                                        <p:tgtEl>
                                          <p:spTgt spid="54"/>
                                        </p:tgtEl>
                                        <p:attrNameLst>
                                          <p:attrName>ppt_x</p:attrName>
                                        </p:attrNameLst>
                                      </p:cBhvr>
                                      <p:tavLst>
                                        <p:tav tm="0">
                                          <p:val>
                                            <p:strVal val="#ppt_x"/>
                                          </p:val>
                                        </p:tav>
                                        <p:tav tm="100000">
                                          <p:val>
                                            <p:strVal val="#ppt_x"/>
                                          </p:val>
                                        </p:tav>
                                      </p:tavLst>
                                    </p:anim>
                                    <p:anim calcmode="lin" valueType="num">
                                      <p:cBhvr>
                                        <p:cTn id="124"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47" presetClass="entr" presetSubtype="0" fill="hold" grpId="0" nodeType="clickEffect">
                                  <p:stCondLst>
                                    <p:cond delay="0"/>
                                  </p:stCondLst>
                                  <p:childTnLst>
                                    <p:set>
                                      <p:cBhvr>
                                        <p:cTn id="128" dur="1" fill="hold">
                                          <p:stCondLst>
                                            <p:cond delay="0"/>
                                          </p:stCondLst>
                                        </p:cTn>
                                        <p:tgtEl>
                                          <p:spTgt spid="56"/>
                                        </p:tgtEl>
                                        <p:attrNameLst>
                                          <p:attrName>style.visibility</p:attrName>
                                        </p:attrNameLst>
                                      </p:cBhvr>
                                      <p:to>
                                        <p:strVal val="visible"/>
                                      </p:to>
                                    </p:set>
                                    <p:animEffect transition="in" filter="fade">
                                      <p:cBhvr>
                                        <p:cTn id="129" dur="1000"/>
                                        <p:tgtEl>
                                          <p:spTgt spid="56"/>
                                        </p:tgtEl>
                                      </p:cBhvr>
                                    </p:animEffect>
                                    <p:anim calcmode="lin" valueType="num">
                                      <p:cBhvr>
                                        <p:cTn id="130" dur="1000" fill="hold"/>
                                        <p:tgtEl>
                                          <p:spTgt spid="56"/>
                                        </p:tgtEl>
                                        <p:attrNameLst>
                                          <p:attrName>ppt_x</p:attrName>
                                        </p:attrNameLst>
                                      </p:cBhvr>
                                      <p:tavLst>
                                        <p:tav tm="0">
                                          <p:val>
                                            <p:strVal val="#ppt_x"/>
                                          </p:val>
                                        </p:tav>
                                        <p:tav tm="100000">
                                          <p:val>
                                            <p:strVal val="#ppt_x"/>
                                          </p:val>
                                        </p:tav>
                                      </p:tavLst>
                                    </p:anim>
                                    <p:anim calcmode="lin" valueType="num">
                                      <p:cBhvr>
                                        <p:cTn id="131" dur="1000" fill="hold"/>
                                        <p:tgtEl>
                                          <p:spTgt spid="56"/>
                                        </p:tgtEl>
                                        <p:attrNameLst>
                                          <p:attrName>ppt_y</p:attrName>
                                        </p:attrNameLst>
                                      </p:cBhvr>
                                      <p:tavLst>
                                        <p:tav tm="0">
                                          <p:val>
                                            <p:strVal val="#ppt_y-.1"/>
                                          </p:val>
                                        </p:tav>
                                        <p:tav tm="100000">
                                          <p:val>
                                            <p:strVal val="#ppt_y"/>
                                          </p:val>
                                        </p:tav>
                                      </p:tavLst>
                                    </p:anim>
                                  </p:childTnLst>
                                </p:cTn>
                              </p:par>
                              <p:par>
                                <p:cTn id="132" presetID="47" presetClass="entr" presetSubtype="0" fill="hold" grpId="0" nodeType="withEffect">
                                  <p:stCondLst>
                                    <p:cond delay="0"/>
                                  </p:stCondLst>
                                  <p:childTnLst>
                                    <p:set>
                                      <p:cBhvr>
                                        <p:cTn id="133" dur="1" fill="hold">
                                          <p:stCondLst>
                                            <p:cond delay="0"/>
                                          </p:stCondLst>
                                        </p:cTn>
                                        <p:tgtEl>
                                          <p:spTgt spid="58"/>
                                        </p:tgtEl>
                                        <p:attrNameLst>
                                          <p:attrName>style.visibility</p:attrName>
                                        </p:attrNameLst>
                                      </p:cBhvr>
                                      <p:to>
                                        <p:strVal val="visible"/>
                                      </p:to>
                                    </p:set>
                                    <p:animEffect transition="in" filter="fade">
                                      <p:cBhvr>
                                        <p:cTn id="134" dur="1000"/>
                                        <p:tgtEl>
                                          <p:spTgt spid="58"/>
                                        </p:tgtEl>
                                      </p:cBhvr>
                                    </p:animEffect>
                                    <p:anim calcmode="lin" valueType="num">
                                      <p:cBhvr>
                                        <p:cTn id="135" dur="1000" fill="hold"/>
                                        <p:tgtEl>
                                          <p:spTgt spid="58"/>
                                        </p:tgtEl>
                                        <p:attrNameLst>
                                          <p:attrName>ppt_x</p:attrName>
                                        </p:attrNameLst>
                                      </p:cBhvr>
                                      <p:tavLst>
                                        <p:tav tm="0">
                                          <p:val>
                                            <p:strVal val="#ppt_x"/>
                                          </p:val>
                                        </p:tav>
                                        <p:tav tm="100000">
                                          <p:val>
                                            <p:strVal val="#ppt_x"/>
                                          </p:val>
                                        </p:tav>
                                      </p:tavLst>
                                    </p:anim>
                                    <p:anim calcmode="lin" valueType="num">
                                      <p:cBhvr>
                                        <p:cTn id="136"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47" presetClass="entr" presetSubtype="0" fill="hold" grpId="0" nodeType="clickEffect">
                                  <p:stCondLst>
                                    <p:cond delay="0"/>
                                  </p:stCondLst>
                                  <p:childTnLst>
                                    <p:set>
                                      <p:cBhvr>
                                        <p:cTn id="140" dur="1" fill="hold">
                                          <p:stCondLst>
                                            <p:cond delay="0"/>
                                          </p:stCondLst>
                                        </p:cTn>
                                        <p:tgtEl>
                                          <p:spTgt spid="59"/>
                                        </p:tgtEl>
                                        <p:attrNameLst>
                                          <p:attrName>style.visibility</p:attrName>
                                        </p:attrNameLst>
                                      </p:cBhvr>
                                      <p:to>
                                        <p:strVal val="visible"/>
                                      </p:to>
                                    </p:set>
                                    <p:animEffect transition="in" filter="fade">
                                      <p:cBhvr>
                                        <p:cTn id="141" dur="1000"/>
                                        <p:tgtEl>
                                          <p:spTgt spid="59"/>
                                        </p:tgtEl>
                                      </p:cBhvr>
                                    </p:animEffect>
                                    <p:anim calcmode="lin" valueType="num">
                                      <p:cBhvr>
                                        <p:cTn id="142" dur="1000" fill="hold"/>
                                        <p:tgtEl>
                                          <p:spTgt spid="59"/>
                                        </p:tgtEl>
                                        <p:attrNameLst>
                                          <p:attrName>ppt_x</p:attrName>
                                        </p:attrNameLst>
                                      </p:cBhvr>
                                      <p:tavLst>
                                        <p:tav tm="0">
                                          <p:val>
                                            <p:strVal val="#ppt_x"/>
                                          </p:val>
                                        </p:tav>
                                        <p:tav tm="100000">
                                          <p:val>
                                            <p:strVal val="#ppt_x"/>
                                          </p:val>
                                        </p:tav>
                                      </p:tavLst>
                                    </p:anim>
                                    <p:anim calcmode="lin" valueType="num">
                                      <p:cBhvr>
                                        <p:cTn id="143" dur="1000" fill="hold"/>
                                        <p:tgtEl>
                                          <p:spTgt spid="59"/>
                                        </p:tgtEl>
                                        <p:attrNameLst>
                                          <p:attrName>ppt_y</p:attrName>
                                        </p:attrNameLst>
                                      </p:cBhvr>
                                      <p:tavLst>
                                        <p:tav tm="0">
                                          <p:val>
                                            <p:strVal val="#ppt_y-.1"/>
                                          </p:val>
                                        </p:tav>
                                        <p:tav tm="100000">
                                          <p:val>
                                            <p:strVal val="#ppt_y"/>
                                          </p:val>
                                        </p:tav>
                                      </p:tavLst>
                                    </p:anim>
                                  </p:childTnLst>
                                </p:cTn>
                              </p:par>
                              <p:par>
                                <p:cTn id="144" presetID="47" presetClass="entr" presetSubtype="0" fill="hold" grpId="0" nodeType="withEffect">
                                  <p:stCondLst>
                                    <p:cond delay="0"/>
                                  </p:stCondLst>
                                  <p:childTnLst>
                                    <p:set>
                                      <p:cBhvr>
                                        <p:cTn id="145" dur="1" fill="hold">
                                          <p:stCondLst>
                                            <p:cond delay="0"/>
                                          </p:stCondLst>
                                        </p:cTn>
                                        <p:tgtEl>
                                          <p:spTgt spid="57"/>
                                        </p:tgtEl>
                                        <p:attrNameLst>
                                          <p:attrName>style.visibility</p:attrName>
                                        </p:attrNameLst>
                                      </p:cBhvr>
                                      <p:to>
                                        <p:strVal val="visible"/>
                                      </p:to>
                                    </p:set>
                                    <p:animEffect transition="in" filter="fade">
                                      <p:cBhvr>
                                        <p:cTn id="146" dur="1000"/>
                                        <p:tgtEl>
                                          <p:spTgt spid="57"/>
                                        </p:tgtEl>
                                      </p:cBhvr>
                                    </p:animEffect>
                                    <p:anim calcmode="lin" valueType="num">
                                      <p:cBhvr>
                                        <p:cTn id="147" dur="1000" fill="hold"/>
                                        <p:tgtEl>
                                          <p:spTgt spid="57"/>
                                        </p:tgtEl>
                                        <p:attrNameLst>
                                          <p:attrName>ppt_x</p:attrName>
                                        </p:attrNameLst>
                                      </p:cBhvr>
                                      <p:tavLst>
                                        <p:tav tm="0">
                                          <p:val>
                                            <p:strVal val="#ppt_x"/>
                                          </p:val>
                                        </p:tav>
                                        <p:tav tm="100000">
                                          <p:val>
                                            <p:strVal val="#ppt_x"/>
                                          </p:val>
                                        </p:tav>
                                      </p:tavLst>
                                    </p:anim>
                                    <p:anim calcmode="lin" valueType="num">
                                      <p:cBhvr>
                                        <p:cTn id="148"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47" presetClass="entr" presetSubtype="0" fill="hold" grpId="0" nodeType="clickEffect">
                                  <p:stCondLst>
                                    <p:cond delay="0"/>
                                  </p:stCondLst>
                                  <p:childTnLst>
                                    <p:set>
                                      <p:cBhvr>
                                        <p:cTn id="152" dur="1" fill="hold">
                                          <p:stCondLst>
                                            <p:cond delay="0"/>
                                          </p:stCondLst>
                                        </p:cTn>
                                        <p:tgtEl>
                                          <p:spTgt spid="66"/>
                                        </p:tgtEl>
                                        <p:attrNameLst>
                                          <p:attrName>style.visibility</p:attrName>
                                        </p:attrNameLst>
                                      </p:cBhvr>
                                      <p:to>
                                        <p:strVal val="visible"/>
                                      </p:to>
                                    </p:set>
                                    <p:animEffect transition="in" filter="fade">
                                      <p:cBhvr>
                                        <p:cTn id="153" dur="1000"/>
                                        <p:tgtEl>
                                          <p:spTgt spid="66"/>
                                        </p:tgtEl>
                                      </p:cBhvr>
                                    </p:animEffect>
                                    <p:anim calcmode="lin" valueType="num">
                                      <p:cBhvr>
                                        <p:cTn id="154" dur="1000" fill="hold"/>
                                        <p:tgtEl>
                                          <p:spTgt spid="66"/>
                                        </p:tgtEl>
                                        <p:attrNameLst>
                                          <p:attrName>ppt_x</p:attrName>
                                        </p:attrNameLst>
                                      </p:cBhvr>
                                      <p:tavLst>
                                        <p:tav tm="0">
                                          <p:val>
                                            <p:strVal val="#ppt_x"/>
                                          </p:val>
                                        </p:tav>
                                        <p:tav tm="100000">
                                          <p:val>
                                            <p:strVal val="#ppt_x"/>
                                          </p:val>
                                        </p:tav>
                                      </p:tavLst>
                                    </p:anim>
                                    <p:anim calcmode="lin" valueType="num">
                                      <p:cBhvr>
                                        <p:cTn id="155"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47" presetClass="entr" presetSubtype="0" fill="hold" grpId="0" nodeType="clickEffect">
                                  <p:stCondLst>
                                    <p:cond delay="0"/>
                                  </p:stCondLst>
                                  <p:childTnLst>
                                    <p:set>
                                      <p:cBhvr>
                                        <p:cTn id="159" dur="1" fill="hold">
                                          <p:stCondLst>
                                            <p:cond delay="0"/>
                                          </p:stCondLst>
                                        </p:cTn>
                                        <p:tgtEl>
                                          <p:spTgt spid="65"/>
                                        </p:tgtEl>
                                        <p:attrNameLst>
                                          <p:attrName>style.visibility</p:attrName>
                                        </p:attrNameLst>
                                      </p:cBhvr>
                                      <p:to>
                                        <p:strVal val="visible"/>
                                      </p:to>
                                    </p:set>
                                    <p:animEffect transition="in" filter="fade">
                                      <p:cBhvr>
                                        <p:cTn id="160" dur="1000"/>
                                        <p:tgtEl>
                                          <p:spTgt spid="65"/>
                                        </p:tgtEl>
                                      </p:cBhvr>
                                    </p:animEffect>
                                    <p:anim calcmode="lin" valueType="num">
                                      <p:cBhvr>
                                        <p:cTn id="161" dur="1000" fill="hold"/>
                                        <p:tgtEl>
                                          <p:spTgt spid="65"/>
                                        </p:tgtEl>
                                        <p:attrNameLst>
                                          <p:attrName>ppt_x</p:attrName>
                                        </p:attrNameLst>
                                      </p:cBhvr>
                                      <p:tavLst>
                                        <p:tav tm="0">
                                          <p:val>
                                            <p:strVal val="#ppt_x"/>
                                          </p:val>
                                        </p:tav>
                                        <p:tav tm="100000">
                                          <p:val>
                                            <p:strVal val="#ppt_x"/>
                                          </p:val>
                                        </p:tav>
                                      </p:tavLst>
                                    </p:anim>
                                    <p:anim calcmode="lin" valueType="num">
                                      <p:cBhvr>
                                        <p:cTn id="162"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47" presetClass="entr" presetSubtype="0" fill="hold" nodeType="clickEffect">
                                  <p:stCondLst>
                                    <p:cond delay="0"/>
                                  </p:stCondLst>
                                  <p:childTnLst>
                                    <p:set>
                                      <p:cBhvr>
                                        <p:cTn id="166" dur="1" fill="hold">
                                          <p:stCondLst>
                                            <p:cond delay="0"/>
                                          </p:stCondLst>
                                        </p:cTn>
                                        <p:tgtEl>
                                          <p:spTgt spid="64">
                                            <p:txEl>
                                              <p:pRg st="0" end="0"/>
                                            </p:txEl>
                                          </p:spTgt>
                                        </p:tgtEl>
                                        <p:attrNameLst>
                                          <p:attrName>style.visibility</p:attrName>
                                        </p:attrNameLst>
                                      </p:cBhvr>
                                      <p:to>
                                        <p:strVal val="visible"/>
                                      </p:to>
                                    </p:set>
                                    <p:animEffect transition="in" filter="fade">
                                      <p:cBhvr>
                                        <p:cTn id="167" dur="1000"/>
                                        <p:tgtEl>
                                          <p:spTgt spid="64">
                                            <p:txEl>
                                              <p:pRg st="0" end="0"/>
                                            </p:txEl>
                                          </p:spTgt>
                                        </p:tgtEl>
                                      </p:cBhvr>
                                    </p:animEffect>
                                    <p:anim calcmode="lin" valueType="num">
                                      <p:cBhvr>
                                        <p:cTn id="168" dur="1000" fill="hold"/>
                                        <p:tgtEl>
                                          <p:spTgt spid="64">
                                            <p:txEl>
                                              <p:pRg st="0" end="0"/>
                                            </p:txEl>
                                          </p:spTgt>
                                        </p:tgtEl>
                                        <p:attrNameLst>
                                          <p:attrName>ppt_x</p:attrName>
                                        </p:attrNameLst>
                                      </p:cBhvr>
                                      <p:tavLst>
                                        <p:tav tm="0">
                                          <p:val>
                                            <p:strVal val="#ppt_x"/>
                                          </p:val>
                                        </p:tav>
                                        <p:tav tm="100000">
                                          <p:val>
                                            <p:strVal val="#ppt_x"/>
                                          </p:val>
                                        </p:tav>
                                      </p:tavLst>
                                    </p:anim>
                                    <p:anim calcmode="lin" valueType="num">
                                      <p:cBhvr>
                                        <p:cTn id="169" dur="1000" fill="hold"/>
                                        <p:tgtEl>
                                          <p:spTgt spid="6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0" fill="hold">
                      <p:stCondLst>
                        <p:cond delay="indefinite"/>
                      </p:stCondLst>
                      <p:childTnLst>
                        <p:par>
                          <p:cTn id="171" fill="hold">
                            <p:stCondLst>
                              <p:cond delay="0"/>
                            </p:stCondLst>
                            <p:childTnLst>
                              <p:par>
                                <p:cTn id="172" presetID="47" presetClass="entr" presetSubtype="0" fill="hold" grpId="0" nodeType="clickEffect">
                                  <p:stCondLst>
                                    <p:cond delay="0"/>
                                  </p:stCondLst>
                                  <p:childTnLst>
                                    <p:set>
                                      <p:cBhvr>
                                        <p:cTn id="173" dur="1" fill="hold">
                                          <p:stCondLst>
                                            <p:cond delay="0"/>
                                          </p:stCondLst>
                                        </p:cTn>
                                        <p:tgtEl>
                                          <p:spTgt spid="63"/>
                                        </p:tgtEl>
                                        <p:attrNameLst>
                                          <p:attrName>style.visibility</p:attrName>
                                        </p:attrNameLst>
                                      </p:cBhvr>
                                      <p:to>
                                        <p:strVal val="visible"/>
                                      </p:to>
                                    </p:set>
                                    <p:animEffect transition="in" filter="fade">
                                      <p:cBhvr>
                                        <p:cTn id="174" dur="1000"/>
                                        <p:tgtEl>
                                          <p:spTgt spid="63"/>
                                        </p:tgtEl>
                                      </p:cBhvr>
                                    </p:animEffect>
                                    <p:anim calcmode="lin" valueType="num">
                                      <p:cBhvr>
                                        <p:cTn id="175" dur="1000" fill="hold"/>
                                        <p:tgtEl>
                                          <p:spTgt spid="63"/>
                                        </p:tgtEl>
                                        <p:attrNameLst>
                                          <p:attrName>ppt_x</p:attrName>
                                        </p:attrNameLst>
                                      </p:cBhvr>
                                      <p:tavLst>
                                        <p:tav tm="0">
                                          <p:val>
                                            <p:strVal val="#ppt_x"/>
                                          </p:val>
                                        </p:tav>
                                        <p:tav tm="100000">
                                          <p:val>
                                            <p:strVal val="#ppt_x"/>
                                          </p:val>
                                        </p:tav>
                                      </p:tavLst>
                                    </p:anim>
                                    <p:anim calcmode="lin" valueType="num">
                                      <p:cBhvr>
                                        <p:cTn id="176"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47" presetClass="entr" presetSubtype="0" fill="hold" grpId="0" nodeType="clickEffect">
                                  <p:stCondLst>
                                    <p:cond delay="0"/>
                                  </p:stCondLst>
                                  <p:childTnLst>
                                    <p:set>
                                      <p:cBhvr>
                                        <p:cTn id="180" dur="1" fill="hold">
                                          <p:stCondLst>
                                            <p:cond delay="0"/>
                                          </p:stCondLst>
                                        </p:cTn>
                                        <p:tgtEl>
                                          <p:spTgt spid="70"/>
                                        </p:tgtEl>
                                        <p:attrNameLst>
                                          <p:attrName>style.visibility</p:attrName>
                                        </p:attrNameLst>
                                      </p:cBhvr>
                                      <p:to>
                                        <p:strVal val="visible"/>
                                      </p:to>
                                    </p:set>
                                    <p:animEffect transition="in" filter="fade">
                                      <p:cBhvr>
                                        <p:cTn id="181" dur="1000"/>
                                        <p:tgtEl>
                                          <p:spTgt spid="70"/>
                                        </p:tgtEl>
                                      </p:cBhvr>
                                    </p:animEffect>
                                    <p:anim calcmode="lin" valueType="num">
                                      <p:cBhvr>
                                        <p:cTn id="182" dur="1000" fill="hold"/>
                                        <p:tgtEl>
                                          <p:spTgt spid="70"/>
                                        </p:tgtEl>
                                        <p:attrNameLst>
                                          <p:attrName>ppt_x</p:attrName>
                                        </p:attrNameLst>
                                      </p:cBhvr>
                                      <p:tavLst>
                                        <p:tav tm="0">
                                          <p:val>
                                            <p:strVal val="#ppt_x"/>
                                          </p:val>
                                        </p:tav>
                                        <p:tav tm="100000">
                                          <p:val>
                                            <p:strVal val="#ppt_x"/>
                                          </p:val>
                                        </p:tav>
                                      </p:tavLst>
                                    </p:anim>
                                    <p:anim calcmode="lin" valueType="num">
                                      <p:cBhvr>
                                        <p:cTn id="183"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par>
                    <p:cTn id="184" fill="hold">
                      <p:stCondLst>
                        <p:cond delay="indefinite"/>
                      </p:stCondLst>
                      <p:childTnLst>
                        <p:par>
                          <p:cTn id="185" fill="hold">
                            <p:stCondLst>
                              <p:cond delay="0"/>
                            </p:stCondLst>
                            <p:childTnLst>
                              <p:par>
                                <p:cTn id="186" presetID="47" presetClass="entr" presetSubtype="0" fill="hold" grpId="0" nodeType="clickEffect">
                                  <p:stCondLst>
                                    <p:cond delay="0"/>
                                  </p:stCondLst>
                                  <p:childTnLst>
                                    <p:set>
                                      <p:cBhvr>
                                        <p:cTn id="187" dur="1" fill="hold">
                                          <p:stCondLst>
                                            <p:cond delay="0"/>
                                          </p:stCondLst>
                                        </p:cTn>
                                        <p:tgtEl>
                                          <p:spTgt spid="69"/>
                                        </p:tgtEl>
                                        <p:attrNameLst>
                                          <p:attrName>style.visibility</p:attrName>
                                        </p:attrNameLst>
                                      </p:cBhvr>
                                      <p:to>
                                        <p:strVal val="visible"/>
                                      </p:to>
                                    </p:set>
                                    <p:animEffect transition="in" filter="fade">
                                      <p:cBhvr>
                                        <p:cTn id="188" dur="1000"/>
                                        <p:tgtEl>
                                          <p:spTgt spid="69"/>
                                        </p:tgtEl>
                                      </p:cBhvr>
                                    </p:animEffect>
                                    <p:anim calcmode="lin" valueType="num">
                                      <p:cBhvr>
                                        <p:cTn id="189" dur="1000" fill="hold"/>
                                        <p:tgtEl>
                                          <p:spTgt spid="69"/>
                                        </p:tgtEl>
                                        <p:attrNameLst>
                                          <p:attrName>ppt_x</p:attrName>
                                        </p:attrNameLst>
                                      </p:cBhvr>
                                      <p:tavLst>
                                        <p:tav tm="0">
                                          <p:val>
                                            <p:strVal val="#ppt_x"/>
                                          </p:val>
                                        </p:tav>
                                        <p:tav tm="100000">
                                          <p:val>
                                            <p:strVal val="#ppt_x"/>
                                          </p:val>
                                        </p:tav>
                                      </p:tavLst>
                                    </p:anim>
                                    <p:anim calcmode="lin" valueType="num">
                                      <p:cBhvr>
                                        <p:cTn id="190"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presetID="47" presetClass="entr" presetSubtype="0" fill="hold" grpId="0" nodeType="click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1000"/>
                                        <p:tgtEl>
                                          <p:spTgt spid="68"/>
                                        </p:tgtEl>
                                      </p:cBhvr>
                                    </p:animEffect>
                                    <p:anim calcmode="lin" valueType="num">
                                      <p:cBhvr>
                                        <p:cTn id="196" dur="1000" fill="hold"/>
                                        <p:tgtEl>
                                          <p:spTgt spid="68"/>
                                        </p:tgtEl>
                                        <p:attrNameLst>
                                          <p:attrName>ppt_x</p:attrName>
                                        </p:attrNameLst>
                                      </p:cBhvr>
                                      <p:tavLst>
                                        <p:tav tm="0">
                                          <p:val>
                                            <p:strVal val="#ppt_x"/>
                                          </p:val>
                                        </p:tav>
                                        <p:tav tm="100000">
                                          <p:val>
                                            <p:strVal val="#ppt_x"/>
                                          </p:val>
                                        </p:tav>
                                      </p:tavLst>
                                    </p:anim>
                                    <p:anim calcmode="lin" valueType="num">
                                      <p:cBhvr>
                                        <p:cTn id="197"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47" presetClass="entr" presetSubtype="0" fill="hold" grpId="0" nodeType="clickEffect">
                                  <p:stCondLst>
                                    <p:cond delay="0"/>
                                  </p:stCondLst>
                                  <p:childTnLst>
                                    <p:set>
                                      <p:cBhvr>
                                        <p:cTn id="201" dur="1" fill="hold">
                                          <p:stCondLst>
                                            <p:cond delay="0"/>
                                          </p:stCondLst>
                                        </p:cTn>
                                        <p:tgtEl>
                                          <p:spTgt spid="67"/>
                                        </p:tgtEl>
                                        <p:attrNameLst>
                                          <p:attrName>style.visibility</p:attrName>
                                        </p:attrNameLst>
                                      </p:cBhvr>
                                      <p:to>
                                        <p:strVal val="visible"/>
                                      </p:to>
                                    </p:set>
                                    <p:animEffect transition="in" filter="fade">
                                      <p:cBhvr>
                                        <p:cTn id="202" dur="1000"/>
                                        <p:tgtEl>
                                          <p:spTgt spid="67"/>
                                        </p:tgtEl>
                                      </p:cBhvr>
                                    </p:animEffect>
                                    <p:anim calcmode="lin" valueType="num">
                                      <p:cBhvr>
                                        <p:cTn id="203" dur="1000" fill="hold"/>
                                        <p:tgtEl>
                                          <p:spTgt spid="67"/>
                                        </p:tgtEl>
                                        <p:attrNameLst>
                                          <p:attrName>ppt_x</p:attrName>
                                        </p:attrNameLst>
                                      </p:cBhvr>
                                      <p:tavLst>
                                        <p:tav tm="0">
                                          <p:val>
                                            <p:strVal val="#ppt_x"/>
                                          </p:val>
                                        </p:tav>
                                        <p:tav tm="100000">
                                          <p:val>
                                            <p:strVal val="#ppt_x"/>
                                          </p:val>
                                        </p:tav>
                                      </p:tavLst>
                                    </p:anim>
                                    <p:anim calcmode="lin" valueType="num">
                                      <p:cBhvr>
                                        <p:cTn id="204" dur="1000" fill="hold"/>
                                        <p:tgtEl>
                                          <p:spTgt spid="6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3" grpId="0" animBg="1"/>
      <p:bldP spid="54" grpId="0" animBg="1"/>
      <p:bldP spid="56" grpId="0" animBg="1"/>
      <p:bldP spid="57" grpId="0" animBg="1"/>
      <p:bldP spid="58" grpId="0" animBg="1"/>
      <p:bldP spid="59" grpId="0" animBg="1"/>
      <p:bldP spid="60" grpId="0"/>
      <p:bldP spid="61" grpId="0"/>
      <p:bldP spid="62" grpId="0"/>
      <p:bldP spid="63" grpId="0"/>
      <p:bldP spid="65" grpId="0"/>
      <p:bldP spid="66" grpId="0"/>
      <p:bldP spid="52" grpId="0"/>
      <p:bldP spid="55" grpId="0"/>
      <p:bldP spid="67" grpId="0"/>
      <p:bldP spid="68" grpId="0"/>
      <p:bldP spid="69" grpId="0"/>
      <p:bldP spid="70" grpId="0"/>
      <p:bldP spid="7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958143A9-6AD5-4FDF-AAD6-4DB67D46AD85}"/>
              </a:ext>
            </a:extLst>
          </p:cNvPr>
          <p:cNvPicPr>
            <a:picLocks noChangeAspect="1"/>
          </p:cNvPicPr>
          <p:nvPr/>
        </p:nvPicPr>
        <p:blipFill rotWithShape="1">
          <a:blip r:embed="rId2"/>
          <a:srcRect b="36332"/>
          <a:stretch/>
        </p:blipFill>
        <p:spPr>
          <a:xfrm>
            <a:off x="-11675" y="564542"/>
            <a:ext cx="9167350" cy="1463041"/>
          </a:xfrm>
          <a:prstGeom prst="rect">
            <a:avLst/>
          </a:prstGeom>
        </p:spPr>
      </p:pic>
      <p:pic>
        <p:nvPicPr>
          <p:cNvPr id="7" name="Image 6">
            <a:extLst>
              <a:ext uri="{FF2B5EF4-FFF2-40B4-BE49-F238E27FC236}">
                <a16:creationId xmlns:a16="http://schemas.microsoft.com/office/drawing/2014/main" id="{505DE522-2043-4857-8320-F993B86E1418}"/>
              </a:ext>
            </a:extLst>
          </p:cNvPr>
          <p:cNvPicPr>
            <a:picLocks noChangeAspect="1"/>
          </p:cNvPicPr>
          <p:nvPr/>
        </p:nvPicPr>
        <p:blipFill rotWithShape="1">
          <a:blip r:embed="rId2"/>
          <a:srcRect t="65052"/>
          <a:stretch/>
        </p:blipFill>
        <p:spPr>
          <a:xfrm>
            <a:off x="0" y="3464780"/>
            <a:ext cx="9167350" cy="803080"/>
          </a:xfrm>
          <a:prstGeom prst="rect">
            <a:avLst/>
          </a:prstGeom>
        </p:spPr>
      </p:pic>
    </p:spTree>
    <p:extLst>
      <p:ext uri="{BB962C8B-B14F-4D97-AF65-F5344CB8AC3E}">
        <p14:creationId xmlns:p14="http://schemas.microsoft.com/office/powerpoint/2010/main" val="1580650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226FA874-DF7E-4C5D-B65E-BBE09446E265}"/>
              </a:ext>
            </a:extLst>
          </p:cNvPr>
          <p:cNvPicPr>
            <a:picLocks noChangeAspect="1"/>
          </p:cNvPicPr>
          <p:nvPr/>
        </p:nvPicPr>
        <p:blipFill>
          <a:blip r:embed="rId2"/>
          <a:stretch>
            <a:fillRect/>
          </a:stretch>
        </p:blipFill>
        <p:spPr>
          <a:xfrm>
            <a:off x="220794" y="580047"/>
            <a:ext cx="8674176" cy="5645823"/>
          </a:xfrm>
          <a:prstGeom prst="rect">
            <a:avLst/>
          </a:prstGeom>
          <a:ln w="127000" cap="sq">
            <a:solidFill>
              <a:srgbClr val="FF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109628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E97D7C7-88EA-4FA8-A65D-35B5CBF0BF3D}"/>
              </a:ext>
            </a:extLst>
          </p:cNvPr>
          <p:cNvSpPr txBox="1"/>
          <p:nvPr/>
        </p:nvSpPr>
        <p:spPr>
          <a:xfrm>
            <a:off x="422907" y="941462"/>
            <a:ext cx="8158162" cy="830997"/>
          </a:xfrm>
          <a:prstGeom prst="rect">
            <a:avLst/>
          </a:prstGeom>
          <a:noFill/>
        </p:spPr>
        <p:txBody>
          <a:bodyPr wrap="square">
            <a:spAutoFit/>
          </a:bodyPr>
          <a:lstStyle/>
          <a:p>
            <a:r>
              <a:rPr lang="fr-FR" sz="1600" dirty="0">
                <a:solidFill>
                  <a:srgbClr val="1F011C"/>
                </a:solidFill>
                <a:latin typeface="Comic Sans MS" panose="030F0902030302020204" pitchFamily="66" charset="0"/>
                <a:cs typeface="Sakkal Majalla" panose="02000000000000000000" pitchFamily="2" charset="-78"/>
              </a:rPr>
              <a:t>   En prophase de la première division de méiose, les chromosomes homologues appariés forment des tétrades. Il y a </a:t>
            </a:r>
            <a:r>
              <a:rPr lang="fr-FR" sz="1600" dirty="0">
                <a:solidFill>
                  <a:srgbClr val="0070C0"/>
                </a:solidFill>
                <a:latin typeface="Comic Sans MS" panose="030F0902030302020204" pitchFamily="66" charset="0"/>
                <a:cs typeface="Sakkal Majalla" panose="02000000000000000000" pitchFamily="2" charset="-78"/>
              </a:rPr>
              <a:t>échangent des portions de chromatides </a:t>
            </a:r>
            <a:r>
              <a:rPr lang="fr-FR" sz="1600" dirty="0">
                <a:solidFill>
                  <a:srgbClr val="1F011C"/>
                </a:solidFill>
                <a:latin typeface="Comic Sans MS" panose="030F0902030302020204" pitchFamily="66" charset="0"/>
                <a:cs typeface="Sakkal Majalla" panose="02000000000000000000" pitchFamily="2" charset="-78"/>
              </a:rPr>
              <a:t>en réalisant des </a:t>
            </a:r>
            <a:r>
              <a:rPr lang="fr-FR" sz="1600" b="1" dirty="0">
                <a:solidFill>
                  <a:srgbClr val="FF0000"/>
                </a:solidFill>
                <a:latin typeface="Comic Sans MS" panose="030F0902030302020204" pitchFamily="66" charset="0"/>
                <a:cs typeface="Sakkal Majalla" panose="02000000000000000000" pitchFamily="2" charset="-78"/>
              </a:rPr>
              <a:t>chiasmas</a:t>
            </a:r>
            <a:r>
              <a:rPr lang="fr-FR" sz="1600" dirty="0">
                <a:solidFill>
                  <a:srgbClr val="1F011C"/>
                </a:solidFill>
                <a:latin typeface="Comic Sans MS" panose="030F0902030302020204" pitchFamily="66" charset="0"/>
                <a:cs typeface="Sakkal Majalla" panose="02000000000000000000" pitchFamily="2" charset="-78"/>
              </a:rPr>
              <a:t> : on obtient des </a:t>
            </a:r>
            <a:r>
              <a:rPr lang="fr-FR" sz="1600" b="1" dirty="0">
                <a:solidFill>
                  <a:srgbClr val="FF0000"/>
                </a:solidFill>
                <a:latin typeface="Comic Sans MS" panose="030F0902030302020204" pitchFamily="66" charset="0"/>
                <a:cs typeface="Sakkal Majalla" panose="02000000000000000000" pitchFamily="2" charset="-78"/>
              </a:rPr>
              <a:t>chromosomes recombinés</a:t>
            </a:r>
            <a:r>
              <a:rPr lang="fr-FR" sz="1600" dirty="0">
                <a:solidFill>
                  <a:srgbClr val="1F011C"/>
                </a:solidFill>
                <a:latin typeface="Comic Sans MS" panose="030F0902030302020204" pitchFamily="66" charset="0"/>
                <a:cs typeface="Sakkal Majalla" panose="02000000000000000000" pitchFamily="2" charset="-78"/>
              </a:rPr>
              <a:t>.</a:t>
            </a:r>
            <a:endParaRPr lang="fr-FR" sz="1600" dirty="0">
              <a:latin typeface="Comic Sans MS" panose="030F0902030302020204" pitchFamily="66" charset="0"/>
              <a:cs typeface="Sakkal Majalla" panose="02000000000000000000" pitchFamily="2" charset="-78"/>
            </a:endParaRPr>
          </a:p>
        </p:txBody>
      </p:sp>
      <p:sp>
        <p:nvSpPr>
          <p:cNvPr id="4" name="ZoneTexte 3">
            <a:extLst>
              <a:ext uri="{FF2B5EF4-FFF2-40B4-BE49-F238E27FC236}">
                <a16:creationId xmlns:a16="http://schemas.microsoft.com/office/drawing/2014/main" id="{EBE5154C-81EA-415B-AC9A-43A24621B807}"/>
              </a:ext>
            </a:extLst>
          </p:cNvPr>
          <p:cNvSpPr txBox="1"/>
          <p:nvPr/>
        </p:nvSpPr>
        <p:spPr>
          <a:xfrm>
            <a:off x="480056" y="2429182"/>
            <a:ext cx="8101013" cy="338554"/>
          </a:xfrm>
          <a:prstGeom prst="rect">
            <a:avLst/>
          </a:prstGeom>
          <a:solidFill>
            <a:schemeClr val="accent6">
              <a:lumMod val="20000"/>
              <a:lumOff val="80000"/>
            </a:schemeClr>
          </a:solidFill>
        </p:spPr>
        <p:txBody>
          <a:bodyPr wrap="square" rtlCol="0">
            <a:spAutoFit/>
          </a:bodyPr>
          <a:lstStyle/>
          <a:p>
            <a:r>
              <a:rPr lang="fr-FR" sz="1600" dirty="0">
                <a:highlight>
                  <a:srgbClr val="FFFF00"/>
                </a:highlight>
                <a:latin typeface="Comic Sans MS" panose="030F0902030302020204" pitchFamily="66" charset="0"/>
                <a:cs typeface="Sakkal Majalla" panose="02000000000000000000" pitchFamily="2" charset="-78"/>
              </a:rPr>
              <a:t>Schéma 1: </a:t>
            </a:r>
            <a:r>
              <a:rPr lang="fr-FR" sz="1600" dirty="0">
                <a:latin typeface="Comic Sans MS" panose="030F0902030302020204" pitchFamily="66" charset="0"/>
                <a:cs typeface="Sakkal Majalla" panose="02000000000000000000" pitchFamily="2" charset="-78"/>
              </a:rPr>
              <a:t>une paire de chromosomes homologues : une tétrade</a:t>
            </a:r>
          </a:p>
        </p:txBody>
      </p:sp>
      <p:sp>
        <p:nvSpPr>
          <p:cNvPr id="5" name="ZoneTexte 4">
            <a:extLst>
              <a:ext uri="{FF2B5EF4-FFF2-40B4-BE49-F238E27FC236}">
                <a16:creationId xmlns:a16="http://schemas.microsoft.com/office/drawing/2014/main" id="{F203CE0E-ADEB-42BB-B658-153D67C30DB5}"/>
              </a:ext>
            </a:extLst>
          </p:cNvPr>
          <p:cNvSpPr txBox="1"/>
          <p:nvPr/>
        </p:nvSpPr>
        <p:spPr>
          <a:xfrm>
            <a:off x="490555" y="3066298"/>
            <a:ext cx="8133377" cy="830997"/>
          </a:xfrm>
          <a:prstGeom prst="rect">
            <a:avLst/>
          </a:prstGeom>
          <a:solidFill>
            <a:schemeClr val="accent6">
              <a:lumMod val="20000"/>
              <a:lumOff val="80000"/>
            </a:schemeClr>
          </a:solidFill>
        </p:spPr>
        <p:txBody>
          <a:bodyPr wrap="square" rtlCol="0">
            <a:spAutoFit/>
          </a:bodyPr>
          <a:lstStyle/>
          <a:p>
            <a:r>
              <a:rPr lang="fr-FR" sz="1600" dirty="0">
                <a:highlight>
                  <a:srgbClr val="FFFF00"/>
                </a:highlight>
                <a:latin typeface="Comic Sans MS" panose="030F0902030302020204" pitchFamily="66" charset="0"/>
                <a:cs typeface="Sakkal Majalla" panose="02000000000000000000" pitchFamily="2" charset="-78"/>
              </a:rPr>
              <a:t>Schéma 2:  </a:t>
            </a:r>
            <a:r>
              <a:rPr lang="fr-FR" sz="1600" dirty="0">
                <a:latin typeface="Comic Sans MS" panose="030F0902030302020204" pitchFamily="66" charset="0"/>
                <a:cs typeface="Sakkal Majalla" panose="02000000000000000000" pitchFamily="2" charset="-78"/>
              </a:rPr>
              <a:t>Au niveau des chiasmas, des échanges de fragments de chromatides peuvent se produire entre chromosomes homologues : c’est le phénomène de crossing-over (ou enjambement). </a:t>
            </a:r>
          </a:p>
        </p:txBody>
      </p:sp>
      <p:sp>
        <p:nvSpPr>
          <p:cNvPr id="6" name="ZoneTexte 5">
            <a:extLst>
              <a:ext uri="{FF2B5EF4-FFF2-40B4-BE49-F238E27FC236}">
                <a16:creationId xmlns:a16="http://schemas.microsoft.com/office/drawing/2014/main" id="{A140CEA5-F9AD-4E5E-B6CC-18C6169EA963}"/>
              </a:ext>
            </a:extLst>
          </p:cNvPr>
          <p:cNvSpPr txBox="1"/>
          <p:nvPr/>
        </p:nvSpPr>
        <p:spPr>
          <a:xfrm>
            <a:off x="532810" y="4559243"/>
            <a:ext cx="8148272" cy="941796"/>
          </a:xfrm>
          <a:prstGeom prst="rect">
            <a:avLst/>
          </a:prstGeom>
          <a:solidFill>
            <a:schemeClr val="accent6">
              <a:lumMod val="20000"/>
              <a:lumOff val="80000"/>
            </a:schemeClr>
          </a:solidFill>
        </p:spPr>
        <p:txBody>
          <a:bodyPr wrap="square" rtlCol="0">
            <a:spAutoFit/>
          </a:bodyPr>
          <a:lstStyle/>
          <a:p>
            <a:pPr algn="just">
              <a:lnSpc>
                <a:spcPct val="110000"/>
              </a:lnSpc>
            </a:pPr>
            <a:r>
              <a:rPr lang="fr-FR" sz="1600" dirty="0">
                <a:highlight>
                  <a:srgbClr val="FFFF00"/>
                </a:highlight>
                <a:latin typeface="Comic Sans MS" panose="030F0902030302020204" pitchFamily="66" charset="0"/>
                <a:cs typeface="Sakkal Majalla" panose="02000000000000000000" pitchFamily="2" charset="-78"/>
              </a:rPr>
              <a:t>Schéma 3: </a:t>
            </a:r>
            <a:r>
              <a:rPr lang="fr-FR" sz="1600" dirty="0">
                <a:latin typeface="Comic Sans MS" panose="030F0902030302020204" pitchFamily="66" charset="0"/>
              </a:rPr>
              <a:t>De nouvelles combinaisons d’allèles apparaissent alors sur les chromatides remaniés : on parle de </a:t>
            </a:r>
            <a:r>
              <a:rPr lang="fr-FR" sz="1600" dirty="0">
                <a:solidFill>
                  <a:srgbClr val="FF0000"/>
                </a:solidFill>
                <a:latin typeface="Comic Sans MS" panose="030F0902030302020204" pitchFamily="66" charset="0"/>
              </a:rPr>
              <a:t>brassage </a:t>
            </a:r>
            <a:r>
              <a:rPr lang="fr-FR" sz="1600" dirty="0" err="1">
                <a:solidFill>
                  <a:srgbClr val="FF0000"/>
                </a:solidFill>
                <a:latin typeface="Comic Sans MS" panose="030F0902030302020204" pitchFamily="66" charset="0"/>
              </a:rPr>
              <a:t>intrachromosomique</a:t>
            </a:r>
            <a:r>
              <a:rPr lang="fr-FR" sz="1600" dirty="0">
                <a:latin typeface="Comic Sans MS" panose="030F0902030302020204" pitchFamily="66" charset="0"/>
              </a:rPr>
              <a:t>.</a:t>
            </a:r>
          </a:p>
          <a:p>
            <a:endParaRPr lang="fr-FR" dirty="0">
              <a:latin typeface="Comic Sans MS" panose="030F0902030302020204" pitchFamily="66" charset="0"/>
              <a:cs typeface="Sakkal Majalla" panose="02000000000000000000" pitchFamily="2" charset="-78"/>
            </a:endParaRPr>
          </a:p>
        </p:txBody>
      </p:sp>
    </p:spTree>
    <p:extLst>
      <p:ext uri="{BB962C8B-B14F-4D97-AF65-F5344CB8AC3E}">
        <p14:creationId xmlns:p14="http://schemas.microsoft.com/office/powerpoint/2010/main" val="200582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E3597EA-FC65-4815-BFA6-71E58A603222}"/>
              </a:ext>
            </a:extLst>
          </p:cNvPr>
          <p:cNvPicPr>
            <a:picLocks noChangeAspect="1"/>
          </p:cNvPicPr>
          <p:nvPr/>
        </p:nvPicPr>
        <p:blipFill>
          <a:blip r:embed="rId2"/>
          <a:stretch>
            <a:fillRect/>
          </a:stretch>
        </p:blipFill>
        <p:spPr>
          <a:xfrm>
            <a:off x="264556" y="350853"/>
            <a:ext cx="8618572" cy="3536678"/>
          </a:xfrm>
          <a:prstGeom prst="rect">
            <a:avLst/>
          </a:prstGeom>
          <a:ln w="127000" cap="sq">
            <a:solidFill>
              <a:srgbClr val="FF0000"/>
            </a:solidFill>
            <a:miter lim="800000"/>
          </a:ln>
          <a:effectLst>
            <a:outerShdw blurRad="57150" dist="50800" dir="2700000" algn="tl" rotWithShape="0">
              <a:srgbClr val="000000">
                <a:alpha val="40000"/>
              </a:srgbClr>
            </a:outerShdw>
          </a:effectLst>
        </p:spPr>
      </p:pic>
      <p:sp>
        <p:nvSpPr>
          <p:cNvPr id="6" name="ZoneTexte 5">
            <a:extLst>
              <a:ext uri="{FF2B5EF4-FFF2-40B4-BE49-F238E27FC236}">
                <a16:creationId xmlns:a16="http://schemas.microsoft.com/office/drawing/2014/main" id="{A0293AB5-3E47-4EB7-A1C9-554887BE5B05}"/>
              </a:ext>
            </a:extLst>
          </p:cNvPr>
          <p:cNvSpPr txBox="1"/>
          <p:nvPr/>
        </p:nvSpPr>
        <p:spPr>
          <a:xfrm>
            <a:off x="142875" y="4304885"/>
            <a:ext cx="8858250" cy="2339102"/>
          </a:xfrm>
          <a:prstGeom prst="rect">
            <a:avLst/>
          </a:prstGeom>
          <a:blipFill>
            <a:blip r:embed="rId3"/>
            <a:tile tx="0" ty="0" sx="100000" sy="100000" flip="none" algn="tl"/>
          </a:blipFill>
        </p:spPr>
        <p:txBody>
          <a:bodyPr wrap="square" rtlCol="0">
            <a:spAutoFit/>
          </a:bodyPr>
          <a:lstStyle/>
          <a:p>
            <a:pPr marL="285750" indent="-285750">
              <a:buFont typeface="Courier New" panose="02070309020205020404" pitchFamily="49" charset="0"/>
              <a:buChar char="o"/>
            </a:pPr>
            <a:r>
              <a:rPr lang="fr-FR" sz="1600" b="1" dirty="0">
                <a:highlight>
                  <a:srgbClr val="FFFF00"/>
                </a:highlight>
                <a:latin typeface="Comic Sans MS" panose="030F0902030302020204" pitchFamily="66" charset="0"/>
              </a:rPr>
              <a:t>En absence de CO : </a:t>
            </a:r>
            <a:r>
              <a:rPr lang="fr-FR" sz="1600" dirty="0">
                <a:latin typeface="Comic Sans MS" panose="030F0902030302020204" pitchFamily="66" charset="0"/>
              </a:rPr>
              <a:t>on obtient </a:t>
            </a:r>
            <a:r>
              <a:rPr lang="fr-FR" sz="1600" b="1" dirty="0">
                <a:solidFill>
                  <a:srgbClr val="0070C0"/>
                </a:solidFill>
                <a:latin typeface="Comic Sans MS" panose="030F0902030302020204" pitchFamily="66" charset="0"/>
              </a:rPr>
              <a:t>deux types de gamètes parentaux </a:t>
            </a:r>
            <a:r>
              <a:rPr lang="fr-FR" sz="1600" b="1" dirty="0">
                <a:solidFill>
                  <a:schemeClr val="accent1"/>
                </a:solidFill>
                <a:latin typeface="Comic Sans MS" panose="030F0902030302020204" pitchFamily="66" charset="0"/>
              </a:rPr>
              <a:t>:</a:t>
            </a:r>
          </a:p>
          <a:p>
            <a:r>
              <a:rPr lang="fr-FR" sz="1600" dirty="0">
                <a:latin typeface="Comic Sans MS" panose="030F0902030302020204" pitchFamily="66" charset="0"/>
              </a:rPr>
              <a:t>	 - Des </a:t>
            </a:r>
            <a:r>
              <a:rPr lang="fr-FR" sz="1600" b="1" dirty="0">
                <a:solidFill>
                  <a:srgbClr val="0070C0"/>
                </a:solidFill>
                <a:latin typeface="Comic Sans MS" panose="030F0902030302020204" pitchFamily="66" charset="0"/>
              </a:rPr>
              <a:t>gamètes parentaux </a:t>
            </a:r>
            <a:r>
              <a:rPr lang="fr-FR" sz="1600" dirty="0">
                <a:latin typeface="Comic Sans MS" panose="030F0902030302020204" pitchFamily="66" charset="0"/>
              </a:rPr>
              <a:t>portant les allèles </a:t>
            </a:r>
            <a:r>
              <a:rPr lang="fr-FR" sz="1600" b="1" dirty="0">
                <a:solidFill>
                  <a:srgbClr val="0070C0"/>
                </a:solidFill>
                <a:latin typeface="Comic Sans MS" panose="030F0902030302020204" pitchFamily="66" charset="0"/>
              </a:rPr>
              <a:t>A1B1</a:t>
            </a:r>
          </a:p>
          <a:p>
            <a:r>
              <a:rPr lang="fr-FR" sz="1600" dirty="0">
                <a:latin typeface="Comic Sans MS" panose="030F0902030302020204" pitchFamily="66" charset="0"/>
              </a:rPr>
              <a:t>	 - Des </a:t>
            </a:r>
            <a:r>
              <a:rPr lang="fr-FR" sz="1600" b="1" dirty="0">
                <a:solidFill>
                  <a:srgbClr val="0070C0"/>
                </a:solidFill>
                <a:latin typeface="Comic Sans MS" panose="030F0902030302020204" pitchFamily="66" charset="0"/>
              </a:rPr>
              <a:t>gamètes parentaux </a:t>
            </a:r>
            <a:r>
              <a:rPr lang="fr-FR" sz="1600" dirty="0">
                <a:latin typeface="Comic Sans MS" panose="030F0902030302020204" pitchFamily="66" charset="0"/>
              </a:rPr>
              <a:t>portant les allèles  </a:t>
            </a:r>
            <a:r>
              <a:rPr lang="fr-FR" sz="1600" b="1" dirty="0">
                <a:solidFill>
                  <a:srgbClr val="0070C0"/>
                </a:solidFill>
                <a:latin typeface="Comic Sans MS" panose="030F0902030302020204" pitchFamily="66" charset="0"/>
              </a:rPr>
              <a:t>A2B2</a:t>
            </a:r>
          </a:p>
          <a:p>
            <a:endParaRPr lang="fr-FR" sz="1600" dirty="0">
              <a:latin typeface="Comic Sans MS" panose="030F0902030302020204" pitchFamily="66" charset="0"/>
            </a:endParaRPr>
          </a:p>
          <a:p>
            <a:pPr marL="285750" indent="-285750">
              <a:buFont typeface="Courier New" panose="02070309020205020404" pitchFamily="49" charset="0"/>
              <a:buChar char="o"/>
            </a:pPr>
            <a:r>
              <a:rPr lang="fr-FR" sz="1600" dirty="0">
                <a:highlight>
                  <a:srgbClr val="FFFF00"/>
                </a:highlight>
                <a:latin typeface="Comic Sans MS" panose="030F0902030302020204" pitchFamily="66" charset="0"/>
              </a:rPr>
              <a:t>En présence de CO : </a:t>
            </a:r>
            <a:r>
              <a:rPr lang="fr-FR" sz="1600" dirty="0">
                <a:latin typeface="Comic Sans MS" panose="030F0902030302020204" pitchFamily="66" charset="0"/>
              </a:rPr>
              <a:t>on obtient quatre types de gamètes :</a:t>
            </a:r>
          </a:p>
          <a:p>
            <a:r>
              <a:rPr lang="fr-FR" sz="1600" dirty="0">
                <a:latin typeface="Comic Sans MS" panose="030F0902030302020204" pitchFamily="66" charset="0"/>
              </a:rPr>
              <a:t>	 - Des </a:t>
            </a:r>
            <a:r>
              <a:rPr lang="fr-FR" sz="1600" b="1" dirty="0">
                <a:solidFill>
                  <a:srgbClr val="0070C0"/>
                </a:solidFill>
                <a:latin typeface="Comic Sans MS" panose="030F0902030302020204" pitchFamily="66" charset="0"/>
              </a:rPr>
              <a:t>gamètes parentaux </a:t>
            </a:r>
            <a:r>
              <a:rPr lang="fr-FR" sz="1600" dirty="0">
                <a:latin typeface="Comic Sans MS" panose="030F0902030302020204" pitchFamily="66" charset="0"/>
              </a:rPr>
              <a:t>portant les allèles </a:t>
            </a:r>
            <a:r>
              <a:rPr lang="fr-FR" sz="1600" b="1" dirty="0">
                <a:solidFill>
                  <a:srgbClr val="0070C0"/>
                </a:solidFill>
                <a:latin typeface="Comic Sans MS" panose="030F0902030302020204" pitchFamily="66" charset="0"/>
              </a:rPr>
              <a:t>A</a:t>
            </a:r>
            <a:r>
              <a:rPr lang="fr-FR" sz="1600" b="1" baseline="-25000" dirty="0">
                <a:solidFill>
                  <a:srgbClr val="0070C0"/>
                </a:solidFill>
                <a:latin typeface="Comic Sans MS" panose="030F0902030302020204" pitchFamily="66" charset="0"/>
              </a:rPr>
              <a:t>1</a:t>
            </a:r>
            <a:r>
              <a:rPr lang="fr-FR" sz="1600" b="1" dirty="0">
                <a:solidFill>
                  <a:srgbClr val="0070C0"/>
                </a:solidFill>
                <a:latin typeface="Comic Sans MS" panose="030F0902030302020204" pitchFamily="66" charset="0"/>
              </a:rPr>
              <a:t>B</a:t>
            </a:r>
            <a:r>
              <a:rPr lang="fr-FR" sz="1600" baseline="-25000" dirty="0">
                <a:latin typeface="Comic Sans MS" panose="030F0902030302020204" pitchFamily="66" charset="0"/>
              </a:rPr>
              <a:t>1</a:t>
            </a:r>
          </a:p>
          <a:p>
            <a:r>
              <a:rPr lang="fr-FR" sz="1600" dirty="0">
                <a:latin typeface="Comic Sans MS" panose="030F0902030302020204" pitchFamily="66" charset="0"/>
              </a:rPr>
              <a:t>	 - Des </a:t>
            </a:r>
            <a:r>
              <a:rPr lang="fr-FR" sz="1600" b="1" dirty="0">
                <a:solidFill>
                  <a:srgbClr val="0070C0"/>
                </a:solidFill>
                <a:latin typeface="Comic Sans MS" panose="030F0902030302020204" pitchFamily="66" charset="0"/>
              </a:rPr>
              <a:t>gamètes parentaux </a:t>
            </a:r>
            <a:r>
              <a:rPr lang="fr-FR" sz="1600" dirty="0">
                <a:latin typeface="Comic Sans MS" panose="030F0902030302020204" pitchFamily="66" charset="0"/>
              </a:rPr>
              <a:t>portant les allèles  </a:t>
            </a:r>
            <a:r>
              <a:rPr lang="fr-FR" sz="1600" b="1" dirty="0">
                <a:solidFill>
                  <a:srgbClr val="0070C0"/>
                </a:solidFill>
                <a:latin typeface="Comic Sans MS" panose="030F0902030302020204" pitchFamily="66" charset="0"/>
              </a:rPr>
              <a:t>A</a:t>
            </a:r>
            <a:r>
              <a:rPr lang="fr-FR" sz="1600" b="1" baseline="-25000" dirty="0">
                <a:solidFill>
                  <a:srgbClr val="0070C0"/>
                </a:solidFill>
                <a:latin typeface="Comic Sans MS" panose="030F0902030302020204" pitchFamily="66" charset="0"/>
              </a:rPr>
              <a:t>2</a:t>
            </a:r>
            <a:r>
              <a:rPr lang="fr-FR" sz="1600" b="1" dirty="0">
                <a:solidFill>
                  <a:srgbClr val="0070C0"/>
                </a:solidFill>
                <a:latin typeface="Comic Sans MS" panose="030F0902030302020204" pitchFamily="66" charset="0"/>
              </a:rPr>
              <a:t>B</a:t>
            </a:r>
            <a:r>
              <a:rPr lang="fr-FR" sz="1600" b="1" baseline="-25000" dirty="0">
                <a:solidFill>
                  <a:srgbClr val="0070C0"/>
                </a:solidFill>
                <a:latin typeface="Comic Sans MS" panose="030F0902030302020204" pitchFamily="66" charset="0"/>
              </a:rPr>
              <a:t>2</a:t>
            </a:r>
          </a:p>
          <a:p>
            <a:r>
              <a:rPr lang="fr-FR" sz="1600" dirty="0">
                <a:latin typeface="Comic Sans MS" panose="030F0902030302020204" pitchFamily="66" charset="0"/>
              </a:rPr>
              <a:t>	 - Des </a:t>
            </a:r>
            <a:r>
              <a:rPr lang="fr-FR" sz="1600" b="1" dirty="0">
                <a:solidFill>
                  <a:srgbClr val="FF0000"/>
                </a:solidFill>
                <a:latin typeface="Comic Sans MS" panose="030F0902030302020204" pitchFamily="66" charset="0"/>
              </a:rPr>
              <a:t>gamètes recombinés </a:t>
            </a:r>
            <a:r>
              <a:rPr lang="fr-FR" sz="1600" dirty="0">
                <a:latin typeface="Comic Sans MS" panose="030F0902030302020204" pitchFamily="66" charset="0"/>
              </a:rPr>
              <a:t>portant les allèles </a:t>
            </a:r>
            <a:r>
              <a:rPr lang="fr-FR" sz="1600" b="1" dirty="0">
                <a:solidFill>
                  <a:srgbClr val="FF0000"/>
                </a:solidFill>
                <a:latin typeface="Comic Sans MS" panose="030F0902030302020204" pitchFamily="66" charset="0"/>
              </a:rPr>
              <a:t>A</a:t>
            </a:r>
            <a:r>
              <a:rPr lang="fr-FR" sz="1600" b="1" baseline="-25000" dirty="0">
                <a:solidFill>
                  <a:srgbClr val="FF0000"/>
                </a:solidFill>
                <a:latin typeface="Comic Sans MS" panose="030F0902030302020204" pitchFamily="66" charset="0"/>
              </a:rPr>
              <a:t>1</a:t>
            </a:r>
            <a:r>
              <a:rPr lang="fr-FR" sz="1600" b="1" dirty="0">
                <a:solidFill>
                  <a:srgbClr val="FF0000"/>
                </a:solidFill>
                <a:latin typeface="Comic Sans MS" panose="030F0902030302020204" pitchFamily="66" charset="0"/>
              </a:rPr>
              <a:t>B</a:t>
            </a:r>
            <a:r>
              <a:rPr lang="fr-FR" sz="1600" b="1" baseline="-25000" dirty="0">
                <a:solidFill>
                  <a:srgbClr val="FF0000"/>
                </a:solidFill>
                <a:latin typeface="Comic Sans MS" panose="030F0902030302020204" pitchFamily="66" charset="0"/>
              </a:rPr>
              <a:t>2</a:t>
            </a:r>
          </a:p>
          <a:p>
            <a:r>
              <a:rPr lang="fr-FR" sz="1600" dirty="0">
                <a:latin typeface="Comic Sans MS" panose="030F0902030302020204" pitchFamily="66" charset="0"/>
              </a:rPr>
              <a:t>	 - Des </a:t>
            </a:r>
            <a:r>
              <a:rPr lang="fr-FR" sz="1600" b="1" dirty="0">
                <a:solidFill>
                  <a:srgbClr val="FF0000"/>
                </a:solidFill>
                <a:latin typeface="Comic Sans MS" panose="030F0902030302020204" pitchFamily="66" charset="0"/>
              </a:rPr>
              <a:t>gamètes recombinés </a:t>
            </a:r>
            <a:r>
              <a:rPr lang="fr-FR" sz="1600" dirty="0">
                <a:latin typeface="Comic Sans MS" panose="030F0902030302020204" pitchFamily="66" charset="0"/>
              </a:rPr>
              <a:t>portant les allèles </a:t>
            </a:r>
            <a:r>
              <a:rPr lang="fr-FR" sz="1600" b="1" dirty="0">
                <a:solidFill>
                  <a:srgbClr val="FF0000"/>
                </a:solidFill>
                <a:latin typeface="Comic Sans MS" panose="030F0902030302020204" pitchFamily="66" charset="0"/>
              </a:rPr>
              <a:t>A</a:t>
            </a:r>
            <a:r>
              <a:rPr lang="fr-FR" sz="1600" b="1" baseline="-25000" dirty="0">
                <a:solidFill>
                  <a:srgbClr val="FF0000"/>
                </a:solidFill>
                <a:latin typeface="Comic Sans MS" panose="030F0902030302020204" pitchFamily="66" charset="0"/>
              </a:rPr>
              <a:t>2</a:t>
            </a:r>
            <a:r>
              <a:rPr lang="fr-FR" sz="1600" b="1" dirty="0">
                <a:solidFill>
                  <a:srgbClr val="FF0000"/>
                </a:solidFill>
                <a:latin typeface="Comic Sans MS" panose="030F0902030302020204" pitchFamily="66" charset="0"/>
              </a:rPr>
              <a:t>B</a:t>
            </a:r>
            <a:r>
              <a:rPr lang="fr-FR" sz="1600" b="1" baseline="-25000" dirty="0">
                <a:solidFill>
                  <a:srgbClr val="FF0000"/>
                </a:solidFill>
                <a:latin typeface="Comic Sans MS" panose="030F0902030302020204" pitchFamily="66" charset="0"/>
              </a:rPr>
              <a:t>1</a:t>
            </a:r>
          </a:p>
        </p:txBody>
      </p:sp>
      <p:pic>
        <p:nvPicPr>
          <p:cNvPr id="5" name="Image 4">
            <a:extLst>
              <a:ext uri="{FF2B5EF4-FFF2-40B4-BE49-F238E27FC236}">
                <a16:creationId xmlns:a16="http://schemas.microsoft.com/office/drawing/2014/main" id="{72246A51-0AC0-4B57-92C6-FED3624A89DE}"/>
              </a:ext>
            </a:extLst>
          </p:cNvPr>
          <p:cNvPicPr>
            <a:picLocks noChangeAspect="1"/>
          </p:cNvPicPr>
          <p:nvPr/>
        </p:nvPicPr>
        <p:blipFill>
          <a:blip r:embed="rId4"/>
          <a:stretch>
            <a:fillRect/>
          </a:stretch>
        </p:blipFill>
        <p:spPr>
          <a:xfrm>
            <a:off x="7890850" y="65084"/>
            <a:ext cx="895343" cy="1223432"/>
          </a:xfrm>
          <a:prstGeom prst="rect">
            <a:avLst/>
          </a:prstGeom>
        </p:spPr>
      </p:pic>
    </p:spTree>
    <p:extLst>
      <p:ext uri="{BB962C8B-B14F-4D97-AF65-F5344CB8AC3E}">
        <p14:creationId xmlns:p14="http://schemas.microsoft.com/office/powerpoint/2010/main" val="1240927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089951B-C67C-4851-9AF1-FF73BF01C76B}"/>
              </a:ext>
            </a:extLst>
          </p:cNvPr>
          <p:cNvPicPr>
            <a:picLocks noChangeAspect="1"/>
          </p:cNvPicPr>
          <p:nvPr/>
        </p:nvPicPr>
        <p:blipFill>
          <a:blip r:embed="rId2"/>
          <a:stretch>
            <a:fillRect/>
          </a:stretch>
        </p:blipFill>
        <p:spPr>
          <a:xfrm>
            <a:off x="264365" y="347352"/>
            <a:ext cx="8615270" cy="6163296"/>
          </a:xfrm>
          <a:prstGeom prst="rect">
            <a:avLst/>
          </a:prstGeom>
          <a:ln w="127000" cap="sq">
            <a:solidFill>
              <a:srgbClr val="FF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921500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e 434"/>
          <p:cNvGrpSpPr/>
          <p:nvPr/>
        </p:nvGrpSpPr>
        <p:grpSpPr>
          <a:xfrm>
            <a:off x="3743805" y="392885"/>
            <a:ext cx="1648569" cy="928694"/>
            <a:chOff x="4095744" y="1000108"/>
            <a:chExt cx="1785950" cy="1000132"/>
          </a:xfrm>
        </p:grpSpPr>
        <p:sp>
          <p:nvSpPr>
            <p:cNvPr id="193" name="Ellipse 192"/>
            <p:cNvSpPr/>
            <p:nvPr/>
          </p:nvSpPr>
          <p:spPr>
            <a:xfrm>
              <a:off x="4095744" y="1000108"/>
              <a:ext cx="1785950" cy="1000132"/>
            </a:xfrm>
            <a:prstGeom prst="ellipse">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grpSp>
          <p:nvGrpSpPr>
            <p:cNvPr id="3" name="Groupe 183"/>
            <p:cNvGrpSpPr/>
            <p:nvPr/>
          </p:nvGrpSpPr>
          <p:grpSpPr>
            <a:xfrm>
              <a:off x="5125641" y="1142984"/>
              <a:ext cx="240773" cy="785818"/>
              <a:chOff x="7490380" y="679345"/>
              <a:chExt cx="240773" cy="785818"/>
            </a:xfrm>
          </p:grpSpPr>
          <p:grpSp>
            <p:nvGrpSpPr>
              <p:cNvPr id="4" name="Groupe 24"/>
              <p:cNvGrpSpPr/>
              <p:nvPr/>
            </p:nvGrpSpPr>
            <p:grpSpPr>
              <a:xfrm>
                <a:off x="7490380" y="679345"/>
                <a:ext cx="240773" cy="785818"/>
                <a:chOff x="2571736" y="642918"/>
                <a:chExt cx="285752" cy="1285884"/>
              </a:xfrm>
              <a:solidFill>
                <a:srgbClr val="FFFF00"/>
              </a:solidFill>
            </p:grpSpPr>
            <p:sp>
              <p:nvSpPr>
                <p:cNvPr id="163" name="Arc plein 162"/>
                <p:cNvSpPr/>
                <p:nvPr/>
              </p:nvSpPr>
              <p:spPr>
                <a:xfrm>
                  <a:off x="2571736" y="1285860"/>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164" name="Arc plein 163"/>
                <p:cNvSpPr/>
                <p:nvPr/>
              </p:nvSpPr>
              <p:spPr>
                <a:xfrm rot="10800000">
                  <a:off x="2571736" y="642918"/>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182" name="Ellipse 181"/>
              <p:cNvSpPr/>
              <p:nvPr/>
            </p:nvSpPr>
            <p:spPr>
              <a:xfrm>
                <a:off x="7556766" y="1024254"/>
                <a:ext cx="108000" cy="96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5" name="Groupe 179"/>
            <p:cNvGrpSpPr/>
            <p:nvPr/>
          </p:nvGrpSpPr>
          <p:grpSpPr>
            <a:xfrm>
              <a:off x="4381496" y="1000108"/>
              <a:ext cx="275169" cy="928694"/>
              <a:chOff x="6639078" y="536469"/>
              <a:chExt cx="275169" cy="928694"/>
            </a:xfrm>
          </p:grpSpPr>
          <p:grpSp>
            <p:nvGrpSpPr>
              <p:cNvPr id="6" name="Groupe 24"/>
              <p:cNvGrpSpPr/>
              <p:nvPr/>
            </p:nvGrpSpPr>
            <p:grpSpPr>
              <a:xfrm>
                <a:off x="6639078" y="536469"/>
                <a:ext cx="275169" cy="928694"/>
                <a:chOff x="2571736" y="642918"/>
                <a:chExt cx="285752" cy="1285884"/>
              </a:xfrm>
            </p:grpSpPr>
            <p:sp>
              <p:nvSpPr>
                <p:cNvPr id="169" name="Arc plein 168"/>
                <p:cNvSpPr/>
                <p:nvPr/>
              </p:nvSpPr>
              <p:spPr>
                <a:xfrm>
                  <a:off x="2571736" y="1285860"/>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170" name="Arc plein 169"/>
                <p:cNvSpPr/>
                <p:nvPr/>
              </p:nvSpPr>
              <p:spPr>
                <a:xfrm rot="10800000">
                  <a:off x="2571736" y="642918"/>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178" name="Ellipse 177"/>
              <p:cNvSpPr/>
              <p:nvPr/>
            </p:nvSpPr>
            <p:spPr>
              <a:xfrm>
                <a:off x="6722662" y="948816"/>
                <a:ext cx="108000" cy="104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7" name="Groupe 180"/>
            <p:cNvGrpSpPr/>
            <p:nvPr/>
          </p:nvGrpSpPr>
          <p:grpSpPr>
            <a:xfrm>
              <a:off x="4738686" y="1000108"/>
              <a:ext cx="275169" cy="928694"/>
              <a:chOff x="6983039" y="536469"/>
              <a:chExt cx="275169" cy="928694"/>
            </a:xfrm>
          </p:grpSpPr>
          <p:grpSp>
            <p:nvGrpSpPr>
              <p:cNvPr id="8" name="Groupe 21"/>
              <p:cNvGrpSpPr/>
              <p:nvPr/>
            </p:nvGrpSpPr>
            <p:grpSpPr>
              <a:xfrm>
                <a:off x="6983039" y="536469"/>
                <a:ext cx="275169" cy="928694"/>
                <a:chOff x="2571736" y="642918"/>
                <a:chExt cx="285752" cy="1285884"/>
              </a:xfrm>
              <a:solidFill>
                <a:srgbClr val="FFFF00"/>
              </a:solidFill>
            </p:grpSpPr>
            <p:sp>
              <p:nvSpPr>
                <p:cNvPr id="171" name="Arc plein 170"/>
                <p:cNvSpPr/>
                <p:nvPr/>
              </p:nvSpPr>
              <p:spPr>
                <a:xfrm>
                  <a:off x="2571736" y="1285860"/>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172" name="Arc plein 171"/>
                <p:cNvSpPr/>
                <p:nvPr/>
              </p:nvSpPr>
              <p:spPr>
                <a:xfrm rot="10800000">
                  <a:off x="2571736" y="642918"/>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179" name="Ellipse 178"/>
              <p:cNvSpPr/>
              <p:nvPr/>
            </p:nvSpPr>
            <p:spPr>
              <a:xfrm>
                <a:off x="7066623" y="948816"/>
                <a:ext cx="108000" cy="104000"/>
              </a:xfrm>
              <a:prstGeom prst="ellipse">
                <a:avLst/>
              </a:prstGeom>
              <a:solidFill>
                <a:srgbClr val="FFFF00"/>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9" name="Groupe 184"/>
            <p:cNvGrpSpPr/>
            <p:nvPr/>
          </p:nvGrpSpPr>
          <p:grpSpPr>
            <a:xfrm>
              <a:off x="5426607" y="1142984"/>
              <a:ext cx="240773" cy="785818"/>
              <a:chOff x="7791346" y="679345"/>
              <a:chExt cx="240773" cy="785818"/>
            </a:xfrm>
          </p:grpSpPr>
          <p:grpSp>
            <p:nvGrpSpPr>
              <p:cNvPr id="10" name="Groupe 21"/>
              <p:cNvGrpSpPr/>
              <p:nvPr/>
            </p:nvGrpSpPr>
            <p:grpSpPr>
              <a:xfrm>
                <a:off x="7791346" y="679345"/>
                <a:ext cx="240773" cy="785818"/>
                <a:chOff x="2571736" y="642918"/>
                <a:chExt cx="285752" cy="1285884"/>
              </a:xfrm>
              <a:solidFill>
                <a:srgbClr val="FFFF00"/>
              </a:solidFill>
            </p:grpSpPr>
            <p:sp>
              <p:nvSpPr>
                <p:cNvPr id="165" name="Arc plein 164"/>
                <p:cNvSpPr/>
                <p:nvPr/>
              </p:nvSpPr>
              <p:spPr>
                <a:xfrm>
                  <a:off x="2571736" y="1285860"/>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166" name="Arc plein 165"/>
                <p:cNvSpPr/>
                <p:nvPr/>
              </p:nvSpPr>
              <p:spPr>
                <a:xfrm rot="10800000">
                  <a:off x="2571736" y="642918"/>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183" name="Ellipse 182"/>
              <p:cNvSpPr/>
              <p:nvPr/>
            </p:nvSpPr>
            <p:spPr>
              <a:xfrm>
                <a:off x="7857732" y="1024254"/>
                <a:ext cx="108000" cy="96000"/>
              </a:xfrm>
              <a:prstGeom prst="ellipse">
                <a:avLst/>
              </a:prstGeom>
              <a:solidFill>
                <a:srgbClr val="FFFF00"/>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grpSp>
        <p:nvGrpSpPr>
          <p:cNvPr id="96" name="Groupe 440"/>
          <p:cNvGrpSpPr/>
          <p:nvPr/>
        </p:nvGrpSpPr>
        <p:grpSpPr>
          <a:xfrm>
            <a:off x="5455239" y="3172979"/>
            <a:ext cx="2967410" cy="1214446"/>
            <a:chOff x="952488" y="3143248"/>
            <a:chExt cx="3214694" cy="1214446"/>
          </a:xfrm>
        </p:grpSpPr>
        <p:sp>
          <p:nvSpPr>
            <p:cNvPr id="344" name="Ellipse 343"/>
            <p:cNvSpPr/>
            <p:nvPr/>
          </p:nvSpPr>
          <p:spPr>
            <a:xfrm>
              <a:off x="3238488" y="3429000"/>
              <a:ext cx="928694" cy="928694"/>
            </a:xfrm>
            <a:prstGeom prst="ellipse">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grpSp>
          <p:nvGrpSpPr>
            <p:cNvPr id="97" name="Groupe 189"/>
            <p:cNvGrpSpPr/>
            <p:nvPr/>
          </p:nvGrpSpPr>
          <p:grpSpPr>
            <a:xfrm>
              <a:off x="1839492" y="3143248"/>
              <a:ext cx="1470431" cy="296035"/>
              <a:chOff x="3654341" y="3269814"/>
              <a:chExt cx="2043267" cy="581787"/>
            </a:xfrm>
            <a:solidFill>
              <a:schemeClr val="accent4">
                <a:lumMod val="60000"/>
                <a:lumOff val="40000"/>
              </a:schemeClr>
            </a:solidFill>
          </p:grpSpPr>
          <p:sp>
            <p:nvSpPr>
              <p:cNvPr id="231" name="Flèche vers le bas 230"/>
              <p:cNvSpPr/>
              <p:nvPr/>
            </p:nvSpPr>
            <p:spPr>
              <a:xfrm rot="2018616">
                <a:off x="3654341" y="3269814"/>
                <a:ext cx="231661" cy="571504"/>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sp>
            <p:nvSpPr>
              <p:cNvPr id="232" name="Flèche vers le bas 231"/>
              <p:cNvSpPr/>
              <p:nvPr/>
            </p:nvSpPr>
            <p:spPr>
              <a:xfrm rot="19096080">
                <a:off x="5461653" y="3280097"/>
                <a:ext cx="235955" cy="571504"/>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grpSp>
        <p:sp>
          <p:nvSpPr>
            <p:cNvPr id="333" name="Ellipse 332"/>
            <p:cNvSpPr/>
            <p:nvPr/>
          </p:nvSpPr>
          <p:spPr>
            <a:xfrm>
              <a:off x="952488" y="3381375"/>
              <a:ext cx="928694" cy="928694"/>
            </a:xfrm>
            <a:prstGeom prst="ellipse">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grpSp>
          <p:nvGrpSpPr>
            <p:cNvPr id="98" name="Groupe 333"/>
            <p:cNvGrpSpPr/>
            <p:nvPr/>
          </p:nvGrpSpPr>
          <p:grpSpPr>
            <a:xfrm>
              <a:off x="1140343" y="3381375"/>
              <a:ext cx="275169" cy="928694"/>
              <a:chOff x="6983039" y="536469"/>
              <a:chExt cx="275169" cy="928694"/>
            </a:xfrm>
          </p:grpSpPr>
          <p:grpSp>
            <p:nvGrpSpPr>
              <p:cNvPr id="99" name="Groupe 21"/>
              <p:cNvGrpSpPr/>
              <p:nvPr/>
            </p:nvGrpSpPr>
            <p:grpSpPr>
              <a:xfrm>
                <a:off x="6983039" y="536469"/>
                <a:ext cx="275169" cy="928694"/>
                <a:chOff x="2571736" y="642918"/>
                <a:chExt cx="285752" cy="1285884"/>
              </a:xfrm>
              <a:solidFill>
                <a:srgbClr val="FFFF00"/>
              </a:solidFill>
            </p:grpSpPr>
            <p:sp>
              <p:nvSpPr>
                <p:cNvPr id="337" name="Arc plein 336"/>
                <p:cNvSpPr/>
                <p:nvPr/>
              </p:nvSpPr>
              <p:spPr>
                <a:xfrm>
                  <a:off x="2571736" y="1285860"/>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338" name="Arc plein 337"/>
                <p:cNvSpPr/>
                <p:nvPr/>
              </p:nvSpPr>
              <p:spPr>
                <a:xfrm rot="10800000">
                  <a:off x="2571736" y="642918"/>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336" name="Ellipse 335"/>
              <p:cNvSpPr/>
              <p:nvPr/>
            </p:nvSpPr>
            <p:spPr>
              <a:xfrm>
                <a:off x="7066623" y="948816"/>
                <a:ext cx="108000" cy="104000"/>
              </a:xfrm>
              <a:prstGeom prst="ellipse">
                <a:avLst/>
              </a:prstGeom>
              <a:solidFill>
                <a:srgbClr val="FFFF00"/>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100" name="Groupe 338"/>
            <p:cNvGrpSpPr/>
            <p:nvPr/>
          </p:nvGrpSpPr>
          <p:grpSpPr>
            <a:xfrm>
              <a:off x="3783533" y="3500438"/>
              <a:ext cx="240773" cy="785818"/>
              <a:chOff x="7791346" y="679345"/>
              <a:chExt cx="240773" cy="785818"/>
            </a:xfrm>
          </p:grpSpPr>
          <p:grpSp>
            <p:nvGrpSpPr>
              <p:cNvPr id="101" name="Groupe 21"/>
              <p:cNvGrpSpPr/>
              <p:nvPr/>
            </p:nvGrpSpPr>
            <p:grpSpPr>
              <a:xfrm>
                <a:off x="7791346" y="679345"/>
                <a:ext cx="240773" cy="785818"/>
                <a:chOff x="2571736" y="642918"/>
                <a:chExt cx="285752" cy="1285884"/>
              </a:xfrm>
              <a:solidFill>
                <a:srgbClr val="FFFF00"/>
              </a:solidFill>
            </p:grpSpPr>
            <p:sp>
              <p:nvSpPr>
                <p:cNvPr id="342" name="Arc plein 341"/>
                <p:cNvSpPr/>
                <p:nvPr/>
              </p:nvSpPr>
              <p:spPr>
                <a:xfrm>
                  <a:off x="2571736" y="1285860"/>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343" name="Arc plein 342"/>
                <p:cNvSpPr/>
                <p:nvPr/>
              </p:nvSpPr>
              <p:spPr>
                <a:xfrm rot="10800000">
                  <a:off x="2571736" y="642918"/>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341" name="Ellipse 340"/>
              <p:cNvSpPr/>
              <p:nvPr/>
            </p:nvSpPr>
            <p:spPr>
              <a:xfrm>
                <a:off x="7857732" y="1024254"/>
                <a:ext cx="108000" cy="96000"/>
              </a:xfrm>
              <a:prstGeom prst="ellipse">
                <a:avLst/>
              </a:prstGeom>
              <a:solidFill>
                <a:srgbClr val="FFFF00"/>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102" name="Groupe 344"/>
            <p:cNvGrpSpPr/>
            <p:nvPr/>
          </p:nvGrpSpPr>
          <p:grpSpPr>
            <a:xfrm>
              <a:off x="3435858" y="3390883"/>
              <a:ext cx="275169" cy="928694"/>
              <a:chOff x="6639078" y="536469"/>
              <a:chExt cx="275169" cy="928694"/>
            </a:xfrm>
          </p:grpSpPr>
          <p:grpSp>
            <p:nvGrpSpPr>
              <p:cNvPr id="103" name="Groupe 24"/>
              <p:cNvGrpSpPr/>
              <p:nvPr/>
            </p:nvGrpSpPr>
            <p:grpSpPr>
              <a:xfrm>
                <a:off x="6639078" y="536469"/>
                <a:ext cx="275169" cy="928694"/>
                <a:chOff x="2571736" y="642918"/>
                <a:chExt cx="285752" cy="1285884"/>
              </a:xfrm>
            </p:grpSpPr>
            <p:sp>
              <p:nvSpPr>
                <p:cNvPr id="348" name="Arc plein 347"/>
                <p:cNvSpPr/>
                <p:nvPr/>
              </p:nvSpPr>
              <p:spPr>
                <a:xfrm>
                  <a:off x="2571736" y="1285860"/>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349" name="Arc plein 348"/>
                <p:cNvSpPr/>
                <p:nvPr/>
              </p:nvSpPr>
              <p:spPr>
                <a:xfrm rot="10800000">
                  <a:off x="2571736" y="642918"/>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347" name="Ellipse 346"/>
              <p:cNvSpPr/>
              <p:nvPr/>
            </p:nvSpPr>
            <p:spPr>
              <a:xfrm>
                <a:off x="6722662" y="948816"/>
                <a:ext cx="108000" cy="104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104" name="Groupe 349"/>
            <p:cNvGrpSpPr/>
            <p:nvPr/>
          </p:nvGrpSpPr>
          <p:grpSpPr>
            <a:xfrm>
              <a:off x="1497517" y="3500438"/>
              <a:ext cx="240773" cy="785818"/>
              <a:chOff x="7490380" y="679345"/>
              <a:chExt cx="240773" cy="785818"/>
            </a:xfrm>
          </p:grpSpPr>
          <p:grpSp>
            <p:nvGrpSpPr>
              <p:cNvPr id="105" name="Groupe 24"/>
              <p:cNvGrpSpPr/>
              <p:nvPr/>
            </p:nvGrpSpPr>
            <p:grpSpPr>
              <a:xfrm>
                <a:off x="7490380" y="679345"/>
                <a:ext cx="240773" cy="785818"/>
                <a:chOff x="2571736" y="642918"/>
                <a:chExt cx="285752" cy="1285884"/>
              </a:xfrm>
              <a:solidFill>
                <a:srgbClr val="FFFF00"/>
              </a:solidFill>
            </p:grpSpPr>
            <p:sp>
              <p:nvSpPr>
                <p:cNvPr id="353" name="Arc plein 352"/>
                <p:cNvSpPr/>
                <p:nvPr/>
              </p:nvSpPr>
              <p:spPr>
                <a:xfrm>
                  <a:off x="2571736" y="1285860"/>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354" name="Arc plein 353"/>
                <p:cNvSpPr/>
                <p:nvPr/>
              </p:nvSpPr>
              <p:spPr>
                <a:xfrm rot="10800000">
                  <a:off x="2571736" y="642918"/>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352" name="Ellipse 351"/>
              <p:cNvSpPr/>
              <p:nvPr/>
            </p:nvSpPr>
            <p:spPr>
              <a:xfrm>
                <a:off x="7556766" y="1024254"/>
                <a:ext cx="108000" cy="96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grpSp>
        <p:nvGrpSpPr>
          <p:cNvPr id="106" name="Groupe 436"/>
          <p:cNvGrpSpPr/>
          <p:nvPr/>
        </p:nvGrpSpPr>
        <p:grpSpPr>
          <a:xfrm>
            <a:off x="5887632" y="1467099"/>
            <a:ext cx="1611817" cy="1433519"/>
            <a:chOff x="1420914" y="1643050"/>
            <a:chExt cx="1746136" cy="1433519"/>
          </a:xfrm>
        </p:grpSpPr>
        <p:sp>
          <p:nvSpPr>
            <p:cNvPr id="290" name="Ellipse 289"/>
            <p:cNvSpPr/>
            <p:nvPr/>
          </p:nvSpPr>
          <p:spPr>
            <a:xfrm>
              <a:off x="1881166" y="1724018"/>
              <a:ext cx="1285884" cy="1285884"/>
            </a:xfrm>
            <a:prstGeom prst="ellipse">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grpSp>
          <p:nvGrpSpPr>
            <p:cNvPr id="107" name="Groupe 290"/>
            <p:cNvGrpSpPr/>
            <p:nvPr/>
          </p:nvGrpSpPr>
          <p:grpSpPr>
            <a:xfrm>
              <a:off x="2209796" y="1643050"/>
              <a:ext cx="275169" cy="928694"/>
              <a:chOff x="6639078" y="536469"/>
              <a:chExt cx="275169" cy="928694"/>
            </a:xfrm>
          </p:grpSpPr>
          <p:grpSp>
            <p:nvGrpSpPr>
              <p:cNvPr id="108" name="Groupe 24"/>
              <p:cNvGrpSpPr/>
              <p:nvPr/>
            </p:nvGrpSpPr>
            <p:grpSpPr>
              <a:xfrm>
                <a:off x="6639078" y="536469"/>
                <a:ext cx="275169" cy="928694"/>
                <a:chOff x="2571736" y="642918"/>
                <a:chExt cx="285752" cy="1285884"/>
              </a:xfrm>
            </p:grpSpPr>
            <p:sp>
              <p:nvSpPr>
                <p:cNvPr id="294" name="Arc plein 293"/>
                <p:cNvSpPr/>
                <p:nvPr/>
              </p:nvSpPr>
              <p:spPr>
                <a:xfrm>
                  <a:off x="2571736" y="1285860"/>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295" name="Arc plein 294"/>
                <p:cNvSpPr/>
                <p:nvPr/>
              </p:nvSpPr>
              <p:spPr>
                <a:xfrm rot="10800000">
                  <a:off x="2571736" y="642918"/>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293" name="Ellipse 292"/>
              <p:cNvSpPr/>
              <p:nvPr/>
            </p:nvSpPr>
            <p:spPr>
              <a:xfrm>
                <a:off x="6722662" y="948816"/>
                <a:ext cx="108000" cy="104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109" name="Groupe 295"/>
            <p:cNvGrpSpPr/>
            <p:nvPr/>
          </p:nvGrpSpPr>
          <p:grpSpPr>
            <a:xfrm>
              <a:off x="2214561" y="2147875"/>
              <a:ext cx="275169" cy="928694"/>
              <a:chOff x="6983039" y="536469"/>
              <a:chExt cx="275169" cy="928694"/>
            </a:xfrm>
          </p:grpSpPr>
          <p:grpSp>
            <p:nvGrpSpPr>
              <p:cNvPr id="110" name="Groupe 21"/>
              <p:cNvGrpSpPr/>
              <p:nvPr/>
            </p:nvGrpSpPr>
            <p:grpSpPr>
              <a:xfrm>
                <a:off x="6983039" y="536469"/>
                <a:ext cx="275169" cy="928694"/>
                <a:chOff x="2571736" y="642918"/>
                <a:chExt cx="285752" cy="1285884"/>
              </a:xfrm>
              <a:solidFill>
                <a:srgbClr val="FFFF00"/>
              </a:solidFill>
            </p:grpSpPr>
            <p:sp>
              <p:nvSpPr>
                <p:cNvPr id="299" name="Arc plein 298"/>
                <p:cNvSpPr/>
                <p:nvPr/>
              </p:nvSpPr>
              <p:spPr>
                <a:xfrm>
                  <a:off x="2571736" y="1285860"/>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300" name="Arc plein 299"/>
                <p:cNvSpPr/>
                <p:nvPr/>
              </p:nvSpPr>
              <p:spPr>
                <a:xfrm rot="10800000">
                  <a:off x="2571736" y="642918"/>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298" name="Ellipse 297"/>
              <p:cNvSpPr/>
              <p:nvPr/>
            </p:nvSpPr>
            <p:spPr>
              <a:xfrm>
                <a:off x="7066623" y="948816"/>
                <a:ext cx="108000" cy="104000"/>
              </a:xfrm>
              <a:prstGeom prst="ellipse">
                <a:avLst/>
              </a:prstGeom>
              <a:solidFill>
                <a:srgbClr val="FFFF00"/>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111" name="Groupe 300"/>
            <p:cNvGrpSpPr/>
            <p:nvPr/>
          </p:nvGrpSpPr>
          <p:grpSpPr>
            <a:xfrm>
              <a:off x="2630091" y="2214554"/>
              <a:ext cx="240773" cy="785818"/>
              <a:chOff x="7490380" y="679345"/>
              <a:chExt cx="240773" cy="785818"/>
            </a:xfrm>
          </p:grpSpPr>
          <p:grpSp>
            <p:nvGrpSpPr>
              <p:cNvPr id="112" name="Groupe 24"/>
              <p:cNvGrpSpPr/>
              <p:nvPr/>
            </p:nvGrpSpPr>
            <p:grpSpPr>
              <a:xfrm>
                <a:off x="7490380" y="679345"/>
                <a:ext cx="240773" cy="785818"/>
                <a:chOff x="2571736" y="642918"/>
                <a:chExt cx="285752" cy="1285884"/>
              </a:xfrm>
              <a:solidFill>
                <a:srgbClr val="FFFF00"/>
              </a:solidFill>
            </p:grpSpPr>
            <p:sp>
              <p:nvSpPr>
                <p:cNvPr id="304" name="Arc plein 303"/>
                <p:cNvSpPr/>
                <p:nvPr/>
              </p:nvSpPr>
              <p:spPr>
                <a:xfrm>
                  <a:off x="2571736" y="1285860"/>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305" name="Arc plein 304"/>
                <p:cNvSpPr/>
                <p:nvPr/>
              </p:nvSpPr>
              <p:spPr>
                <a:xfrm rot="10800000">
                  <a:off x="2571736" y="642918"/>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303" name="Ellipse 302"/>
              <p:cNvSpPr/>
              <p:nvPr/>
            </p:nvSpPr>
            <p:spPr>
              <a:xfrm>
                <a:off x="7556766" y="1024254"/>
                <a:ext cx="108000" cy="96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113" name="Groupe 305"/>
            <p:cNvGrpSpPr/>
            <p:nvPr/>
          </p:nvGrpSpPr>
          <p:grpSpPr>
            <a:xfrm>
              <a:off x="2640525" y="1785926"/>
              <a:ext cx="240773" cy="785818"/>
              <a:chOff x="7791346" y="679345"/>
              <a:chExt cx="240773" cy="785818"/>
            </a:xfrm>
          </p:grpSpPr>
          <p:grpSp>
            <p:nvGrpSpPr>
              <p:cNvPr id="114" name="Groupe 21"/>
              <p:cNvGrpSpPr/>
              <p:nvPr/>
            </p:nvGrpSpPr>
            <p:grpSpPr>
              <a:xfrm>
                <a:off x="7791346" y="679345"/>
                <a:ext cx="240773" cy="785818"/>
                <a:chOff x="2571736" y="642918"/>
                <a:chExt cx="285752" cy="1285884"/>
              </a:xfrm>
              <a:solidFill>
                <a:srgbClr val="FFFF00"/>
              </a:solidFill>
            </p:grpSpPr>
            <p:sp>
              <p:nvSpPr>
                <p:cNvPr id="309" name="Arc plein 308"/>
                <p:cNvSpPr/>
                <p:nvPr/>
              </p:nvSpPr>
              <p:spPr>
                <a:xfrm>
                  <a:off x="2571736" y="1285860"/>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310" name="Arc plein 309"/>
                <p:cNvSpPr/>
                <p:nvPr/>
              </p:nvSpPr>
              <p:spPr>
                <a:xfrm rot="10800000">
                  <a:off x="2571736" y="642918"/>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308" name="Ellipse 307"/>
              <p:cNvSpPr/>
              <p:nvPr/>
            </p:nvSpPr>
            <p:spPr>
              <a:xfrm>
                <a:off x="7857732" y="1024254"/>
                <a:ext cx="108000" cy="96000"/>
              </a:xfrm>
              <a:prstGeom prst="ellipse">
                <a:avLst/>
              </a:prstGeom>
              <a:solidFill>
                <a:srgbClr val="FFFF00"/>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sp>
          <p:nvSpPr>
            <p:cNvPr id="389" name="Flèche vers le bas 388"/>
            <p:cNvSpPr/>
            <p:nvPr/>
          </p:nvSpPr>
          <p:spPr>
            <a:xfrm rot="18361375" flipH="1">
              <a:off x="1481412" y="1724056"/>
              <a:ext cx="169805" cy="290801"/>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grpSp>
      <p:grpSp>
        <p:nvGrpSpPr>
          <p:cNvPr id="134" name="Groupe 446"/>
          <p:cNvGrpSpPr/>
          <p:nvPr/>
        </p:nvGrpSpPr>
        <p:grpSpPr>
          <a:xfrm>
            <a:off x="4334197" y="4458863"/>
            <a:ext cx="4739048" cy="1405738"/>
            <a:chOff x="-261974" y="4429132"/>
            <a:chExt cx="5133969" cy="1405738"/>
          </a:xfrm>
        </p:grpSpPr>
        <p:grpSp>
          <p:nvGrpSpPr>
            <p:cNvPr id="135" name="Groupe 445"/>
            <p:cNvGrpSpPr/>
            <p:nvPr/>
          </p:nvGrpSpPr>
          <p:grpSpPr>
            <a:xfrm>
              <a:off x="-261974" y="4429132"/>
              <a:ext cx="5133969" cy="1405738"/>
              <a:chOff x="-261974" y="4429132"/>
              <a:chExt cx="5133969" cy="1405738"/>
            </a:xfrm>
          </p:grpSpPr>
          <p:grpSp>
            <p:nvGrpSpPr>
              <p:cNvPr id="136" name="Groupe 370"/>
              <p:cNvGrpSpPr/>
              <p:nvPr/>
            </p:nvGrpSpPr>
            <p:grpSpPr>
              <a:xfrm>
                <a:off x="-261974" y="5120490"/>
                <a:ext cx="5133969" cy="714380"/>
                <a:chOff x="-126417" y="5120490"/>
                <a:chExt cx="5133969" cy="714380"/>
              </a:xfrm>
            </p:grpSpPr>
            <p:grpSp>
              <p:nvGrpSpPr>
                <p:cNvPr id="137" name="Groupe 357"/>
                <p:cNvGrpSpPr/>
                <p:nvPr/>
              </p:nvGrpSpPr>
              <p:grpSpPr>
                <a:xfrm rot="19341147">
                  <a:off x="3435916" y="5120490"/>
                  <a:ext cx="1571636" cy="714380"/>
                  <a:chOff x="3238488" y="4857760"/>
                  <a:chExt cx="1571636" cy="714380"/>
                </a:xfrm>
              </p:grpSpPr>
              <p:sp>
                <p:nvSpPr>
                  <p:cNvPr id="357" name="Forme libre 356"/>
                  <p:cNvSpPr/>
                  <p:nvPr/>
                </p:nvSpPr>
                <p:spPr>
                  <a:xfrm>
                    <a:off x="3238488" y="5214950"/>
                    <a:ext cx="672176" cy="209858"/>
                  </a:xfrm>
                  <a:custGeom>
                    <a:avLst/>
                    <a:gdLst>
                      <a:gd name="connsiteX0" fmla="*/ 672176 w 672176"/>
                      <a:gd name="connsiteY0" fmla="*/ 308 h 209858"/>
                      <a:gd name="connsiteX1" fmla="*/ 529301 w 672176"/>
                      <a:gd name="connsiteY1" fmla="*/ 9833 h 209858"/>
                      <a:gd name="connsiteX2" fmla="*/ 491201 w 672176"/>
                      <a:gd name="connsiteY2" fmla="*/ 38408 h 209858"/>
                      <a:gd name="connsiteX3" fmla="*/ 434051 w 672176"/>
                      <a:gd name="connsiteY3" fmla="*/ 95558 h 209858"/>
                      <a:gd name="connsiteX4" fmla="*/ 405476 w 672176"/>
                      <a:gd name="connsiteY4" fmla="*/ 124133 h 209858"/>
                      <a:gd name="connsiteX5" fmla="*/ 376901 w 672176"/>
                      <a:gd name="connsiteY5" fmla="*/ 143183 h 209858"/>
                      <a:gd name="connsiteX6" fmla="*/ 357851 w 672176"/>
                      <a:gd name="connsiteY6" fmla="*/ 171758 h 209858"/>
                      <a:gd name="connsiteX7" fmla="*/ 281651 w 672176"/>
                      <a:gd name="connsiteY7" fmla="*/ 200333 h 209858"/>
                      <a:gd name="connsiteX8" fmla="*/ 253076 w 672176"/>
                      <a:gd name="connsiteY8" fmla="*/ 209858 h 209858"/>
                      <a:gd name="connsiteX9" fmla="*/ 129251 w 672176"/>
                      <a:gd name="connsiteY9" fmla="*/ 190808 h 209858"/>
                      <a:gd name="connsiteX10" fmla="*/ 72101 w 672176"/>
                      <a:gd name="connsiteY10" fmla="*/ 162233 h 209858"/>
                      <a:gd name="connsiteX11" fmla="*/ 34001 w 672176"/>
                      <a:gd name="connsiteY11" fmla="*/ 133658 h 209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2176" h="209858">
                        <a:moveTo>
                          <a:pt x="672176" y="308"/>
                        </a:moveTo>
                        <a:cubicBezTo>
                          <a:pt x="624551" y="3483"/>
                          <a:pt x="576008" y="0"/>
                          <a:pt x="529301" y="9833"/>
                        </a:cubicBezTo>
                        <a:cubicBezTo>
                          <a:pt x="513767" y="13103"/>
                          <a:pt x="503001" y="27788"/>
                          <a:pt x="491201" y="38408"/>
                        </a:cubicBezTo>
                        <a:cubicBezTo>
                          <a:pt x="471176" y="56430"/>
                          <a:pt x="453101" y="76508"/>
                          <a:pt x="434051" y="95558"/>
                        </a:cubicBezTo>
                        <a:cubicBezTo>
                          <a:pt x="424526" y="105083"/>
                          <a:pt x="416684" y="116661"/>
                          <a:pt x="405476" y="124133"/>
                        </a:cubicBezTo>
                        <a:lnTo>
                          <a:pt x="376901" y="143183"/>
                        </a:lnTo>
                        <a:cubicBezTo>
                          <a:pt x="370551" y="152708"/>
                          <a:pt x="366645" y="164429"/>
                          <a:pt x="357851" y="171758"/>
                        </a:cubicBezTo>
                        <a:cubicBezTo>
                          <a:pt x="334691" y="191058"/>
                          <a:pt x="308957" y="192531"/>
                          <a:pt x="281651" y="200333"/>
                        </a:cubicBezTo>
                        <a:cubicBezTo>
                          <a:pt x="271997" y="203091"/>
                          <a:pt x="262601" y="206683"/>
                          <a:pt x="253076" y="209858"/>
                        </a:cubicBezTo>
                        <a:cubicBezTo>
                          <a:pt x="235867" y="207946"/>
                          <a:pt x="158123" y="203182"/>
                          <a:pt x="129251" y="190808"/>
                        </a:cubicBezTo>
                        <a:cubicBezTo>
                          <a:pt x="0" y="135415"/>
                          <a:pt x="192508" y="202369"/>
                          <a:pt x="72101" y="162233"/>
                        </a:cubicBezTo>
                        <a:cubicBezTo>
                          <a:pt x="49529" y="128374"/>
                          <a:pt x="64499" y="133658"/>
                          <a:pt x="34001" y="133658"/>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fr-FR"/>
                  </a:p>
                </p:txBody>
              </p:sp>
              <p:sp>
                <p:nvSpPr>
                  <p:cNvPr id="356" name="Rectangle à coins arrondis 355"/>
                  <p:cNvSpPr/>
                  <p:nvPr/>
                </p:nvSpPr>
                <p:spPr>
                  <a:xfrm>
                    <a:off x="3881430" y="5143512"/>
                    <a:ext cx="428628" cy="1428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55" name="Ellipse 354"/>
                  <p:cNvSpPr/>
                  <p:nvPr/>
                </p:nvSpPr>
                <p:spPr>
                  <a:xfrm>
                    <a:off x="4095744" y="4857760"/>
                    <a:ext cx="714380" cy="71438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140" name="Groupe 358"/>
                <p:cNvGrpSpPr/>
                <p:nvPr/>
              </p:nvGrpSpPr>
              <p:grpSpPr>
                <a:xfrm rot="19341147">
                  <a:off x="2248471" y="5120490"/>
                  <a:ext cx="1571636" cy="714380"/>
                  <a:chOff x="3238488" y="4857760"/>
                  <a:chExt cx="1571636" cy="714380"/>
                </a:xfrm>
              </p:grpSpPr>
              <p:sp>
                <p:nvSpPr>
                  <p:cNvPr id="360" name="Forme libre 359"/>
                  <p:cNvSpPr/>
                  <p:nvPr/>
                </p:nvSpPr>
                <p:spPr>
                  <a:xfrm>
                    <a:off x="3238488" y="5214950"/>
                    <a:ext cx="672176" cy="209858"/>
                  </a:xfrm>
                  <a:custGeom>
                    <a:avLst/>
                    <a:gdLst>
                      <a:gd name="connsiteX0" fmla="*/ 672176 w 672176"/>
                      <a:gd name="connsiteY0" fmla="*/ 308 h 209858"/>
                      <a:gd name="connsiteX1" fmla="*/ 529301 w 672176"/>
                      <a:gd name="connsiteY1" fmla="*/ 9833 h 209858"/>
                      <a:gd name="connsiteX2" fmla="*/ 491201 w 672176"/>
                      <a:gd name="connsiteY2" fmla="*/ 38408 h 209858"/>
                      <a:gd name="connsiteX3" fmla="*/ 434051 w 672176"/>
                      <a:gd name="connsiteY3" fmla="*/ 95558 h 209858"/>
                      <a:gd name="connsiteX4" fmla="*/ 405476 w 672176"/>
                      <a:gd name="connsiteY4" fmla="*/ 124133 h 209858"/>
                      <a:gd name="connsiteX5" fmla="*/ 376901 w 672176"/>
                      <a:gd name="connsiteY5" fmla="*/ 143183 h 209858"/>
                      <a:gd name="connsiteX6" fmla="*/ 357851 w 672176"/>
                      <a:gd name="connsiteY6" fmla="*/ 171758 h 209858"/>
                      <a:gd name="connsiteX7" fmla="*/ 281651 w 672176"/>
                      <a:gd name="connsiteY7" fmla="*/ 200333 h 209858"/>
                      <a:gd name="connsiteX8" fmla="*/ 253076 w 672176"/>
                      <a:gd name="connsiteY8" fmla="*/ 209858 h 209858"/>
                      <a:gd name="connsiteX9" fmla="*/ 129251 w 672176"/>
                      <a:gd name="connsiteY9" fmla="*/ 190808 h 209858"/>
                      <a:gd name="connsiteX10" fmla="*/ 72101 w 672176"/>
                      <a:gd name="connsiteY10" fmla="*/ 162233 h 209858"/>
                      <a:gd name="connsiteX11" fmla="*/ 34001 w 672176"/>
                      <a:gd name="connsiteY11" fmla="*/ 133658 h 209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2176" h="209858">
                        <a:moveTo>
                          <a:pt x="672176" y="308"/>
                        </a:moveTo>
                        <a:cubicBezTo>
                          <a:pt x="624551" y="3483"/>
                          <a:pt x="576008" y="0"/>
                          <a:pt x="529301" y="9833"/>
                        </a:cubicBezTo>
                        <a:cubicBezTo>
                          <a:pt x="513767" y="13103"/>
                          <a:pt x="503001" y="27788"/>
                          <a:pt x="491201" y="38408"/>
                        </a:cubicBezTo>
                        <a:cubicBezTo>
                          <a:pt x="471176" y="56430"/>
                          <a:pt x="453101" y="76508"/>
                          <a:pt x="434051" y="95558"/>
                        </a:cubicBezTo>
                        <a:cubicBezTo>
                          <a:pt x="424526" y="105083"/>
                          <a:pt x="416684" y="116661"/>
                          <a:pt x="405476" y="124133"/>
                        </a:cubicBezTo>
                        <a:lnTo>
                          <a:pt x="376901" y="143183"/>
                        </a:lnTo>
                        <a:cubicBezTo>
                          <a:pt x="370551" y="152708"/>
                          <a:pt x="366645" y="164429"/>
                          <a:pt x="357851" y="171758"/>
                        </a:cubicBezTo>
                        <a:cubicBezTo>
                          <a:pt x="334691" y="191058"/>
                          <a:pt x="308957" y="192531"/>
                          <a:pt x="281651" y="200333"/>
                        </a:cubicBezTo>
                        <a:cubicBezTo>
                          <a:pt x="271997" y="203091"/>
                          <a:pt x="262601" y="206683"/>
                          <a:pt x="253076" y="209858"/>
                        </a:cubicBezTo>
                        <a:cubicBezTo>
                          <a:pt x="235867" y="207946"/>
                          <a:pt x="158123" y="203182"/>
                          <a:pt x="129251" y="190808"/>
                        </a:cubicBezTo>
                        <a:cubicBezTo>
                          <a:pt x="0" y="135415"/>
                          <a:pt x="192508" y="202369"/>
                          <a:pt x="72101" y="162233"/>
                        </a:cubicBezTo>
                        <a:cubicBezTo>
                          <a:pt x="49529" y="128374"/>
                          <a:pt x="64499" y="133658"/>
                          <a:pt x="34001" y="133658"/>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fr-FR"/>
                  </a:p>
                </p:txBody>
              </p:sp>
              <p:sp>
                <p:nvSpPr>
                  <p:cNvPr id="361" name="Rectangle à coins arrondis 360"/>
                  <p:cNvSpPr/>
                  <p:nvPr/>
                </p:nvSpPr>
                <p:spPr>
                  <a:xfrm>
                    <a:off x="3881430" y="5143512"/>
                    <a:ext cx="428628" cy="1428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62" name="Ellipse 361"/>
                  <p:cNvSpPr/>
                  <p:nvPr/>
                </p:nvSpPr>
                <p:spPr>
                  <a:xfrm>
                    <a:off x="4095744" y="4857760"/>
                    <a:ext cx="714380" cy="71438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143" name="Groupe 362"/>
                <p:cNvGrpSpPr/>
                <p:nvPr/>
              </p:nvGrpSpPr>
              <p:grpSpPr>
                <a:xfrm rot="19341147">
                  <a:off x="1061027" y="5120490"/>
                  <a:ext cx="1571636" cy="714380"/>
                  <a:chOff x="3238488" y="4857760"/>
                  <a:chExt cx="1571636" cy="714380"/>
                </a:xfrm>
              </p:grpSpPr>
              <p:sp>
                <p:nvSpPr>
                  <p:cNvPr id="364" name="Forme libre 363"/>
                  <p:cNvSpPr/>
                  <p:nvPr/>
                </p:nvSpPr>
                <p:spPr>
                  <a:xfrm>
                    <a:off x="3238488" y="5214950"/>
                    <a:ext cx="672176" cy="209858"/>
                  </a:xfrm>
                  <a:custGeom>
                    <a:avLst/>
                    <a:gdLst>
                      <a:gd name="connsiteX0" fmla="*/ 672176 w 672176"/>
                      <a:gd name="connsiteY0" fmla="*/ 308 h 209858"/>
                      <a:gd name="connsiteX1" fmla="*/ 529301 w 672176"/>
                      <a:gd name="connsiteY1" fmla="*/ 9833 h 209858"/>
                      <a:gd name="connsiteX2" fmla="*/ 491201 w 672176"/>
                      <a:gd name="connsiteY2" fmla="*/ 38408 h 209858"/>
                      <a:gd name="connsiteX3" fmla="*/ 434051 w 672176"/>
                      <a:gd name="connsiteY3" fmla="*/ 95558 h 209858"/>
                      <a:gd name="connsiteX4" fmla="*/ 405476 w 672176"/>
                      <a:gd name="connsiteY4" fmla="*/ 124133 h 209858"/>
                      <a:gd name="connsiteX5" fmla="*/ 376901 w 672176"/>
                      <a:gd name="connsiteY5" fmla="*/ 143183 h 209858"/>
                      <a:gd name="connsiteX6" fmla="*/ 357851 w 672176"/>
                      <a:gd name="connsiteY6" fmla="*/ 171758 h 209858"/>
                      <a:gd name="connsiteX7" fmla="*/ 281651 w 672176"/>
                      <a:gd name="connsiteY7" fmla="*/ 200333 h 209858"/>
                      <a:gd name="connsiteX8" fmla="*/ 253076 w 672176"/>
                      <a:gd name="connsiteY8" fmla="*/ 209858 h 209858"/>
                      <a:gd name="connsiteX9" fmla="*/ 129251 w 672176"/>
                      <a:gd name="connsiteY9" fmla="*/ 190808 h 209858"/>
                      <a:gd name="connsiteX10" fmla="*/ 72101 w 672176"/>
                      <a:gd name="connsiteY10" fmla="*/ 162233 h 209858"/>
                      <a:gd name="connsiteX11" fmla="*/ 34001 w 672176"/>
                      <a:gd name="connsiteY11" fmla="*/ 133658 h 209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2176" h="209858">
                        <a:moveTo>
                          <a:pt x="672176" y="308"/>
                        </a:moveTo>
                        <a:cubicBezTo>
                          <a:pt x="624551" y="3483"/>
                          <a:pt x="576008" y="0"/>
                          <a:pt x="529301" y="9833"/>
                        </a:cubicBezTo>
                        <a:cubicBezTo>
                          <a:pt x="513767" y="13103"/>
                          <a:pt x="503001" y="27788"/>
                          <a:pt x="491201" y="38408"/>
                        </a:cubicBezTo>
                        <a:cubicBezTo>
                          <a:pt x="471176" y="56430"/>
                          <a:pt x="453101" y="76508"/>
                          <a:pt x="434051" y="95558"/>
                        </a:cubicBezTo>
                        <a:cubicBezTo>
                          <a:pt x="424526" y="105083"/>
                          <a:pt x="416684" y="116661"/>
                          <a:pt x="405476" y="124133"/>
                        </a:cubicBezTo>
                        <a:lnTo>
                          <a:pt x="376901" y="143183"/>
                        </a:lnTo>
                        <a:cubicBezTo>
                          <a:pt x="370551" y="152708"/>
                          <a:pt x="366645" y="164429"/>
                          <a:pt x="357851" y="171758"/>
                        </a:cubicBezTo>
                        <a:cubicBezTo>
                          <a:pt x="334691" y="191058"/>
                          <a:pt x="308957" y="192531"/>
                          <a:pt x="281651" y="200333"/>
                        </a:cubicBezTo>
                        <a:cubicBezTo>
                          <a:pt x="271997" y="203091"/>
                          <a:pt x="262601" y="206683"/>
                          <a:pt x="253076" y="209858"/>
                        </a:cubicBezTo>
                        <a:cubicBezTo>
                          <a:pt x="235867" y="207946"/>
                          <a:pt x="158123" y="203182"/>
                          <a:pt x="129251" y="190808"/>
                        </a:cubicBezTo>
                        <a:cubicBezTo>
                          <a:pt x="0" y="135415"/>
                          <a:pt x="192508" y="202369"/>
                          <a:pt x="72101" y="162233"/>
                        </a:cubicBezTo>
                        <a:cubicBezTo>
                          <a:pt x="49529" y="128374"/>
                          <a:pt x="64499" y="133658"/>
                          <a:pt x="34001" y="133658"/>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fr-FR"/>
                  </a:p>
                </p:txBody>
              </p:sp>
              <p:sp>
                <p:nvSpPr>
                  <p:cNvPr id="365" name="Rectangle à coins arrondis 364"/>
                  <p:cNvSpPr/>
                  <p:nvPr/>
                </p:nvSpPr>
                <p:spPr>
                  <a:xfrm>
                    <a:off x="3881430" y="5143512"/>
                    <a:ext cx="428628" cy="1428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66" name="Ellipse 365"/>
                  <p:cNvSpPr/>
                  <p:nvPr/>
                </p:nvSpPr>
                <p:spPr>
                  <a:xfrm>
                    <a:off x="4095744" y="4857760"/>
                    <a:ext cx="714380" cy="71438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144" name="Groupe 366"/>
                <p:cNvGrpSpPr/>
                <p:nvPr/>
              </p:nvGrpSpPr>
              <p:grpSpPr>
                <a:xfrm rot="19341147">
                  <a:off x="-126417" y="5120490"/>
                  <a:ext cx="1571636" cy="714380"/>
                  <a:chOff x="3238488" y="4857760"/>
                  <a:chExt cx="1571636" cy="714380"/>
                </a:xfrm>
              </p:grpSpPr>
              <p:sp>
                <p:nvSpPr>
                  <p:cNvPr id="368" name="Forme libre 367"/>
                  <p:cNvSpPr/>
                  <p:nvPr/>
                </p:nvSpPr>
                <p:spPr>
                  <a:xfrm>
                    <a:off x="3238488" y="5214950"/>
                    <a:ext cx="672176" cy="209858"/>
                  </a:xfrm>
                  <a:custGeom>
                    <a:avLst/>
                    <a:gdLst>
                      <a:gd name="connsiteX0" fmla="*/ 672176 w 672176"/>
                      <a:gd name="connsiteY0" fmla="*/ 308 h 209858"/>
                      <a:gd name="connsiteX1" fmla="*/ 529301 w 672176"/>
                      <a:gd name="connsiteY1" fmla="*/ 9833 h 209858"/>
                      <a:gd name="connsiteX2" fmla="*/ 491201 w 672176"/>
                      <a:gd name="connsiteY2" fmla="*/ 38408 h 209858"/>
                      <a:gd name="connsiteX3" fmla="*/ 434051 w 672176"/>
                      <a:gd name="connsiteY3" fmla="*/ 95558 h 209858"/>
                      <a:gd name="connsiteX4" fmla="*/ 405476 w 672176"/>
                      <a:gd name="connsiteY4" fmla="*/ 124133 h 209858"/>
                      <a:gd name="connsiteX5" fmla="*/ 376901 w 672176"/>
                      <a:gd name="connsiteY5" fmla="*/ 143183 h 209858"/>
                      <a:gd name="connsiteX6" fmla="*/ 357851 w 672176"/>
                      <a:gd name="connsiteY6" fmla="*/ 171758 h 209858"/>
                      <a:gd name="connsiteX7" fmla="*/ 281651 w 672176"/>
                      <a:gd name="connsiteY7" fmla="*/ 200333 h 209858"/>
                      <a:gd name="connsiteX8" fmla="*/ 253076 w 672176"/>
                      <a:gd name="connsiteY8" fmla="*/ 209858 h 209858"/>
                      <a:gd name="connsiteX9" fmla="*/ 129251 w 672176"/>
                      <a:gd name="connsiteY9" fmla="*/ 190808 h 209858"/>
                      <a:gd name="connsiteX10" fmla="*/ 72101 w 672176"/>
                      <a:gd name="connsiteY10" fmla="*/ 162233 h 209858"/>
                      <a:gd name="connsiteX11" fmla="*/ 34001 w 672176"/>
                      <a:gd name="connsiteY11" fmla="*/ 133658 h 209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2176" h="209858">
                        <a:moveTo>
                          <a:pt x="672176" y="308"/>
                        </a:moveTo>
                        <a:cubicBezTo>
                          <a:pt x="624551" y="3483"/>
                          <a:pt x="576008" y="0"/>
                          <a:pt x="529301" y="9833"/>
                        </a:cubicBezTo>
                        <a:cubicBezTo>
                          <a:pt x="513767" y="13103"/>
                          <a:pt x="503001" y="27788"/>
                          <a:pt x="491201" y="38408"/>
                        </a:cubicBezTo>
                        <a:cubicBezTo>
                          <a:pt x="471176" y="56430"/>
                          <a:pt x="453101" y="76508"/>
                          <a:pt x="434051" y="95558"/>
                        </a:cubicBezTo>
                        <a:cubicBezTo>
                          <a:pt x="424526" y="105083"/>
                          <a:pt x="416684" y="116661"/>
                          <a:pt x="405476" y="124133"/>
                        </a:cubicBezTo>
                        <a:lnTo>
                          <a:pt x="376901" y="143183"/>
                        </a:lnTo>
                        <a:cubicBezTo>
                          <a:pt x="370551" y="152708"/>
                          <a:pt x="366645" y="164429"/>
                          <a:pt x="357851" y="171758"/>
                        </a:cubicBezTo>
                        <a:cubicBezTo>
                          <a:pt x="334691" y="191058"/>
                          <a:pt x="308957" y="192531"/>
                          <a:pt x="281651" y="200333"/>
                        </a:cubicBezTo>
                        <a:cubicBezTo>
                          <a:pt x="271997" y="203091"/>
                          <a:pt x="262601" y="206683"/>
                          <a:pt x="253076" y="209858"/>
                        </a:cubicBezTo>
                        <a:cubicBezTo>
                          <a:pt x="235867" y="207946"/>
                          <a:pt x="158123" y="203182"/>
                          <a:pt x="129251" y="190808"/>
                        </a:cubicBezTo>
                        <a:cubicBezTo>
                          <a:pt x="0" y="135415"/>
                          <a:pt x="192508" y="202369"/>
                          <a:pt x="72101" y="162233"/>
                        </a:cubicBezTo>
                        <a:cubicBezTo>
                          <a:pt x="49529" y="128374"/>
                          <a:pt x="64499" y="133658"/>
                          <a:pt x="34001" y="133658"/>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fr-FR"/>
                  </a:p>
                </p:txBody>
              </p:sp>
              <p:sp>
                <p:nvSpPr>
                  <p:cNvPr id="369" name="Rectangle à coins arrondis 368"/>
                  <p:cNvSpPr/>
                  <p:nvPr/>
                </p:nvSpPr>
                <p:spPr>
                  <a:xfrm>
                    <a:off x="3881430" y="5143512"/>
                    <a:ext cx="428628" cy="1428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70" name="Ellipse 369"/>
                  <p:cNvSpPr/>
                  <p:nvPr/>
                </p:nvSpPr>
                <p:spPr>
                  <a:xfrm>
                    <a:off x="4095744" y="4857760"/>
                    <a:ext cx="714380" cy="71438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grpSp>
            <p:nvGrpSpPr>
              <p:cNvPr id="145" name="Groupe 444"/>
              <p:cNvGrpSpPr/>
              <p:nvPr/>
            </p:nvGrpSpPr>
            <p:grpSpPr>
              <a:xfrm>
                <a:off x="739775" y="4429132"/>
                <a:ext cx="3636971" cy="1049004"/>
                <a:chOff x="739775" y="4429132"/>
                <a:chExt cx="3636971" cy="1049004"/>
              </a:xfrm>
            </p:grpSpPr>
            <p:grpSp>
              <p:nvGrpSpPr>
                <p:cNvPr id="146" name="Groupe 410"/>
                <p:cNvGrpSpPr/>
                <p:nvPr/>
              </p:nvGrpSpPr>
              <p:grpSpPr>
                <a:xfrm>
                  <a:off x="4268746" y="5010136"/>
                  <a:ext cx="108000" cy="468000"/>
                  <a:chOff x="7956372" y="1071546"/>
                  <a:chExt cx="142876" cy="642942"/>
                </a:xfrm>
              </p:grpSpPr>
              <p:sp>
                <p:nvSpPr>
                  <p:cNvPr id="412" name="Rectangle 411"/>
                  <p:cNvSpPr/>
                  <p:nvPr/>
                </p:nvSpPr>
                <p:spPr>
                  <a:xfrm>
                    <a:off x="7989115" y="1071546"/>
                    <a:ext cx="77391" cy="642942"/>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413" name="Ellipse 412"/>
                  <p:cNvSpPr/>
                  <p:nvPr/>
                </p:nvSpPr>
                <p:spPr>
                  <a:xfrm>
                    <a:off x="7956372" y="1321579"/>
                    <a:ext cx="142876" cy="142876"/>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147" name="Groupe 416"/>
                <p:cNvGrpSpPr/>
                <p:nvPr/>
              </p:nvGrpSpPr>
              <p:grpSpPr>
                <a:xfrm>
                  <a:off x="3078121" y="5000611"/>
                  <a:ext cx="108000" cy="468000"/>
                  <a:chOff x="7956372" y="1071546"/>
                  <a:chExt cx="142876" cy="642942"/>
                </a:xfrm>
              </p:grpSpPr>
              <p:sp>
                <p:nvSpPr>
                  <p:cNvPr id="418" name="Rectangle 417"/>
                  <p:cNvSpPr/>
                  <p:nvPr/>
                </p:nvSpPr>
                <p:spPr>
                  <a:xfrm>
                    <a:off x="7989115" y="1071546"/>
                    <a:ext cx="77391" cy="642942"/>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419" name="Ellipse 418"/>
                  <p:cNvSpPr/>
                  <p:nvPr/>
                </p:nvSpPr>
                <p:spPr>
                  <a:xfrm>
                    <a:off x="7956372" y="1321579"/>
                    <a:ext cx="142876" cy="142876"/>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148" name="Groupe 422"/>
                <p:cNvGrpSpPr/>
                <p:nvPr/>
              </p:nvGrpSpPr>
              <p:grpSpPr>
                <a:xfrm>
                  <a:off x="1911350" y="5000636"/>
                  <a:ext cx="108000" cy="468000"/>
                  <a:chOff x="7956372" y="1071546"/>
                  <a:chExt cx="142876" cy="642942"/>
                </a:xfrm>
                <a:solidFill>
                  <a:srgbClr val="FFFF00"/>
                </a:solidFill>
              </p:grpSpPr>
              <p:sp>
                <p:nvSpPr>
                  <p:cNvPr id="424" name="Rectangle 423"/>
                  <p:cNvSpPr/>
                  <p:nvPr/>
                </p:nvSpPr>
                <p:spPr>
                  <a:xfrm>
                    <a:off x="7989115" y="1071546"/>
                    <a:ext cx="77391" cy="642942"/>
                  </a:xfrm>
                  <a:prstGeom prst="rect">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425" name="Ellipse 424"/>
                  <p:cNvSpPr/>
                  <p:nvPr/>
                </p:nvSpPr>
                <p:spPr>
                  <a:xfrm>
                    <a:off x="7956372" y="1321579"/>
                    <a:ext cx="142876" cy="142876"/>
                  </a:xfrm>
                  <a:prstGeom prst="ellipse">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149" name="Groupe 443"/>
                <p:cNvGrpSpPr/>
                <p:nvPr/>
              </p:nvGrpSpPr>
              <p:grpSpPr>
                <a:xfrm>
                  <a:off x="739775" y="4429132"/>
                  <a:ext cx="3588140" cy="1029979"/>
                  <a:chOff x="739775" y="4429132"/>
                  <a:chExt cx="3588140" cy="1029979"/>
                </a:xfrm>
              </p:grpSpPr>
              <p:grpSp>
                <p:nvGrpSpPr>
                  <p:cNvPr id="151" name="Groupe 192"/>
                  <p:cNvGrpSpPr/>
                  <p:nvPr/>
                </p:nvGrpSpPr>
                <p:grpSpPr>
                  <a:xfrm>
                    <a:off x="1023910" y="4429132"/>
                    <a:ext cx="1160865" cy="296035"/>
                    <a:chOff x="3654341" y="3269814"/>
                    <a:chExt cx="2043267" cy="581787"/>
                  </a:xfrm>
                  <a:solidFill>
                    <a:schemeClr val="accent4">
                      <a:lumMod val="60000"/>
                      <a:lumOff val="40000"/>
                    </a:schemeClr>
                  </a:solidFill>
                </p:grpSpPr>
                <p:sp>
                  <p:nvSpPr>
                    <p:cNvPr id="229" name="Flèche vers le bas 228"/>
                    <p:cNvSpPr/>
                    <p:nvPr/>
                  </p:nvSpPr>
                  <p:spPr>
                    <a:xfrm rot="2340000">
                      <a:off x="3654341" y="3269814"/>
                      <a:ext cx="231661" cy="571505"/>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sp>
                  <p:nvSpPr>
                    <p:cNvPr id="230" name="Flèche vers le bas 229"/>
                    <p:cNvSpPr/>
                    <p:nvPr/>
                  </p:nvSpPr>
                  <p:spPr>
                    <a:xfrm rot="19096080">
                      <a:off x="5461653" y="3280097"/>
                      <a:ext cx="235955" cy="571504"/>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grpSp>
              <p:grpSp>
                <p:nvGrpSpPr>
                  <p:cNvPr id="153" name="Groupe 195"/>
                  <p:cNvGrpSpPr/>
                  <p:nvPr/>
                </p:nvGrpSpPr>
                <p:grpSpPr>
                  <a:xfrm>
                    <a:off x="3167050" y="4429132"/>
                    <a:ext cx="1160865" cy="296035"/>
                    <a:chOff x="3654341" y="3269814"/>
                    <a:chExt cx="2043267" cy="581787"/>
                  </a:xfrm>
                  <a:solidFill>
                    <a:schemeClr val="accent4">
                      <a:lumMod val="60000"/>
                      <a:lumOff val="40000"/>
                    </a:schemeClr>
                  </a:solidFill>
                </p:grpSpPr>
                <p:sp>
                  <p:nvSpPr>
                    <p:cNvPr id="222" name="Flèche vers le bas 221"/>
                    <p:cNvSpPr/>
                    <p:nvPr/>
                  </p:nvSpPr>
                  <p:spPr>
                    <a:xfrm rot="2340000">
                      <a:off x="3654341" y="3269814"/>
                      <a:ext cx="231661" cy="571505"/>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sp>
                  <p:nvSpPr>
                    <p:cNvPr id="223" name="Flèche vers le bas 222"/>
                    <p:cNvSpPr/>
                    <p:nvPr/>
                  </p:nvSpPr>
                  <p:spPr>
                    <a:xfrm rot="19096080">
                      <a:off x="5461653" y="3280097"/>
                      <a:ext cx="235955" cy="571504"/>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grpSp>
              <p:grpSp>
                <p:nvGrpSpPr>
                  <p:cNvPr id="154" name="Groupe 425"/>
                  <p:cNvGrpSpPr/>
                  <p:nvPr/>
                </p:nvGrpSpPr>
                <p:grpSpPr>
                  <a:xfrm>
                    <a:off x="739775" y="4991111"/>
                    <a:ext cx="108000" cy="468000"/>
                    <a:chOff x="7956372" y="1071546"/>
                    <a:chExt cx="142876" cy="642942"/>
                  </a:xfrm>
                  <a:solidFill>
                    <a:srgbClr val="FFFF00"/>
                  </a:solidFill>
                </p:grpSpPr>
                <p:sp>
                  <p:nvSpPr>
                    <p:cNvPr id="427" name="Rectangle 426"/>
                    <p:cNvSpPr/>
                    <p:nvPr/>
                  </p:nvSpPr>
                  <p:spPr>
                    <a:xfrm>
                      <a:off x="7989115" y="1071546"/>
                      <a:ext cx="77391" cy="642942"/>
                    </a:xfrm>
                    <a:prstGeom prst="rect">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428" name="Ellipse 427"/>
                    <p:cNvSpPr/>
                    <p:nvPr/>
                  </p:nvSpPr>
                  <p:spPr>
                    <a:xfrm>
                      <a:off x="7956372" y="1321579"/>
                      <a:ext cx="142876" cy="142876"/>
                    </a:xfrm>
                    <a:prstGeom prst="ellipse">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155" name="Groupe 428"/>
                  <p:cNvGrpSpPr/>
                  <p:nvPr/>
                </p:nvGrpSpPr>
                <p:grpSpPr>
                  <a:xfrm>
                    <a:off x="2095480" y="5072074"/>
                    <a:ext cx="108000" cy="360000"/>
                    <a:chOff x="8096252" y="857232"/>
                    <a:chExt cx="108000" cy="432000"/>
                  </a:xfrm>
                  <a:solidFill>
                    <a:srgbClr val="FFFF00"/>
                  </a:solidFill>
                </p:grpSpPr>
                <p:sp>
                  <p:nvSpPr>
                    <p:cNvPr id="430" name="Rectangle 429"/>
                    <p:cNvSpPr/>
                    <p:nvPr/>
                  </p:nvSpPr>
                  <p:spPr>
                    <a:xfrm>
                      <a:off x="8120980" y="857232"/>
                      <a:ext cx="58499" cy="432000"/>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431" name="Ellipse 430"/>
                    <p:cNvSpPr/>
                    <p:nvPr/>
                  </p:nvSpPr>
                  <p:spPr>
                    <a:xfrm>
                      <a:off x="8096252" y="1025232"/>
                      <a:ext cx="108000" cy="96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156" name="Groupe 431"/>
                  <p:cNvGrpSpPr/>
                  <p:nvPr/>
                </p:nvGrpSpPr>
                <p:grpSpPr>
                  <a:xfrm>
                    <a:off x="952472" y="5072074"/>
                    <a:ext cx="108000" cy="360000"/>
                    <a:chOff x="8096252" y="857232"/>
                    <a:chExt cx="108000" cy="432000"/>
                  </a:xfrm>
                  <a:solidFill>
                    <a:srgbClr val="FFFF00"/>
                  </a:solidFill>
                </p:grpSpPr>
                <p:sp>
                  <p:nvSpPr>
                    <p:cNvPr id="433" name="Rectangle 432"/>
                    <p:cNvSpPr/>
                    <p:nvPr/>
                  </p:nvSpPr>
                  <p:spPr>
                    <a:xfrm>
                      <a:off x="8120980" y="857232"/>
                      <a:ext cx="58499" cy="432000"/>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434" name="Ellipse 433"/>
                    <p:cNvSpPr/>
                    <p:nvPr/>
                  </p:nvSpPr>
                  <p:spPr>
                    <a:xfrm>
                      <a:off x="8096252" y="1025232"/>
                      <a:ext cx="108000" cy="96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grpSp>
        </p:grpSp>
        <p:grpSp>
          <p:nvGrpSpPr>
            <p:cNvPr id="157" name="Groupe 413"/>
            <p:cNvGrpSpPr/>
            <p:nvPr/>
          </p:nvGrpSpPr>
          <p:grpSpPr>
            <a:xfrm>
              <a:off x="4478288" y="5112101"/>
              <a:ext cx="108000" cy="360000"/>
              <a:chOff x="8096252" y="857232"/>
              <a:chExt cx="108000" cy="432000"/>
            </a:xfrm>
            <a:solidFill>
              <a:srgbClr val="FFFF00"/>
            </a:solidFill>
          </p:grpSpPr>
          <p:sp>
            <p:nvSpPr>
              <p:cNvPr id="415" name="Rectangle 414"/>
              <p:cNvSpPr/>
              <p:nvPr/>
            </p:nvSpPr>
            <p:spPr>
              <a:xfrm>
                <a:off x="8120980" y="857232"/>
                <a:ext cx="58499" cy="432000"/>
              </a:xfrm>
              <a:prstGeom prst="rect">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416" name="Ellipse 415"/>
              <p:cNvSpPr/>
              <p:nvPr/>
            </p:nvSpPr>
            <p:spPr>
              <a:xfrm>
                <a:off x="8096252" y="1025232"/>
                <a:ext cx="108000" cy="96000"/>
              </a:xfrm>
              <a:prstGeom prst="ellipse">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158" name="Groupe 419"/>
            <p:cNvGrpSpPr/>
            <p:nvPr/>
          </p:nvGrpSpPr>
          <p:grpSpPr>
            <a:xfrm>
              <a:off x="3287663" y="5072074"/>
              <a:ext cx="108000" cy="360000"/>
              <a:chOff x="8096252" y="857232"/>
              <a:chExt cx="108000" cy="432000"/>
            </a:xfrm>
            <a:solidFill>
              <a:srgbClr val="FFFF00"/>
            </a:solidFill>
          </p:grpSpPr>
          <p:sp>
            <p:nvSpPr>
              <p:cNvPr id="421" name="Rectangle 420"/>
              <p:cNvSpPr/>
              <p:nvPr/>
            </p:nvSpPr>
            <p:spPr>
              <a:xfrm>
                <a:off x="8120980" y="857232"/>
                <a:ext cx="58499" cy="432000"/>
              </a:xfrm>
              <a:prstGeom prst="rect">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422" name="Ellipse 421"/>
              <p:cNvSpPr/>
              <p:nvPr/>
            </p:nvSpPr>
            <p:spPr>
              <a:xfrm>
                <a:off x="8096252" y="1025232"/>
                <a:ext cx="108000" cy="96000"/>
              </a:xfrm>
              <a:prstGeom prst="ellipse">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sp>
        <p:nvSpPr>
          <p:cNvPr id="224" name="ZoneTexte 223"/>
          <p:cNvSpPr txBox="1"/>
          <p:nvPr/>
        </p:nvSpPr>
        <p:spPr>
          <a:xfrm>
            <a:off x="4247616" y="1825260"/>
            <a:ext cx="724678" cy="707886"/>
          </a:xfrm>
          <a:prstGeom prst="rect">
            <a:avLst/>
          </a:prstGeom>
          <a:noFill/>
        </p:spPr>
        <p:txBody>
          <a:bodyPr wrap="none" rtlCol="0">
            <a:spAutoFit/>
          </a:bodyPr>
          <a:lstStyle/>
          <a:p>
            <a:r>
              <a:rPr lang="fr-FR" sz="4000" dirty="0">
                <a:solidFill>
                  <a:srgbClr val="FF0000"/>
                </a:solidFill>
              </a:rPr>
              <a:t>ou</a:t>
            </a:r>
          </a:p>
        </p:txBody>
      </p:sp>
      <p:grpSp>
        <p:nvGrpSpPr>
          <p:cNvPr id="32" name="Groupe 31">
            <a:extLst>
              <a:ext uri="{FF2B5EF4-FFF2-40B4-BE49-F238E27FC236}">
                <a16:creationId xmlns:a16="http://schemas.microsoft.com/office/drawing/2014/main" id="{664D9EE2-FF12-4724-8303-37E219A80C36}"/>
              </a:ext>
            </a:extLst>
          </p:cNvPr>
          <p:cNvGrpSpPr/>
          <p:nvPr/>
        </p:nvGrpSpPr>
        <p:grpSpPr>
          <a:xfrm>
            <a:off x="497636" y="5786454"/>
            <a:ext cx="8512428" cy="1083712"/>
            <a:chOff x="497636" y="5786454"/>
            <a:chExt cx="8512428" cy="1083712"/>
          </a:xfrm>
        </p:grpSpPr>
        <p:grpSp>
          <p:nvGrpSpPr>
            <p:cNvPr id="159" name="Groupe 219"/>
            <p:cNvGrpSpPr/>
            <p:nvPr/>
          </p:nvGrpSpPr>
          <p:grpSpPr>
            <a:xfrm>
              <a:off x="497636" y="5786454"/>
              <a:ext cx="8512428" cy="1083712"/>
              <a:chOff x="404498" y="5786454"/>
              <a:chExt cx="8512428" cy="1083712"/>
            </a:xfrm>
          </p:grpSpPr>
          <p:grpSp>
            <p:nvGrpSpPr>
              <p:cNvPr id="160" name="Groupe 207"/>
              <p:cNvGrpSpPr/>
              <p:nvPr/>
            </p:nvGrpSpPr>
            <p:grpSpPr>
              <a:xfrm>
                <a:off x="4357686" y="6429396"/>
                <a:ext cx="447768" cy="440770"/>
                <a:chOff x="1571604" y="6286520"/>
                <a:chExt cx="447768" cy="440770"/>
              </a:xfrm>
            </p:grpSpPr>
            <p:sp>
              <p:nvSpPr>
                <p:cNvPr id="206" name="ZoneTexte 205"/>
                <p:cNvSpPr txBox="1"/>
                <p:nvPr/>
              </p:nvSpPr>
              <p:spPr>
                <a:xfrm>
                  <a:off x="1571604" y="6357958"/>
                  <a:ext cx="338554" cy="369332"/>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fr-FR" b="1" dirty="0">
                      <a:ln w="11430"/>
                      <a:effectLst>
                        <a:outerShdw blurRad="50800" dist="39000" dir="5460000" algn="tl">
                          <a:srgbClr val="000000">
                            <a:alpha val="38000"/>
                          </a:srgbClr>
                        </a:outerShdw>
                      </a:effectLst>
                      <a:latin typeface="Arial Black" pitchFamily="34" charset="0"/>
                    </a:rPr>
                    <a:t>2</a:t>
                  </a:r>
                </a:p>
              </p:txBody>
            </p:sp>
            <p:sp>
              <p:nvSpPr>
                <p:cNvPr id="207" name="ZoneTexte 206"/>
                <p:cNvSpPr txBox="1"/>
                <p:nvPr/>
              </p:nvSpPr>
              <p:spPr>
                <a:xfrm>
                  <a:off x="1714480" y="6286520"/>
                  <a:ext cx="304892" cy="307777"/>
                </a:xfrm>
                <a:prstGeom prst="rect">
                  <a:avLst/>
                </a:prstGeom>
                <a:noFill/>
              </p:spPr>
              <p:txBody>
                <a:bodyPr wrap="non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fr-FR" sz="1400" b="1" dirty="0">
                      <a:ln w="11430"/>
                      <a:effectLst>
                        <a:outerShdw blurRad="50800" dist="39000" dir="5460000" algn="tl">
                          <a:srgbClr val="000000">
                            <a:alpha val="38000"/>
                          </a:srgbClr>
                        </a:outerShdw>
                      </a:effectLst>
                      <a:latin typeface="Arial Black" pitchFamily="34" charset="0"/>
                    </a:rPr>
                    <a:t>2</a:t>
                  </a:r>
                </a:p>
              </p:txBody>
            </p:sp>
          </p:grpSp>
          <p:sp>
            <p:nvSpPr>
              <p:cNvPr id="209" name="Accolade fermante 208"/>
              <p:cNvSpPr/>
              <p:nvPr/>
            </p:nvSpPr>
            <p:spPr>
              <a:xfrm rot="5400000">
                <a:off x="7916794" y="5000636"/>
                <a:ext cx="214314" cy="1785950"/>
              </a:xfrm>
              <a:prstGeom prst="rightBrace">
                <a:avLst>
                  <a:gd name="adj1" fmla="val 8333"/>
                  <a:gd name="adj2" fmla="val 50000"/>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fr-FR"/>
              </a:p>
            </p:txBody>
          </p:sp>
          <p:sp>
            <p:nvSpPr>
              <p:cNvPr id="210" name="Accolade fermante 209"/>
              <p:cNvSpPr/>
              <p:nvPr/>
            </p:nvSpPr>
            <p:spPr>
              <a:xfrm rot="5400000">
                <a:off x="5708612" y="5000636"/>
                <a:ext cx="214314" cy="1785950"/>
              </a:xfrm>
              <a:prstGeom prst="rightBrace">
                <a:avLst>
                  <a:gd name="adj1" fmla="val 8333"/>
                  <a:gd name="adj2" fmla="val 50000"/>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fr-FR"/>
              </a:p>
            </p:txBody>
          </p:sp>
          <p:sp>
            <p:nvSpPr>
              <p:cNvPr id="211" name="Accolade fermante 210"/>
              <p:cNvSpPr/>
              <p:nvPr/>
            </p:nvSpPr>
            <p:spPr>
              <a:xfrm rot="5400000">
                <a:off x="3439442" y="5000636"/>
                <a:ext cx="214314" cy="1785950"/>
              </a:xfrm>
              <a:prstGeom prst="rightBrace">
                <a:avLst>
                  <a:gd name="adj1" fmla="val 8333"/>
                  <a:gd name="adj2" fmla="val 50000"/>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fr-FR"/>
              </a:p>
            </p:txBody>
          </p:sp>
          <p:sp>
            <p:nvSpPr>
              <p:cNvPr id="212" name="Accolade fermante 211"/>
              <p:cNvSpPr/>
              <p:nvPr/>
            </p:nvSpPr>
            <p:spPr>
              <a:xfrm rot="5400000">
                <a:off x="1190316" y="5000636"/>
                <a:ext cx="214314" cy="1785950"/>
              </a:xfrm>
              <a:prstGeom prst="rightBrace">
                <a:avLst>
                  <a:gd name="adj1" fmla="val 8333"/>
                  <a:gd name="adj2" fmla="val 50000"/>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fr-FR"/>
              </a:p>
            </p:txBody>
          </p:sp>
        </p:grpSp>
        <p:sp>
          <p:nvSpPr>
            <p:cNvPr id="226" name="ZoneTexte 225"/>
            <p:cNvSpPr txBox="1"/>
            <p:nvPr/>
          </p:nvSpPr>
          <p:spPr>
            <a:xfrm>
              <a:off x="2643070" y="6152185"/>
              <a:ext cx="4063282" cy="369332"/>
            </a:xfrm>
            <a:prstGeom prst="rect">
              <a:avLst/>
            </a:prstGeom>
            <a:noFill/>
          </p:spPr>
          <p:txBody>
            <a:bodyPr wrap="none" rtlCol="0">
              <a:spAutoFit/>
            </a:bodyPr>
            <a:lstStyle/>
            <a:p>
              <a:r>
                <a:rPr lang="fr-FR" b="1" dirty="0"/>
                <a:t>4 types équiprobables (25%) de gamètes </a:t>
              </a:r>
            </a:p>
          </p:txBody>
        </p:sp>
      </p:grpSp>
      <p:grpSp>
        <p:nvGrpSpPr>
          <p:cNvPr id="234" name="Groupe 435">
            <a:extLst>
              <a:ext uri="{FF2B5EF4-FFF2-40B4-BE49-F238E27FC236}">
                <a16:creationId xmlns:a16="http://schemas.microsoft.com/office/drawing/2014/main" id="{06F22FF5-3895-4662-A029-C5588E6585DA}"/>
              </a:ext>
            </a:extLst>
          </p:cNvPr>
          <p:cNvGrpSpPr/>
          <p:nvPr/>
        </p:nvGrpSpPr>
        <p:grpSpPr>
          <a:xfrm>
            <a:off x="1696775" y="1442583"/>
            <a:ext cx="1589456" cy="1433519"/>
            <a:chOff x="6738950" y="1704958"/>
            <a:chExt cx="1721911" cy="1433519"/>
          </a:xfrm>
        </p:grpSpPr>
        <p:sp>
          <p:nvSpPr>
            <p:cNvPr id="235" name="Flèche vers le bas 264">
              <a:extLst>
                <a:ext uri="{FF2B5EF4-FFF2-40B4-BE49-F238E27FC236}">
                  <a16:creationId xmlns:a16="http://schemas.microsoft.com/office/drawing/2014/main" id="{A143FD8B-F389-4B31-8C3A-2EFAF216B99B}"/>
                </a:ext>
              </a:extLst>
            </p:cNvPr>
            <p:cNvSpPr/>
            <p:nvPr/>
          </p:nvSpPr>
          <p:spPr>
            <a:xfrm rot="3081697">
              <a:off x="8230556" y="1748924"/>
              <a:ext cx="169805" cy="290804"/>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sp>
          <p:nvSpPr>
            <p:cNvPr id="236" name="Ellipse 235">
              <a:extLst>
                <a:ext uri="{FF2B5EF4-FFF2-40B4-BE49-F238E27FC236}">
                  <a16:creationId xmlns:a16="http://schemas.microsoft.com/office/drawing/2014/main" id="{AF38BFDD-8B4F-4B7E-BF5F-A95E0C7BE59B}"/>
                </a:ext>
              </a:extLst>
            </p:cNvPr>
            <p:cNvSpPr/>
            <p:nvPr/>
          </p:nvSpPr>
          <p:spPr>
            <a:xfrm>
              <a:off x="6738950" y="1785926"/>
              <a:ext cx="1285884" cy="1285884"/>
            </a:xfrm>
            <a:prstGeom prst="ellipse">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grpSp>
          <p:nvGrpSpPr>
            <p:cNvPr id="237" name="Groupe 194">
              <a:extLst>
                <a:ext uri="{FF2B5EF4-FFF2-40B4-BE49-F238E27FC236}">
                  <a16:creationId xmlns:a16="http://schemas.microsoft.com/office/drawing/2014/main" id="{6B33757C-1CE5-475F-A9FF-FF0EBB0FD245}"/>
                </a:ext>
              </a:extLst>
            </p:cNvPr>
            <p:cNvGrpSpPr/>
            <p:nvPr/>
          </p:nvGrpSpPr>
          <p:grpSpPr>
            <a:xfrm>
              <a:off x="7086596" y="1704958"/>
              <a:ext cx="275169" cy="928694"/>
              <a:chOff x="6639078" y="536469"/>
              <a:chExt cx="275169" cy="928694"/>
            </a:xfrm>
          </p:grpSpPr>
          <p:grpSp>
            <p:nvGrpSpPr>
              <p:cNvPr id="253" name="Groupe 24">
                <a:extLst>
                  <a:ext uri="{FF2B5EF4-FFF2-40B4-BE49-F238E27FC236}">
                    <a16:creationId xmlns:a16="http://schemas.microsoft.com/office/drawing/2014/main" id="{BE8AD109-891D-4A6B-A202-12E0CCC0406F}"/>
                  </a:ext>
                </a:extLst>
              </p:cNvPr>
              <p:cNvGrpSpPr/>
              <p:nvPr/>
            </p:nvGrpSpPr>
            <p:grpSpPr>
              <a:xfrm>
                <a:off x="6639078" y="536469"/>
                <a:ext cx="275169" cy="928694"/>
                <a:chOff x="2571736" y="642918"/>
                <a:chExt cx="285752" cy="1285884"/>
              </a:xfrm>
            </p:grpSpPr>
            <p:sp>
              <p:nvSpPr>
                <p:cNvPr id="255" name="Arc plein 254">
                  <a:extLst>
                    <a:ext uri="{FF2B5EF4-FFF2-40B4-BE49-F238E27FC236}">
                      <a16:creationId xmlns:a16="http://schemas.microsoft.com/office/drawing/2014/main" id="{820E8BAE-0F8C-45BD-87A3-02EF942FE4BD}"/>
                    </a:ext>
                  </a:extLst>
                </p:cNvPr>
                <p:cNvSpPr/>
                <p:nvPr/>
              </p:nvSpPr>
              <p:spPr>
                <a:xfrm>
                  <a:off x="2571736" y="1285860"/>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256" name="Arc plein 255">
                  <a:extLst>
                    <a:ext uri="{FF2B5EF4-FFF2-40B4-BE49-F238E27FC236}">
                      <a16:creationId xmlns:a16="http://schemas.microsoft.com/office/drawing/2014/main" id="{E68FECF7-89EA-4AA0-84CE-6F994048A43A}"/>
                    </a:ext>
                  </a:extLst>
                </p:cNvPr>
                <p:cNvSpPr/>
                <p:nvPr/>
              </p:nvSpPr>
              <p:spPr>
                <a:xfrm rot="10800000">
                  <a:off x="2571736" y="642918"/>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254" name="Ellipse 253">
                <a:extLst>
                  <a:ext uri="{FF2B5EF4-FFF2-40B4-BE49-F238E27FC236}">
                    <a16:creationId xmlns:a16="http://schemas.microsoft.com/office/drawing/2014/main" id="{420D4AB2-B0D6-4C1B-9944-FF12D6193092}"/>
                  </a:ext>
                </a:extLst>
              </p:cNvPr>
              <p:cNvSpPr/>
              <p:nvPr/>
            </p:nvSpPr>
            <p:spPr>
              <a:xfrm>
                <a:off x="6722662" y="948816"/>
                <a:ext cx="108000" cy="104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238" name="Groupe 200">
              <a:extLst>
                <a:ext uri="{FF2B5EF4-FFF2-40B4-BE49-F238E27FC236}">
                  <a16:creationId xmlns:a16="http://schemas.microsoft.com/office/drawing/2014/main" id="{0BA06085-41EB-4EF5-A338-C9D28ACE3989}"/>
                </a:ext>
              </a:extLst>
            </p:cNvPr>
            <p:cNvGrpSpPr/>
            <p:nvPr/>
          </p:nvGrpSpPr>
          <p:grpSpPr>
            <a:xfrm>
              <a:off x="7091361" y="2209783"/>
              <a:ext cx="275169" cy="928694"/>
              <a:chOff x="6983039" y="536469"/>
              <a:chExt cx="275169" cy="928694"/>
            </a:xfrm>
          </p:grpSpPr>
          <p:grpSp>
            <p:nvGrpSpPr>
              <p:cNvPr id="249" name="Groupe 21">
                <a:extLst>
                  <a:ext uri="{FF2B5EF4-FFF2-40B4-BE49-F238E27FC236}">
                    <a16:creationId xmlns:a16="http://schemas.microsoft.com/office/drawing/2014/main" id="{5C494F1F-2B3F-4FDB-8E08-C7B6924DF644}"/>
                  </a:ext>
                </a:extLst>
              </p:cNvPr>
              <p:cNvGrpSpPr/>
              <p:nvPr/>
            </p:nvGrpSpPr>
            <p:grpSpPr>
              <a:xfrm>
                <a:off x="6983039" y="536469"/>
                <a:ext cx="275169" cy="928694"/>
                <a:chOff x="2571736" y="642918"/>
                <a:chExt cx="285752" cy="1285884"/>
              </a:xfrm>
              <a:solidFill>
                <a:srgbClr val="FFFF00"/>
              </a:solidFill>
            </p:grpSpPr>
            <p:sp>
              <p:nvSpPr>
                <p:cNvPr id="251" name="Arc plein 250">
                  <a:extLst>
                    <a:ext uri="{FF2B5EF4-FFF2-40B4-BE49-F238E27FC236}">
                      <a16:creationId xmlns:a16="http://schemas.microsoft.com/office/drawing/2014/main" id="{CB621565-2022-4331-AB71-350E1FFF6405}"/>
                    </a:ext>
                  </a:extLst>
                </p:cNvPr>
                <p:cNvSpPr/>
                <p:nvPr/>
              </p:nvSpPr>
              <p:spPr>
                <a:xfrm>
                  <a:off x="2571736" y="1285860"/>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252" name="Arc plein 251">
                  <a:extLst>
                    <a:ext uri="{FF2B5EF4-FFF2-40B4-BE49-F238E27FC236}">
                      <a16:creationId xmlns:a16="http://schemas.microsoft.com/office/drawing/2014/main" id="{8502F328-DF29-4D1F-8071-9569DBDDC5C8}"/>
                    </a:ext>
                  </a:extLst>
                </p:cNvPr>
                <p:cNvSpPr/>
                <p:nvPr/>
              </p:nvSpPr>
              <p:spPr>
                <a:xfrm rot="10800000">
                  <a:off x="2571736" y="642918"/>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250" name="Ellipse 249">
                <a:extLst>
                  <a:ext uri="{FF2B5EF4-FFF2-40B4-BE49-F238E27FC236}">
                    <a16:creationId xmlns:a16="http://schemas.microsoft.com/office/drawing/2014/main" id="{76DAE029-425A-4879-81E1-3C7612A9E431}"/>
                  </a:ext>
                </a:extLst>
              </p:cNvPr>
              <p:cNvSpPr/>
              <p:nvPr/>
            </p:nvSpPr>
            <p:spPr>
              <a:xfrm>
                <a:off x="7066623" y="948816"/>
                <a:ext cx="108000" cy="104000"/>
              </a:xfrm>
              <a:prstGeom prst="ellipse">
                <a:avLst/>
              </a:prstGeom>
              <a:solidFill>
                <a:srgbClr val="FFFF00"/>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239" name="Groupe 262">
              <a:extLst>
                <a:ext uri="{FF2B5EF4-FFF2-40B4-BE49-F238E27FC236}">
                  <a16:creationId xmlns:a16="http://schemas.microsoft.com/office/drawing/2014/main" id="{E0A0E914-6F2E-4C5E-BB09-7CF02136B26A}"/>
                </a:ext>
              </a:extLst>
            </p:cNvPr>
            <p:cNvGrpSpPr/>
            <p:nvPr/>
          </p:nvGrpSpPr>
          <p:grpSpPr>
            <a:xfrm>
              <a:off x="7506891" y="1847834"/>
              <a:ext cx="240773" cy="785818"/>
              <a:chOff x="7490380" y="679345"/>
              <a:chExt cx="240773" cy="785818"/>
            </a:xfrm>
          </p:grpSpPr>
          <p:grpSp>
            <p:nvGrpSpPr>
              <p:cNvPr id="245" name="Groupe 24">
                <a:extLst>
                  <a:ext uri="{FF2B5EF4-FFF2-40B4-BE49-F238E27FC236}">
                    <a16:creationId xmlns:a16="http://schemas.microsoft.com/office/drawing/2014/main" id="{39D9A935-C016-4C6B-AEEF-2C3497E53404}"/>
                  </a:ext>
                </a:extLst>
              </p:cNvPr>
              <p:cNvGrpSpPr/>
              <p:nvPr/>
            </p:nvGrpSpPr>
            <p:grpSpPr>
              <a:xfrm>
                <a:off x="7490380" y="679345"/>
                <a:ext cx="240773" cy="785818"/>
                <a:chOff x="2571736" y="642918"/>
                <a:chExt cx="285752" cy="1285884"/>
              </a:xfrm>
              <a:solidFill>
                <a:srgbClr val="FFFF00"/>
              </a:solidFill>
            </p:grpSpPr>
            <p:sp>
              <p:nvSpPr>
                <p:cNvPr id="247" name="Arc plein 246">
                  <a:extLst>
                    <a:ext uri="{FF2B5EF4-FFF2-40B4-BE49-F238E27FC236}">
                      <a16:creationId xmlns:a16="http://schemas.microsoft.com/office/drawing/2014/main" id="{71444DF9-43EA-47BC-AA58-E996D00F0E04}"/>
                    </a:ext>
                  </a:extLst>
                </p:cNvPr>
                <p:cNvSpPr/>
                <p:nvPr/>
              </p:nvSpPr>
              <p:spPr>
                <a:xfrm>
                  <a:off x="2571736" y="1285860"/>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248" name="Arc plein 247">
                  <a:extLst>
                    <a:ext uri="{FF2B5EF4-FFF2-40B4-BE49-F238E27FC236}">
                      <a16:creationId xmlns:a16="http://schemas.microsoft.com/office/drawing/2014/main" id="{605111D9-46AC-4294-B32B-55B3D616E856}"/>
                    </a:ext>
                  </a:extLst>
                </p:cNvPr>
                <p:cNvSpPr/>
                <p:nvPr/>
              </p:nvSpPr>
              <p:spPr>
                <a:xfrm rot="10800000">
                  <a:off x="2571736" y="642918"/>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246" name="Ellipse 245">
                <a:extLst>
                  <a:ext uri="{FF2B5EF4-FFF2-40B4-BE49-F238E27FC236}">
                    <a16:creationId xmlns:a16="http://schemas.microsoft.com/office/drawing/2014/main" id="{391B2CE8-86D2-4BFA-926E-E681C2E685E0}"/>
                  </a:ext>
                </a:extLst>
              </p:cNvPr>
              <p:cNvSpPr/>
              <p:nvPr/>
            </p:nvSpPr>
            <p:spPr>
              <a:xfrm>
                <a:off x="7556766" y="1024254"/>
                <a:ext cx="108000" cy="96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240" name="Groupe 284">
              <a:extLst>
                <a:ext uri="{FF2B5EF4-FFF2-40B4-BE49-F238E27FC236}">
                  <a16:creationId xmlns:a16="http://schemas.microsoft.com/office/drawing/2014/main" id="{2709E21C-98FA-4213-AD1F-3579B7399A03}"/>
                </a:ext>
              </a:extLst>
            </p:cNvPr>
            <p:cNvGrpSpPr/>
            <p:nvPr/>
          </p:nvGrpSpPr>
          <p:grpSpPr>
            <a:xfrm>
              <a:off x="7512578" y="2276472"/>
              <a:ext cx="240773" cy="785818"/>
              <a:chOff x="7791346" y="679345"/>
              <a:chExt cx="240773" cy="785818"/>
            </a:xfrm>
          </p:grpSpPr>
          <p:grpSp>
            <p:nvGrpSpPr>
              <p:cNvPr id="241" name="Groupe 21">
                <a:extLst>
                  <a:ext uri="{FF2B5EF4-FFF2-40B4-BE49-F238E27FC236}">
                    <a16:creationId xmlns:a16="http://schemas.microsoft.com/office/drawing/2014/main" id="{F778E718-F216-4003-B4C7-2E83309BBC85}"/>
                  </a:ext>
                </a:extLst>
              </p:cNvPr>
              <p:cNvGrpSpPr/>
              <p:nvPr/>
            </p:nvGrpSpPr>
            <p:grpSpPr>
              <a:xfrm>
                <a:off x="7791346" y="679345"/>
                <a:ext cx="240773" cy="785818"/>
                <a:chOff x="2571736" y="642918"/>
                <a:chExt cx="285752" cy="1285884"/>
              </a:xfrm>
              <a:solidFill>
                <a:srgbClr val="FFFF00"/>
              </a:solidFill>
            </p:grpSpPr>
            <p:sp>
              <p:nvSpPr>
                <p:cNvPr id="243" name="Arc plein 242">
                  <a:extLst>
                    <a:ext uri="{FF2B5EF4-FFF2-40B4-BE49-F238E27FC236}">
                      <a16:creationId xmlns:a16="http://schemas.microsoft.com/office/drawing/2014/main" id="{C4DC1BEC-5D5C-4A24-AFBC-0C60EF495572}"/>
                    </a:ext>
                  </a:extLst>
                </p:cNvPr>
                <p:cNvSpPr/>
                <p:nvPr/>
              </p:nvSpPr>
              <p:spPr>
                <a:xfrm>
                  <a:off x="2571736" y="1285860"/>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244" name="Arc plein 243">
                  <a:extLst>
                    <a:ext uri="{FF2B5EF4-FFF2-40B4-BE49-F238E27FC236}">
                      <a16:creationId xmlns:a16="http://schemas.microsoft.com/office/drawing/2014/main" id="{F2B5A7F2-4628-4391-A636-96737076B9E3}"/>
                    </a:ext>
                  </a:extLst>
                </p:cNvPr>
                <p:cNvSpPr/>
                <p:nvPr/>
              </p:nvSpPr>
              <p:spPr>
                <a:xfrm rot="10800000">
                  <a:off x="2571736" y="642918"/>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242" name="Ellipse 241">
                <a:extLst>
                  <a:ext uri="{FF2B5EF4-FFF2-40B4-BE49-F238E27FC236}">
                    <a16:creationId xmlns:a16="http://schemas.microsoft.com/office/drawing/2014/main" id="{5439594B-768B-492B-837A-44B86BFFC1BB}"/>
                  </a:ext>
                </a:extLst>
              </p:cNvPr>
              <p:cNvSpPr/>
              <p:nvPr/>
            </p:nvSpPr>
            <p:spPr>
              <a:xfrm>
                <a:off x="7857732" y="1024254"/>
                <a:ext cx="108000" cy="96000"/>
              </a:xfrm>
              <a:prstGeom prst="ellipse">
                <a:avLst/>
              </a:prstGeom>
              <a:solidFill>
                <a:srgbClr val="FFFF00"/>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grpSp>
        <p:nvGrpSpPr>
          <p:cNvPr id="257" name="Groupe 439">
            <a:extLst>
              <a:ext uri="{FF2B5EF4-FFF2-40B4-BE49-F238E27FC236}">
                <a16:creationId xmlns:a16="http://schemas.microsoft.com/office/drawing/2014/main" id="{0FAE0310-43FC-4FE9-8FEC-608ECF2DCCB9}"/>
              </a:ext>
            </a:extLst>
          </p:cNvPr>
          <p:cNvGrpSpPr/>
          <p:nvPr/>
        </p:nvGrpSpPr>
        <p:grpSpPr>
          <a:xfrm>
            <a:off x="944233" y="3165777"/>
            <a:ext cx="2967410" cy="1262071"/>
            <a:chOff x="5667380" y="3143248"/>
            <a:chExt cx="3214694" cy="1262071"/>
          </a:xfrm>
        </p:grpSpPr>
        <p:grpSp>
          <p:nvGrpSpPr>
            <p:cNvPr id="258" name="Groupe 116">
              <a:extLst>
                <a:ext uri="{FF2B5EF4-FFF2-40B4-BE49-F238E27FC236}">
                  <a16:creationId xmlns:a16="http://schemas.microsoft.com/office/drawing/2014/main" id="{6743F6E7-F8B7-40AE-A4F1-C8EA71277EA0}"/>
                </a:ext>
              </a:extLst>
            </p:cNvPr>
            <p:cNvGrpSpPr/>
            <p:nvPr/>
          </p:nvGrpSpPr>
          <p:grpSpPr>
            <a:xfrm>
              <a:off x="6518683" y="3143248"/>
              <a:ext cx="1470432" cy="296035"/>
              <a:chOff x="3654341" y="3269814"/>
              <a:chExt cx="2043267" cy="581787"/>
            </a:xfrm>
            <a:solidFill>
              <a:schemeClr val="accent4">
                <a:lumMod val="60000"/>
                <a:lumOff val="40000"/>
              </a:schemeClr>
            </a:solidFill>
          </p:grpSpPr>
          <p:sp>
            <p:nvSpPr>
              <p:cNvPr id="291" name="Flèche vers le bas 117">
                <a:extLst>
                  <a:ext uri="{FF2B5EF4-FFF2-40B4-BE49-F238E27FC236}">
                    <a16:creationId xmlns:a16="http://schemas.microsoft.com/office/drawing/2014/main" id="{77CF837E-3F57-4F2E-AF8F-BDA70655013D}"/>
                  </a:ext>
                </a:extLst>
              </p:cNvPr>
              <p:cNvSpPr/>
              <p:nvPr/>
            </p:nvSpPr>
            <p:spPr>
              <a:xfrm rot="2018616">
                <a:off x="3654341" y="3269814"/>
                <a:ext cx="231661" cy="571504"/>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sp>
            <p:nvSpPr>
              <p:cNvPr id="292" name="Flèche vers le bas 118">
                <a:extLst>
                  <a:ext uri="{FF2B5EF4-FFF2-40B4-BE49-F238E27FC236}">
                    <a16:creationId xmlns:a16="http://schemas.microsoft.com/office/drawing/2014/main" id="{D9DF8943-E34E-44C5-96C6-88AE8BB4F115}"/>
                  </a:ext>
                </a:extLst>
              </p:cNvPr>
              <p:cNvSpPr/>
              <p:nvPr/>
            </p:nvSpPr>
            <p:spPr>
              <a:xfrm rot="19096080">
                <a:off x="5461653" y="3280097"/>
                <a:ext cx="235955" cy="571504"/>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grpSp>
        <p:grpSp>
          <p:nvGrpSpPr>
            <p:cNvPr id="259" name="Groupe 438">
              <a:extLst>
                <a:ext uri="{FF2B5EF4-FFF2-40B4-BE49-F238E27FC236}">
                  <a16:creationId xmlns:a16="http://schemas.microsoft.com/office/drawing/2014/main" id="{E56248A0-A2AF-4C00-B782-609CE3F15ADE}"/>
                </a:ext>
              </a:extLst>
            </p:cNvPr>
            <p:cNvGrpSpPr/>
            <p:nvPr/>
          </p:nvGrpSpPr>
          <p:grpSpPr>
            <a:xfrm>
              <a:off x="5667380" y="3429000"/>
              <a:ext cx="928694" cy="928694"/>
              <a:chOff x="5667380" y="3429000"/>
              <a:chExt cx="928694" cy="928694"/>
            </a:xfrm>
          </p:grpSpPr>
          <p:sp>
            <p:nvSpPr>
              <p:cNvPr id="273" name="Ellipse 272">
                <a:extLst>
                  <a:ext uri="{FF2B5EF4-FFF2-40B4-BE49-F238E27FC236}">
                    <a16:creationId xmlns:a16="http://schemas.microsoft.com/office/drawing/2014/main" id="{B467EAE6-D925-4CAF-BF13-F3D3C03B04E3}"/>
                  </a:ext>
                </a:extLst>
              </p:cNvPr>
              <p:cNvSpPr/>
              <p:nvPr/>
            </p:nvSpPr>
            <p:spPr>
              <a:xfrm>
                <a:off x="5667380" y="3429000"/>
                <a:ext cx="928694" cy="928694"/>
              </a:xfrm>
              <a:prstGeom prst="ellipse">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grpSp>
            <p:nvGrpSpPr>
              <p:cNvPr id="274" name="Groupe 311">
                <a:extLst>
                  <a:ext uri="{FF2B5EF4-FFF2-40B4-BE49-F238E27FC236}">
                    <a16:creationId xmlns:a16="http://schemas.microsoft.com/office/drawing/2014/main" id="{0CB22994-96A0-4973-825E-35197155C020}"/>
                  </a:ext>
                </a:extLst>
              </p:cNvPr>
              <p:cNvGrpSpPr/>
              <p:nvPr/>
            </p:nvGrpSpPr>
            <p:grpSpPr>
              <a:xfrm>
                <a:off x="5810256" y="3429000"/>
                <a:ext cx="275169" cy="928694"/>
                <a:chOff x="6983039" y="536469"/>
                <a:chExt cx="275169" cy="928694"/>
              </a:xfrm>
            </p:grpSpPr>
            <p:grpSp>
              <p:nvGrpSpPr>
                <p:cNvPr id="280" name="Groupe 21">
                  <a:extLst>
                    <a:ext uri="{FF2B5EF4-FFF2-40B4-BE49-F238E27FC236}">
                      <a16:creationId xmlns:a16="http://schemas.microsoft.com/office/drawing/2014/main" id="{85BFD872-01D4-4C13-A144-72E0488C89E5}"/>
                    </a:ext>
                  </a:extLst>
                </p:cNvPr>
                <p:cNvGrpSpPr/>
                <p:nvPr/>
              </p:nvGrpSpPr>
              <p:grpSpPr>
                <a:xfrm>
                  <a:off x="6983039" y="536469"/>
                  <a:ext cx="275169" cy="928694"/>
                  <a:chOff x="2571736" y="642918"/>
                  <a:chExt cx="285752" cy="1285884"/>
                </a:xfrm>
                <a:solidFill>
                  <a:srgbClr val="FFFF00"/>
                </a:solidFill>
              </p:grpSpPr>
              <p:sp>
                <p:nvSpPr>
                  <p:cNvPr id="285" name="Arc plein 284">
                    <a:extLst>
                      <a:ext uri="{FF2B5EF4-FFF2-40B4-BE49-F238E27FC236}">
                        <a16:creationId xmlns:a16="http://schemas.microsoft.com/office/drawing/2014/main" id="{4AA3764D-F71E-45B4-AC04-117027EE098E}"/>
                      </a:ext>
                    </a:extLst>
                  </p:cNvPr>
                  <p:cNvSpPr/>
                  <p:nvPr/>
                </p:nvSpPr>
                <p:spPr>
                  <a:xfrm>
                    <a:off x="2571736" y="1285860"/>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286" name="Arc plein 285">
                    <a:extLst>
                      <a:ext uri="{FF2B5EF4-FFF2-40B4-BE49-F238E27FC236}">
                        <a16:creationId xmlns:a16="http://schemas.microsoft.com/office/drawing/2014/main" id="{35F30DBE-BF7F-40A4-8053-2AA19E6620E1}"/>
                      </a:ext>
                    </a:extLst>
                  </p:cNvPr>
                  <p:cNvSpPr/>
                  <p:nvPr/>
                </p:nvSpPr>
                <p:spPr>
                  <a:xfrm rot="10800000">
                    <a:off x="2571736" y="642918"/>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281" name="Ellipse 280">
                  <a:extLst>
                    <a:ext uri="{FF2B5EF4-FFF2-40B4-BE49-F238E27FC236}">
                      <a16:creationId xmlns:a16="http://schemas.microsoft.com/office/drawing/2014/main" id="{84CB6AF0-180E-44A0-B097-8A09EDB2014B}"/>
                    </a:ext>
                  </a:extLst>
                </p:cNvPr>
                <p:cNvSpPr/>
                <p:nvPr/>
              </p:nvSpPr>
              <p:spPr>
                <a:xfrm>
                  <a:off x="7066623" y="948816"/>
                  <a:ext cx="108000" cy="104000"/>
                </a:xfrm>
                <a:prstGeom prst="ellipse">
                  <a:avLst/>
                </a:prstGeom>
                <a:solidFill>
                  <a:srgbClr val="FFFF00"/>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275" name="Groupe 316">
                <a:extLst>
                  <a:ext uri="{FF2B5EF4-FFF2-40B4-BE49-F238E27FC236}">
                    <a16:creationId xmlns:a16="http://schemas.microsoft.com/office/drawing/2014/main" id="{C6C108C3-27FD-403A-BE5F-BE99FD8A9A0F}"/>
                  </a:ext>
                </a:extLst>
              </p:cNvPr>
              <p:cNvGrpSpPr/>
              <p:nvPr/>
            </p:nvGrpSpPr>
            <p:grpSpPr>
              <a:xfrm>
                <a:off x="6231473" y="3495689"/>
                <a:ext cx="240773" cy="785818"/>
                <a:chOff x="7791346" y="679345"/>
                <a:chExt cx="240773" cy="785818"/>
              </a:xfrm>
            </p:grpSpPr>
            <p:grpSp>
              <p:nvGrpSpPr>
                <p:cNvPr id="276" name="Groupe 21">
                  <a:extLst>
                    <a:ext uri="{FF2B5EF4-FFF2-40B4-BE49-F238E27FC236}">
                      <a16:creationId xmlns:a16="http://schemas.microsoft.com/office/drawing/2014/main" id="{00AD2C84-6000-4818-A8B0-E4D0A0371099}"/>
                    </a:ext>
                  </a:extLst>
                </p:cNvPr>
                <p:cNvGrpSpPr/>
                <p:nvPr/>
              </p:nvGrpSpPr>
              <p:grpSpPr>
                <a:xfrm>
                  <a:off x="7791346" y="679345"/>
                  <a:ext cx="240773" cy="785818"/>
                  <a:chOff x="2571736" y="642918"/>
                  <a:chExt cx="285752" cy="1285884"/>
                </a:xfrm>
                <a:solidFill>
                  <a:srgbClr val="FFFF00"/>
                </a:solidFill>
              </p:grpSpPr>
              <p:sp>
                <p:nvSpPr>
                  <p:cNvPr id="278" name="Arc plein 277">
                    <a:extLst>
                      <a:ext uri="{FF2B5EF4-FFF2-40B4-BE49-F238E27FC236}">
                        <a16:creationId xmlns:a16="http://schemas.microsoft.com/office/drawing/2014/main" id="{058C121B-D5E0-472C-BFDF-F5F88158EF10}"/>
                      </a:ext>
                    </a:extLst>
                  </p:cNvPr>
                  <p:cNvSpPr/>
                  <p:nvPr/>
                </p:nvSpPr>
                <p:spPr>
                  <a:xfrm>
                    <a:off x="2571736" y="1285860"/>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279" name="Arc plein 278">
                    <a:extLst>
                      <a:ext uri="{FF2B5EF4-FFF2-40B4-BE49-F238E27FC236}">
                        <a16:creationId xmlns:a16="http://schemas.microsoft.com/office/drawing/2014/main" id="{D02711AB-9C2B-4F58-9789-57196950B282}"/>
                      </a:ext>
                    </a:extLst>
                  </p:cNvPr>
                  <p:cNvSpPr/>
                  <p:nvPr/>
                </p:nvSpPr>
                <p:spPr>
                  <a:xfrm rot="10800000">
                    <a:off x="2571736" y="642918"/>
                    <a:ext cx="285752" cy="642942"/>
                  </a:xfrm>
                  <a:prstGeom prst="blockArc">
                    <a:avLst/>
                  </a:prstGeom>
                  <a:grp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277" name="Ellipse 276">
                  <a:extLst>
                    <a:ext uri="{FF2B5EF4-FFF2-40B4-BE49-F238E27FC236}">
                      <a16:creationId xmlns:a16="http://schemas.microsoft.com/office/drawing/2014/main" id="{2F5B2D1E-AC36-4F58-B740-27FDF6017805}"/>
                    </a:ext>
                  </a:extLst>
                </p:cNvPr>
                <p:cNvSpPr/>
                <p:nvPr/>
              </p:nvSpPr>
              <p:spPr>
                <a:xfrm>
                  <a:off x="7857732" y="1024254"/>
                  <a:ext cx="108000" cy="96000"/>
                </a:xfrm>
                <a:prstGeom prst="ellipse">
                  <a:avLst/>
                </a:prstGeom>
                <a:solidFill>
                  <a:srgbClr val="FFFF00"/>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grpSp>
          <p:nvGrpSpPr>
            <p:cNvPr id="260" name="Groupe 437">
              <a:extLst>
                <a:ext uri="{FF2B5EF4-FFF2-40B4-BE49-F238E27FC236}">
                  <a16:creationId xmlns:a16="http://schemas.microsoft.com/office/drawing/2014/main" id="{03FA6519-BFE5-4B07-8023-C5E617C8D9C0}"/>
                </a:ext>
              </a:extLst>
            </p:cNvPr>
            <p:cNvGrpSpPr/>
            <p:nvPr/>
          </p:nvGrpSpPr>
          <p:grpSpPr>
            <a:xfrm>
              <a:off x="7953380" y="3438508"/>
              <a:ext cx="928694" cy="966811"/>
              <a:chOff x="7953380" y="3438508"/>
              <a:chExt cx="928694" cy="966811"/>
            </a:xfrm>
          </p:grpSpPr>
          <p:sp>
            <p:nvSpPr>
              <p:cNvPr id="261" name="Ellipse 260">
                <a:extLst>
                  <a:ext uri="{FF2B5EF4-FFF2-40B4-BE49-F238E27FC236}">
                    <a16:creationId xmlns:a16="http://schemas.microsoft.com/office/drawing/2014/main" id="{5292F526-C0C2-4DCA-8FC1-2797178952BF}"/>
                  </a:ext>
                </a:extLst>
              </p:cNvPr>
              <p:cNvSpPr/>
              <p:nvPr/>
            </p:nvSpPr>
            <p:spPr>
              <a:xfrm>
                <a:off x="7953380" y="3476625"/>
                <a:ext cx="928694" cy="928694"/>
              </a:xfrm>
              <a:prstGeom prst="ellipse">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grpSp>
            <p:nvGrpSpPr>
              <p:cNvPr id="262" name="Groupe 322">
                <a:extLst>
                  <a:ext uri="{FF2B5EF4-FFF2-40B4-BE49-F238E27FC236}">
                    <a16:creationId xmlns:a16="http://schemas.microsoft.com/office/drawing/2014/main" id="{B94656C5-A880-4513-82AC-F100FB45D5C4}"/>
                  </a:ext>
                </a:extLst>
              </p:cNvPr>
              <p:cNvGrpSpPr/>
              <p:nvPr/>
            </p:nvGrpSpPr>
            <p:grpSpPr>
              <a:xfrm>
                <a:off x="8105771" y="3438508"/>
                <a:ext cx="275169" cy="928694"/>
                <a:chOff x="6639078" y="536469"/>
                <a:chExt cx="275169" cy="928694"/>
              </a:xfrm>
            </p:grpSpPr>
            <p:grpSp>
              <p:nvGrpSpPr>
                <p:cNvPr id="269" name="Groupe 24">
                  <a:extLst>
                    <a:ext uri="{FF2B5EF4-FFF2-40B4-BE49-F238E27FC236}">
                      <a16:creationId xmlns:a16="http://schemas.microsoft.com/office/drawing/2014/main" id="{FBAE338C-CC40-494F-9326-96D443E54FFF}"/>
                    </a:ext>
                  </a:extLst>
                </p:cNvPr>
                <p:cNvGrpSpPr/>
                <p:nvPr/>
              </p:nvGrpSpPr>
              <p:grpSpPr>
                <a:xfrm>
                  <a:off x="6639078" y="536469"/>
                  <a:ext cx="275169" cy="928694"/>
                  <a:chOff x="2571736" y="642918"/>
                  <a:chExt cx="285752" cy="1285884"/>
                </a:xfrm>
              </p:grpSpPr>
              <p:sp>
                <p:nvSpPr>
                  <p:cNvPr id="271" name="Arc plein 270">
                    <a:extLst>
                      <a:ext uri="{FF2B5EF4-FFF2-40B4-BE49-F238E27FC236}">
                        <a16:creationId xmlns:a16="http://schemas.microsoft.com/office/drawing/2014/main" id="{EDDCA024-038E-498D-8727-6CB8F00E8221}"/>
                      </a:ext>
                    </a:extLst>
                  </p:cNvPr>
                  <p:cNvSpPr/>
                  <p:nvPr/>
                </p:nvSpPr>
                <p:spPr>
                  <a:xfrm>
                    <a:off x="2571736" y="1285860"/>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272" name="Arc plein 271">
                    <a:extLst>
                      <a:ext uri="{FF2B5EF4-FFF2-40B4-BE49-F238E27FC236}">
                        <a16:creationId xmlns:a16="http://schemas.microsoft.com/office/drawing/2014/main" id="{F65E3E62-D9D9-4D57-A6B1-4238C0C60DE6}"/>
                      </a:ext>
                    </a:extLst>
                  </p:cNvPr>
                  <p:cNvSpPr/>
                  <p:nvPr/>
                </p:nvSpPr>
                <p:spPr>
                  <a:xfrm rot="10800000">
                    <a:off x="2571736" y="642918"/>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270" name="Ellipse 269">
                  <a:extLst>
                    <a:ext uri="{FF2B5EF4-FFF2-40B4-BE49-F238E27FC236}">
                      <a16:creationId xmlns:a16="http://schemas.microsoft.com/office/drawing/2014/main" id="{543E5914-C71D-4A3D-ADCC-24BAC4E8D9D8}"/>
                    </a:ext>
                  </a:extLst>
                </p:cNvPr>
                <p:cNvSpPr/>
                <p:nvPr/>
              </p:nvSpPr>
              <p:spPr>
                <a:xfrm>
                  <a:off x="6722662" y="948816"/>
                  <a:ext cx="108000" cy="104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263" name="Groupe 327">
                <a:extLst>
                  <a:ext uri="{FF2B5EF4-FFF2-40B4-BE49-F238E27FC236}">
                    <a16:creationId xmlns:a16="http://schemas.microsoft.com/office/drawing/2014/main" id="{3328F21D-7DB7-4EDF-81F3-0EA98C9B3C2D}"/>
                  </a:ext>
                </a:extLst>
              </p:cNvPr>
              <p:cNvGrpSpPr/>
              <p:nvPr/>
            </p:nvGrpSpPr>
            <p:grpSpPr>
              <a:xfrm>
                <a:off x="8526066" y="3571876"/>
                <a:ext cx="240773" cy="785818"/>
                <a:chOff x="7490380" y="679345"/>
                <a:chExt cx="240773" cy="785818"/>
              </a:xfrm>
            </p:grpSpPr>
            <p:grpSp>
              <p:nvGrpSpPr>
                <p:cNvPr id="264" name="Groupe 24">
                  <a:extLst>
                    <a:ext uri="{FF2B5EF4-FFF2-40B4-BE49-F238E27FC236}">
                      <a16:creationId xmlns:a16="http://schemas.microsoft.com/office/drawing/2014/main" id="{04853A9C-19F8-4BF2-B7E0-0B50A22DF5CC}"/>
                    </a:ext>
                  </a:extLst>
                </p:cNvPr>
                <p:cNvGrpSpPr/>
                <p:nvPr/>
              </p:nvGrpSpPr>
              <p:grpSpPr>
                <a:xfrm>
                  <a:off x="7490380" y="679345"/>
                  <a:ext cx="240773" cy="785818"/>
                  <a:chOff x="2571736" y="642918"/>
                  <a:chExt cx="285752" cy="1285884"/>
                </a:xfrm>
                <a:solidFill>
                  <a:srgbClr val="FFFF00"/>
                </a:solidFill>
              </p:grpSpPr>
              <p:sp>
                <p:nvSpPr>
                  <p:cNvPr id="267" name="Arc plein 266">
                    <a:extLst>
                      <a:ext uri="{FF2B5EF4-FFF2-40B4-BE49-F238E27FC236}">
                        <a16:creationId xmlns:a16="http://schemas.microsoft.com/office/drawing/2014/main" id="{5563698B-EA97-4B31-A3AC-36B7FA212E41}"/>
                      </a:ext>
                    </a:extLst>
                  </p:cNvPr>
                  <p:cNvSpPr/>
                  <p:nvPr/>
                </p:nvSpPr>
                <p:spPr>
                  <a:xfrm>
                    <a:off x="2571736" y="1285860"/>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sp>
                <p:nvSpPr>
                  <p:cNvPr id="268" name="Arc plein 267">
                    <a:extLst>
                      <a:ext uri="{FF2B5EF4-FFF2-40B4-BE49-F238E27FC236}">
                        <a16:creationId xmlns:a16="http://schemas.microsoft.com/office/drawing/2014/main" id="{ED265688-C2AB-4F1B-A4B8-BC780042707D}"/>
                      </a:ext>
                    </a:extLst>
                  </p:cNvPr>
                  <p:cNvSpPr/>
                  <p:nvPr/>
                </p:nvSpPr>
                <p:spPr>
                  <a:xfrm rot="10800000">
                    <a:off x="2571736" y="642918"/>
                    <a:ext cx="285752" cy="642942"/>
                  </a:xfrm>
                  <a:prstGeom prst="blockArc">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solidFill>
                        <a:schemeClr val="tx1"/>
                      </a:solidFill>
                    </a:endParaRPr>
                  </a:p>
                </p:txBody>
              </p:sp>
            </p:grpSp>
            <p:sp>
              <p:nvSpPr>
                <p:cNvPr id="266" name="Ellipse 265">
                  <a:extLst>
                    <a:ext uri="{FF2B5EF4-FFF2-40B4-BE49-F238E27FC236}">
                      <a16:creationId xmlns:a16="http://schemas.microsoft.com/office/drawing/2014/main" id="{B40F176E-243A-4D3A-90F4-4AC5ADBCDBE1}"/>
                    </a:ext>
                  </a:extLst>
                </p:cNvPr>
                <p:cNvSpPr/>
                <p:nvPr/>
              </p:nvSpPr>
              <p:spPr>
                <a:xfrm>
                  <a:off x="7556766" y="1024254"/>
                  <a:ext cx="108000" cy="96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grpSp>
      <p:grpSp>
        <p:nvGrpSpPr>
          <p:cNvPr id="296" name="Groupe 442">
            <a:extLst>
              <a:ext uri="{FF2B5EF4-FFF2-40B4-BE49-F238E27FC236}">
                <a16:creationId xmlns:a16="http://schemas.microsoft.com/office/drawing/2014/main" id="{8234074A-5D55-4732-86D3-1AF1997F2B60}"/>
              </a:ext>
            </a:extLst>
          </p:cNvPr>
          <p:cNvGrpSpPr/>
          <p:nvPr/>
        </p:nvGrpSpPr>
        <p:grpSpPr>
          <a:xfrm>
            <a:off x="-176793" y="4451660"/>
            <a:ext cx="4739048" cy="1428760"/>
            <a:chOff x="4595810" y="4429132"/>
            <a:chExt cx="5133969" cy="1428760"/>
          </a:xfrm>
        </p:grpSpPr>
        <p:grpSp>
          <p:nvGrpSpPr>
            <p:cNvPr id="297" name="Groupe 136">
              <a:extLst>
                <a:ext uri="{FF2B5EF4-FFF2-40B4-BE49-F238E27FC236}">
                  <a16:creationId xmlns:a16="http://schemas.microsoft.com/office/drawing/2014/main" id="{4C222E6E-E8CB-4CD5-BF3A-C3F9DF23A7B1}"/>
                </a:ext>
              </a:extLst>
            </p:cNvPr>
            <p:cNvGrpSpPr/>
            <p:nvPr/>
          </p:nvGrpSpPr>
          <p:grpSpPr>
            <a:xfrm>
              <a:off x="5720958" y="4429132"/>
              <a:ext cx="1160868" cy="296035"/>
              <a:chOff x="3654341" y="3269814"/>
              <a:chExt cx="2043267" cy="581787"/>
            </a:xfrm>
            <a:solidFill>
              <a:schemeClr val="accent4">
                <a:lumMod val="60000"/>
                <a:lumOff val="40000"/>
              </a:schemeClr>
            </a:solidFill>
          </p:grpSpPr>
          <p:sp>
            <p:nvSpPr>
              <p:cNvPr id="435" name="Flèche vers le bas 137">
                <a:extLst>
                  <a:ext uri="{FF2B5EF4-FFF2-40B4-BE49-F238E27FC236}">
                    <a16:creationId xmlns:a16="http://schemas.microsoft.com/office/drawing/2014/main" id="{4E891D22-3034-4976-827F-64A1854E2484}"/>
                  </a:ext>
                </a:extLst>
              </p:cNvPr>
              <p:cNvSpPr/>
              <p:nvPr/>
            </p:nvSpPr>
            <p:spPr>
              <a:xfrm rot="2340000">
                <a:off x="3654341" y="3269814"/>
                <a:ext cx="231662" cy="571505"/>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sp>
            <p:nvSpPr>
              <p:cNvPr id="436" name="Flèche vers le bas 138">
                <a:extLst>
                  <a:ext uri="{FF2B5EF4-FFF2-40B4-BE49-F238E27FC236}">
                    <a16:creationId xmlns:a16="http://schemas.microsoft.com/office/drawing/2014/main" id="{41B67BEC-3067-434C-9A6B-96BD358F63AD}"/>
                  </a:ext>
                </a:extLst>
              </p:cNvPr>
              <p:cNvSpPr/>
              <p:nvPr/>
            </p:nvSpPr>
            <p:spPr>
              <a:xfrm rot="19096080">
                <a:off x="5461653" y="3280097"/>
                <a:ext cx="235955" cy="571504"/>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grpSp>
        <p:grpSp>
          <p:nvGrpSpPr>
            <p:cNvPr id="301" name="Groupe 139">
              <a:extLst>
                <a:ext uri="{FF2B5EF4-FFF2-40B4-BE49-F238E27FC236}">
                  <a16:creationId xmlns:a16="http://schemas.microsoft.com/office/drawing/2014/main" id="{F7792373-0AC9-4025-ABAF-5DE3C2EDCC90}"/>
                </a:ext>
              </a:extLst>
            </p:cNvPr>
            <p:cNvGrpSpPr/>
            <p:nvPr/>
          </p:nvGrpSpPr>
          <p:grpSpPr>
            <a:xfrm>
              <a:off x="8078412" y="4429132"/>
              <a:ext cx="1160868" cy="296035"/>
              <a:chOff x="3654341" y="3269814"/>
              <a:chExt cx="2043267" cy="581787"/>
            </a:xfrm>
            <a:solidFill>
              <a:schemeClr val="accent4">
                <a:lumMod val="60000"/>
                <a:lumOff val="40000"/>
              </a:schemeClr>
            </a:solidFill>
          </p:grpSpPr>
          <p:sp>
            <p:nvSpPr>
              <p:cNvPr id="429" name="Flèche vers le bas 140">
                <a:extLst>
                  <a:ext uri="{FF2B5EF4-FFF2-40B4-BE49-F238E27FC236}">
                    <a16:creationId xmlns:a16="http://schemas.microsoft.com/office/drawing/2014/main" id="{A166CC8B-BAC0-4A26-8FE7-1DEB3E5FF402}"/>
                  </a:ext>
                </a:extLst>
              </p:cNvPr>
              <p:cNvSpPr/>
              <p:nvPr/>
            </p:nvSpPr>
            <p:spPr>
              <a:xfrm rot="2400000">
                <a:off x="3654341" y="3269814"/>
                <a:ext cx="231662" cy="571505"/>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sp>
            <p:nvSpPr>
              <p:cNvPr id="432" name="Flèche vers le bas 141">
                <a:extLst>
                  <a:ext uri="{FF2B5EF4-FFF2-40B4-BE49-F238E27FC236}">
                    <a16:creationId xmlns:a16="http://schemas.microsoft.com/office/drawing/2014/main" id="{00AFA134-AEB2-494F-9E41-C7560FFECF35}"/>
                  </a:ext>
                </a:extLst>
              </p:cNvPr>
              <p:cNvSpPr/>
              <p:nvPr/>
            </p:nvSpPr>
            <p:spPr>
              <a:xfrm rot="19096080">
                <a:off x="5461653" y="3280097"/>
                <a:ext cx="235955" cy="571504"/>
              </a:xfrm>
              <a:prstGeom prst="down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fr-FR"/>
              </a:p>
            </p:txBody>
          </p:sp>
        </p:grpSp>
        <p:grpSp>
          <p:nvGrpSpPr>
            <p:cNvPr id="302" name="Groupe 441">
              <a:extLst>
                <a:ext uri="{FF2B5EF4-FFF2-40B4-BE49-F238E27FC236}">
                  <a16:creationId xmlns:a16="http://schemas.microsoft.com/office/drawing/2014/main" id="{EA948006-F118-404F-8538-AAE43EF9E95C}"/>
                </a:ext>
              </a:extLst>
            </p:cNvPr>
            <p:cNvGrpSpPr/>
            <p:nvPr/>
          </p:nvGrpSpPr>
          <p:grpSpPr>
            <a:xfrm>
              <a:off x="4595810" y="4976811"/>
              <a:ext cx="5133969" cy="881081"/>
              <a:chOff x="4595810" y="4976811"/>
              <a:chExt cx="5133969" cy="881081"/>
            </a:xfrm>
          </p:grpSpPr>
          <p:grpSp>
            <p:nvGrpSpPr>
              <p:cNvPr id="306" name="Groupe 371">
                <a:extLst>
                  <a:ext uri="{FF2B5EF4-FFF2-40B4-BE49-F238E27FC236}">
                    <a16:creationId xmlns:a16="http://schemas.microsoft.com/office/drawing/2014/main" id="{DEB18085-B060-4E48-9720-F38241860C45}"/>
                  </a:ext>
                </a:extLst>
              </p:cNvPr>
              <p:cNvGrpSpPr/>
              <p:nvPr/>
            </p:nvGrpSpPr>
            <p:grpSpPr>
              <a:xfrm>
                <a:off x="4595810" y="5143512"/>
                <a:ext cx="5133969" cy="714380"/>
                <a:chOff x="-126417" y="5120490"/>
                <a:chExt cx="5133969" cy="714380"/>
              </a:xfrm>
            </p:grpSpPr>
            <p:grpSp>
              <p:nvGrpSpPr>
                <p:cNvPr id="374" name="Groupe 372">
                  <a:extLst>
                    <a:ext uri="{FF2B5EF4-FFF2-40B4-BE49-F238E27FC236}">
                      <a16:creationId xmlns:a16="http://schemas.microsoft.com/office/drawing/2014/main" id="{0926E0F9-3CC7-4D81-AF6F-E81C3C73AC02}"/>
                    </a:ext>
                  </a:extLst>
                </p:cNvPr>
                <p:cNvGrpSpPr/>
                <p:nvPr/>
              </p:nvGrpSpPr>
              <p:grpSpPr>
                <a:xfrm rot="19341147">
                  <a:off x="3435915" y="5120490"/>
                  <a:ext cx="1571636" cy="714380"/>
                  <a:chOff x="3238488" y="4857760"/>
                  <a:chExt cx="1571636" cy="714380"/>
                </a:xfrm>
              </p:grpSpPr>
              <p:sp>
                <p:nvSpPr>
                  <p:cNvPr id="420" name="Forme libre 385">
                    <a:extLst>
                      <a:ext uri="{FF2B5EF4-FFF2-40B4-BE49-F238E27FC236}">
                        <a16:creationId xmlns:a16="http://schemas.microsoft.com/office/drawing/2014/main" id="{0230E56E-4467-4D59-9B99-48C4488A8F48}"/>
                      </a:ext>
                    </a:extLst>
                  </p:cNvPr>
                  <p:cNvSpPr/>
                  <p:nvPr/>
                </p:nvSpPr>
                <p:spPr>
                  <a:xfrm>
                    <a:off x="3238488" y="5214950"/>
                    <a:ext cx="672176" cy="209858"/>
                  </a:xfrm>
                  <a:custGeom>
                    <a:avLst/>
                    <a:gdLst>
                      <a:gd name="connsiteX0" fmla="*/ 672176 w 672176"/>
                      <a:gd name="connsiteY0" fmla="*/ 308 h 209858"/>
                      <a:gd name="connsiteX1" fmla="*/ 529301 w 672176"/>
                      <a:gd name="connsiteY1" fmla="*/ 9833 h 209858"/>
                      <a:gd name="connsiteX2" fmla="*/ 491201 w 672176"/>
                      <a:gd name="connsiteY2" fmla="*/ 38408 h 209858"/>
                      <a:gd name="connsiteX3" fmla="*/ 434051 w 672176"/>
                      <a:gd name="connsiteY3" fmla="*/ 95558 h 209858"/>
                      <a:gd name="connsiteX4" fmla="*/ 405476 w 672176"/>
                      <a:gd name="connsiteY4" fmla="*/ 124133 h 209858"/>
                      <a:gd name="connsiteX5" fmla="*/ 376901 w 672176"/>
                      <a:gd name="connsiteY5" fmla="*/ 143183 h 209858"/>
                      <a:gd name="connsiteX6" fmla="*/ 357851 w 672176"/>
                      <a:gd name="connsiteY6" fmla="*/ 171758 h 209858"/>
                      <a:gd name="connsiteX7" fmla="*/ 281651 w 672176"/>
                      <a:gd name="connsiteY7" fmla="*/ 200333 h 209858"/>
                      <a:gd name="connsiteX8" fmla="*/ 253076 w 672176"/>
                      <a:gd name="connsiteY8" fmla="*/ 209858 h 209858"/>
                      <a:gd name="connsiteX9" fmla="*/ 129251 w 672176"/>
                      <a:gd name="connsiteY9" fmla="*/ 190808 h 209858"/>
                      <a:gd name="connsiteX10" fmla="*/ 72101 w 672176"/>
                      <a:gd name="connsiteY10" fmla="*/ 162233 h 209858"/>
                      <a:gd name="connsiteX11" fmla="*/ 34001 w 672176"/>
                      <a:gd name="connsiteY11" fmla="*/ 133658 h 209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2176" h="209858">
                        <a:moveTo>
                          <a:pt x="672176" y="308"/>
                        </a:moveTo>
                        <a:cubicBezTo>
                          <a:pt x="624551" y="3483"/>
                          <a:pt x="576008" y="0"/>
                          <a:pt x="529301" y="9833"/>
                        </a:cubicBezTo>
                        <a:cubicBezTo>
                          <a:pt x="513767" y="13103"/>
                          <a:pt x="503001" y="27788"/>
                          <a:pt x="491201" y="38408"/>
                        </a:cubicBezTo>
                        <a:cubicBezTo>
                          <a:pt x="471176" y="56430"/>
                          <a:pt x="453101" y="76508"/>
                          <a:pt x="434051" y="95558"/>
                        </a:cubicBezTo>
                        <a:cubicBezTo>
                          <a:pt x="424526" y="105083"/>
                          <a:pt x="416684" y="116661"/>
                          <a:pt x="405476" y="124133"/>
                        </a:cubicBezTo>
                        <a:lnTo>
                          <a:pt x="376901" y="143183"/>
                        </a:lnTo>
                        <a:cubicBezTo>
                          <a:pt x="370551" y="152708"/>
                          <a:pt x="366645" y="164429"/>
                          <a:pt x="357851" y="171758"/>
                        </a:cubicBezTo>
                        <a:cubicBezTo>
                          <a:pt x="334691" y="191058"/>
                          <a:pt x="308957" y="192531"/>
                          <a:pt x="281651" y="200333"/>
                        </a:cubicBezTo>
                        <a:cubicBezTo>
                          <a:pt x="271997" y="203091"/>
                          <a:pt x="262601" y="206683"/>
                          <a:pt x="253076" y="209858"/>
                        </a:cubicBezTo>
                        <a:cubicBezTo>
                          <a:pt x="235867" y="207946"/>
                          <a:pt x="158123" y="203182"/>
                          <a:pt x="129251" y="190808"/>
                        </a:cubicBezTo>
                        <a:cubicBezTo>
                          <a:pt x="0" y="135415"/>
                          <a:pt x="192508" y="202369"/>
                          <a:pt x="72101" y="162233"/>
                        </a:cubicBezTo>
                        <a:cubicBezTo>
                          <a:pt x="49529" y="128374"/>
                          <a:pt x="64499" y="133658"/>
                          <a:pt x="34001" y="133658"/>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fr-FR"/>
                  </a:p>
                </p:txBody>
              </p:sp>
              <p:sp>
                <p:nvSpPr>
                  <p:cNvPr id="423" name="Rectangle à coins arrondis 386">
                    <a:extLst>
                      <a:ext uri="{FF2B5EF4-FFF2-40B4-BE49-F238E27FC236}">
                        <a16:creationId xmlns:a16="http://schemas.microsoft.com/office/drawing/2014/main" id="{F19D5F22-C4AD-47AE-878D-D23082011952}"/>
                      </a:ext>
                    </a:extLst>
                  </p:cNvPr>
                  <p:cNvSpPr/>
                  <p:nvPr/>
                </p:nvSpPr>
                <p:spPr>
                  <a:xfrm>
                    <a:off x="3881430" y="5143512"/>
                    <a:ext cx="428628" cy="1428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426" name="Ellipse 425">
                    <a:extLst>
                      <a:ext uri="{FF2B5EF4-FFF2-40B4-BE49-F238E27FC236}">
                        <a16:creationId xmlns:a16="http://schemas.microsoft.com/office/drawing/2014/main" id="{29379856-06A7-40F4-8BBC-70A0DB52E9F3}"/>
                      </a:ext>
                    </a:extLst>
                  </p:cNvPr>
                  <p:cNvSpPr/>
                  <p:nvPr/>
                </p:nvSpPr>
                <p:spPr>
                  <a:xfrm>
                    <a:off x="4095744" y="4857760"/>
                    <a:ext cx="714380" cy="71438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375" name="Groupe 373">
                  <a:extLst>
                    <a:ext uri="{FF2B5EF4-FFF2-40B4-BE49-F238E27FC236}">
                      <a16:creationId xmlns:a16="http://schemas.microsoft.com/office/drawing/2014/main" id="{E31EA5C2-48B5-4BAD-A1B4-BBF72F652408}"/>
                    </a:ext>
                  </a:extLst>
                </p:cNvPr>
                <p:cNvGrpSpPr/>
                <p:nvPr/>
              </p:nvGrpSpPr>
              <p:grpSpPr>
                <a:xfrm rot="19341147">
                  <a:off x="2248470" y="5120490"/>
                  <a:ext cx="1571636" cy="714380"/>
                  <a:chOff x="3238488" y="4857760"/>
                  <a:chExt cx="1571636" cy="714380"/>
                </a:xfrm>
              </p:grpSpPr>
              <p:sp>
                <p:nvSpPr>
                  <p:cNvPr id="411" name="Forme libre 382">
                    <a:extLst>
                      <a:ext uri="{FF2B5EF4-FFF2-40B4-BE49-F238E27FC236}">
                        <a16:creationId xmlns:a16="http://schemas.microsoft.com/office/drawing/2014/main" id="{5DFFCC7E-15A5-49DB-B629-2D2B410AE379}"/>
                      </a:ext>
                    </a:extLst>
                  </p:cNvPr>
                  <p:cNvSpPr/>
                  <p:nvPr/>
                </p:nvSpPr>
                <p:spPr>
                  <a:xfrm>
                    <a:off x="3238488" y="5214950"/>
                    <a:ext cx="672176" cy="209858"/>
                  </a:xfrm>
                  <a:custGeom>
                    <a:avLst/>
                    <a:gdLst>
                      <a:gd name="connsiteX0" fmla="*/ 672176 w 672176"/>
                      <a:gd name="connsiteY0" fmla="*/ 308 h 209858"/>
                      <a:gd name="connsiteX1" fmla="*/ 529301 w 672176"/>
                      <a:gd name="connsiteY1" fmla="*/ 9833 h 209858"/>
                      <a:gd name="connsiteX2" fmla="*/ 491201 w 672176"/>
                      <a:gd name="connsiteY2" fmla="*/ 38408 h 209858"/>
                      <a:gd name="connsiteX3" fmla="*/ 434051 w 672176"/>
                      <a:gd name="connsiteY3" fmla="*/ 95558 h 209858"/>
                      <a:gd name="connsiteX4" fmla="*/ 405476 w 672176"/>
                      <a:gd name="connsiteY4" fmla="*/ 124133 h 209858"/>
                      <a:gd name="connsiteX5" fmla="*/ 376901 w 672176"/>
                      <a:gd name="connsiteY5" fmla="*/ 143183 h 209858"/>
                      <a:gd name="connsiteX6" fmla="*/ 357851 w 672176"/>
                      <a:gd name="connsiteY6" fmla="*/ 171758 h 209858"/>
                      <a:gd name="connsiteX7" fmla="*/ 281651 w 672176"/>
                      <a:gd name="connsiteY7" fmla="*/ 200333 h 209858"/>
                      <a:gd name="connsiteX8" fmla="*/ 253076 w 672176"/>
                      <a:gd name="connsiteY8" fmla="*/ 209858 h 209858"/>
                      <a:gd name="connsiteX9" fmla="*/ 129251 w 672176"/>
                      <a:gd name="connsiteY9" fmla="*/ 190808 h 209858"/>
                      <a:gd name="connsiteX10" fmla="*/ 72101 w 672176"/>
                      <a:gd name="connsiteY10" fmla="*/ 162233 h 209858"/>
                      <a:gd name="connsiteX11" fmla="*/ 34001 w 672176"/>
                      <a:gd name="connsiteY11" fmla="*/ 133658 h 209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2176" h="209858">
                        <a:moveTo>
                          <a:pt x="672176" y="308"/>
                        </a:moveTo>
                        <a:cubicBezTo>
                          <a:pt x="624551" y="3483"/>
                          <a:pt x="576008" y="0"/>
                          <a:pt x="529301" y="9833"/>
                        </a:cubicBezTo>
                        <a:cubicBezTo>
                          <a:pt x="513767" y="13103"/>
                          <a:pt x="503001" y="27788"/>
                          <a:pt x="491201" y="38408"/>
                        </a:cubicBezTo>
                        <a:cubicBezTo>
                          <a:pt x="471176" y="56430"/>
                          <a:pt x="453101" y="76508"/>
                          <a:pt x="434051" y="95558"/>
                        </a:cubicBezTo>
                        <a:cubicBezTo>
                          <a:pt x="424526" y="105083"/>
                          <a:pt x="416684" y="116661"/>
                          <a:pt x="405476" y="124133"/>
                        </a:cubicBezTo>
                        <a:lnTo>
                          <a:pt x="376901" y="143183"/>
                        </a:lnTo>
                        <a:cubicBezTo>
                          <a:pt x="370551" y="152708"/>
                          <a:pt x="366645" y="164429"/>
                          <a:pt x="357851" y="171758"/>
                        </a:cubicBezTo>
                        <a:cubicBezTo>
                          <a:pt x="334691" y="191058"/>
                          <a:pt x="308957" y="192531"/>
                          <a:pt x="281651" y="200333"/>
                        </a:cubicBezTo>
                        <a:cubicBezTo>
                          <a:pt x="271997" y="203091"/>
                          <a:pt x="262601" y="206683"/>
                          <a:pt x="253076" y="209858"/>
                        </a:cubicBezTo>
                        <a:cubicBezTo>
                          <a:pt x="235867" y="207946"/>
                          <a:pt x="158123" y="203182"/>
                          <a:pt x="129251" y="190808"/>
                        </a:cubicBezTo>
                        <a:cubicBezTo>
                          <a:pt x="0" y="135415"/>
                          <a:pt x="192508" y="202369"/>
                          <a:pt x="72101" y="162233"/>
                        </a:cubicBezTo>
                        <a:cubicBezTo>
                          <a:pt x="49529" y="128374"/>
                          <a:pt x="64499" y="133658"/>
                          <a:pt x="34001" y="133658"/>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fr-FR"/>
                  </a:p>
                </p:txBody>
              </p:sp>
              <p:sp>
                <p:nvSpPr>
                  <p:cNvPr id="414" name="Rectangle à coins arrondis 383">
                    <a:extLst>
                      <a:ext uri="{FF2B5EF4-FFF2-40B4-BE49-F238E27FC236}">
                        <a16:creationId xmlns:a16="http://schemas.microsoft.com/office/drawing/2014/main" id="{8CFEAF11-7E30-49C6-9366-944257DB8991}"/>
                      </a:ext>
                    </a:extLst>
                  </p:cNvPr>
                  <p:cNvSpPr/>
                  <p:nvPr/>
                </p:nvSpPr>
                <p:spPr>
                  <a:xfrm>
                    <a:off x="3881430" y="5143512"/>
                    <a:ext cx="428628" cy="1428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417" name="Ellipse 416">
                    <a:extLst>
                      <a:ext uri="{FF2B5EF4-FFF2-40B4-BE49-F238E27FC236}">
                        <a16:creationId xmlns:a16="http://schemas.microsoft.com/office/drawing/2014/main" id="{17D6BDD1-7AF4-4625-9F6A-41D6AA4C8927}"/>
                      </a:ext>
                    </a:extLst>
                  </p:cNvPr>
                  <p:cNvSpPr/>
                  <p:nvPr/>
                </p:nvSpPr>
                <p:spPr>
                  <a:xfrm>
                    <a:off x="4095744" y="4857760"/>
                    <a:ext cx="714380" cy="71438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376" name="Groupe 374">
                  <a:extLst>
                    <a:ext uri="{FF2B5EF4-FFF2-40B4-BE49-F238E27FC236}">
                      <a16:creationId xmlns:a16="http://schemas.microsoft.com/office/drawing/2014/main" id="{9FC610F6-59F1-4D50-ADC5-8A7EADF4C4B1}"/>
                    </a:ext>
                  </a:extLst>
                </p:cNvPr>
                <p:cNvGrpSpPr/>
                <p:nvPr/>
              </p:nvGrpSpPr>
              <p:grpSpPr>
                <a:xfrm rot="19341147">
                  <a:off x="1061026" y="5120490"/>
                  <a:ext cx="1571636" cy="714380"/>
                  <a:chOff x="3238488" y="4857760"/>
                  <a:chExt cx="1571636" cy="714380"/>
                </a:xfrm>
              </p:grpSpPr>
              <p:sp>
                <p:nvSpPr>
                  <p:cNvPr id="402" name="Forme libre 379">
                    <a:extLst>
                      <a:ext uri="{FF2B5EF4-FFF2-40B4-BE49-F238E27FC236}">
                        <a16:creationId xmlns:a16="http://schemas.microsoft.com/office/drawing/2014/main" id="{CE814CDA-435C-47AA-8EB1-5C5807B7D76B}"/>
                      </a:ext>
                    </a:extLst>
                  </p:cNvPr>
                  <p:cNvSpPr/>
                  <p:nvPr/>
                </p:nvSpPr>
                <p:spPr>
                  <a:xfrm>
                    <a:off x="3238488" y="5214950"/>
                    <a:ext cx="672176" cy="209858"/>
                  </a:xfrm>
                  <a:custGeom>
                    <a:avLst/>
                    <a:gdLst>
                      <a:gd name="connsiteX0" fmla="*/ 672176 w 672176"/>
                      <a:gd name="connsiteY0" fmla="*/ 308 h 209858"/>
                      <a:gd name="connsiteX1" fmla="*/ 529301 w 672176"/>
                      <a:gd name="connsiteY1" fmla="*/ 9833 h 209858"/>
                      <a:gd name="connsiteX2" fmla="*/ 491201 w 672176"/>
                      <a:gd name="connsiteY2" fmla="*/ 38408 h 209858"/>
                      <a:gd name="connsiteX3" fmla="*/ 434051 w 672176"/>
                      <a:gd name="connsiteY3" fmla="*/ 95558 h 209858"/>
                      <a:gd name="connsiteX4" fmla="*/ 405476 w 672176"/>
                      <a:gd name="connsiteY4" fmla="*/ 124133 h 209858"/>
                      <a:gd name="connsiteX5" fmla="*/ 376901 w 672176"/>
                      <a:gd name="connsiteY5" fmla="*/ 143183 h 209858"/>
                      <a:gd name="connsiteX6" fmla="*/ 357851 w 672176"/>
                      <a:gd name="connsiteY6" fmla="*/ 171758 h 209858"/>
                      <a:gd name="connsiteX7" fmla="*/ 281651 w 672176"/>
                      <a:gd name="connsiteY7" fmla="*/ 200333 h 209858"/>
                      <a:gd name="connsiteX8" fmla="*/ 253076 w 672176"/>
                      <a:gd name="connsiteY8" fmla="*/ 209858 h 209858"/>
                      <a:gd name="connsiteX9" fmla="*/ 129251 w 672176"/>
                      <a:gd name="connsiteY9" fmla="*/ 190808 h 209858"/>
                      <a:gd name="connsiteX10" fmla="*/ 72101 w 672176"/>
                      <a:gd name="connsiteY10" fmla="*/ 162233 h 209858"/>
                      <a:gd name="connsiteX11" fmla="*/ 34001 w 672176"/>
                      <a:gd name="connsiteY11" fmla="*/ 133658 h 209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2176" h="209858">
                        <a:moveTo>
                          <a:pt x="672176" y="308"/>
                        </a:moveTo>
                        <a:cubicBezTo>
                          <a:pt x="624551" y="3483"/>
                          <a:pt x="576008" y="0"/>
                          <a:pt x="529301" y="9833"/>
                        </a:cubicBezTo>
                        <a:cubicBezTo>
                          <a:pt x="513767" y="13103"/>
                          <a:pt x="503001" y="27788"/>
                          <a:pt x="491201" y="38408"/>
                        </a:cubicBezTo>
                        <a:cubicBezTo>
                          <a:pt x="471176" y="56430"/>
                          <a:pt x="453101" y="76508"/>
                          <a:pt x="434051" y="95558"/>
                        </a:cubicBezTo>
                        <a:cubicBezTo>
                          <a:pt x="424526" y="105083"/>
                          <a:pt x="416684" y="116661"/>
                          <a:pt x="405476" y="124133"/>
                        </a:cubicBezTo>
                        <a:lnTo>
                          <a:pt x="376901" y="143183"/>
                        </a:lnTo>
                        <a:cubicBezTo>
                          <a:pt x="370551" y="152708"/>
                          <a:pt x="366645" y="164429"/>
                          <a:pt x="357851" y="171758"/>
                        </a:cubicBezTo>
                        <a:cubicBezTo>
                          <a:pt x="334691" y="191058"/>
                          <a:pt x="308957" y="192531"/>
                          <a:pt x="281651" y="200333"/>
                        </a:cubicBezTo>
                        <a:cubicBezTo>
                          <a:pt x="271997" y="203091"/>
                          <a:pt x="262601" y="206683"/>
                          <a:pt x="253076" y="209858"/>
                        </a:cubicBezTo>
                        <a:cubicBezTo>
                          <a:pt x="235867" y="207946"/>
                          <a:pt x="158123" y="203182"/>
                          <a:pt x="129251" y="190808"/>
                        </a:cubicBezTo>
                        <a:cubicBezTo>
                          <a:pt x="0" y="135415"/>
                          <a:pt x="192508" y="202369"/>
                          <a:pt x="72101" y="162233"/>
                        </a:cubicBezTo>
                        <a:cubicBezTo>
                          <a:pt x="49529" y="128374"/>
                          <a:pt x="64499" y="133658"/>
                          <a:pt x="34001" y="133658"/>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fr-FR"/>
                  </a:p>
                </p:txBody>
              </p:sp>
              <p:sp>
                <p:nvSpPr>
                  <p:cNvPr id="405" name="Rectangle à coins arrondis 380">
                    <a:extLst>
                      <a:ext uri="{FF2B5EF4-FFF2-40B4-BE49-F238E27FC236}">
                        <a16:creationId xmlns:a16="http://schemas.microsoft.com/office/drawing/2014/main" id="{F9884E5B-A1D7-481F-9759-43EF082DEFFB}"/>
                      </a:ext>
                    </a:extLst>
                  </p:cNvPr>
                  <p:cNvSpPr/>
                  <p:nvPr/>
                </p:nvSpPr>
                <p:spPr>
                  <a:xfrm>
                    <a:off x="3881430" y="5143512"/>
                    <a:ext cx="428628" cy="1428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408" name="Ellipse 407">
                    <a:extLst>
                      <a:ext uri="{FF2B5EF4-FFF2-40B4-BE49-F238E27FC236}">
                        <a16:creationId xmlns:a16="http://schemas.microsoft.com/office/drawing/2014/main" id="{52F2B940-A67B-4261-BFBD-7B0B274BC18E}"/>
                      </a:ext>
                    </a:extLst>
                  </p:cNvPr>
                  <p:cNvSpPr/>
                  <p:nvPr/>
                </p:nvSpPr>
                <p:spPr>
                  <a:xfrm>
                    <a:off x="4095744" y="4857760"/>
                    <a:ext cx="714380" cy="71438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390" name="Groupe 375">
                  <a:extLst>
                    <a:ext uri="{FF2B5EF4-FFF2-40B4-BE49-F238E27FC236}">
                      <a16:creationId xmlns:a16="http://schemas.microsoft.com/office/drawing/2014/main" id="{C072EBD4-59CD-4579-8C21-B7F11B7C1B93}"/>
                    </a:ext>
                  </a:extLst>
                </p:cNvPr>
                <p:cNvGrpSpPr/>
                <p:nvPr/>
              </p:nvGrpSpPr>
              <p:grpSpPr>
                <a:xfrm rot="19341147">
                  <a:off x="-126418" y="5120490"/>
                  <a:ext cx="1571636" cy="714380"/>
                  <a:chOff x="3238488" y="4857760"/>
                  <a:chExt cx="1571636" cy="714380"/>
                </a:xfrm>
              </p:grpSpPr>
              <p:sp>
                <p:nvSpPr>
                  <p:cNvPr id="393" name="Forme libre 376">
                    <a:extLst>
                      <a:ext uri="{FF2B5EF4-FFF2-40B4-BE49-F238E27FC236}">
                        <a16:creationId xmlns:a16="http://schemas.microsoft.com/office/drawing/2014/main" id="{AF81E930-4128-49A7-8735-1547FC5F99F6}"/>
                      </a:ext>
                    </a:extLst>
                  </p:cNvPr>
                  <p:cNvSpPr/>
                  <p:nvPr/>
                </p:nvSpPr>
                <p:spPr>
                  <a:xfrm>
                    <a:off x="3238488" y="5214950"/>
                    <a:ext cx="672176" cy="209858"/>
                  </a:xfrm>
                  <a:custGeom>
                    <a:avLst/>
                    <a:gdLst>
                      <a:gd name="connsiteX0" fmla="*/ 672176 w 672176"/>
                      <a:gd name="connsiteY0" fmla="*/ 308 h 209858"/>
                      <a:gd name="connsiteX1" fmla="*/ 529301 w 672176"/>
                      <a:gd name="connsiteY1" fmla="*/ 9833 h 209858"/>
                      <a:gd name="connsiteX2" fmla="*/ 491201 w 672176"/>
                      <a:gd name="connsiteY2" fmla="*/ 38408 h 209858"/>
                      <a:gd name="connsiteX3" fmla="*/ 434051 w 672176"/>
                      <a:gd name="connsiteY3" fmla="*/ 95558 h 209858"/>
                      <a:gd name="connsiteX4" fmla="*/ 405476 w 672176"/>
                      <a:gd name="connsiteY4" fmla="*/ 124133 h 209858"/>
                      <a:gd name="connsiteX5" fmla="*/ 376901 w 672176"/>
                      <a:gd name="connsiteY5" fmla="*/ 143183 h 209858"/>
                      <a:gd name="connsiteX6" fmla="*/ 357851 w 672176"/>
                      <a:gd name="connsiteY6" fmla="*/ 171758 h 209858"/>
                      <a:gd name="connsiteX7" fmla="*/ 281651 w 672176"/>
                      <a:gd name="connsiteY7" fmla="*/ 200333 h 209858"/>
                      <a:gd name="connsiteX8" fmla="*/ 253076 w 672176"/>
                      <a:gd name="connsiteY8" fmla="*/ 209858 h 209858"/>
                      <a:gd name="connsiteX9" fmla="*/ 129251 w 672176"/>
                      <a:gd name="connsiteY9" fmla="*/ 190808 h 209858"/>
                      <a:gd name="connsiteX10" fmla="*/ 72101 w 672176"/>
                      <a:gd name="connsiteY10" fmla="*/ 162233 h 209858"/>
                      <a:gd name="connsiteX11" fmla="*/ 34001 w 672176"/>
                      <a:gd name="connsiteY11" fmla="*/ 133658 h 209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2176" h="209858">
                        <a:moveTo>
                          <a:pt x="672176" y="308"/>
                        </a:moveTo>
                        <a:cubicBezTo>
                          <a:pt x="624551" y="3483"/>
                          <a:pt x="576008" y="0"/>
                          <a:pt x="529301" y="9833"/>
                        </a:cubicBezTo>
                        <a:cubicBezTo>
                          <a:pt x="513767" y="13103"/>
                          <a:pt x="503001" y="27788"/>
                          <a:pt x="491201" y="38408"/>
                        </a:cubicBezTo>
                        <a:cubicBezTo>
                          <a:pt x="471176" y="56430"/>
                          <a:pt x="453101" y="76508"/>
                          <a:pt x="434051" y="95558"/>
                        </a:cubicBezTo>
                        <a:cubicBezTo>
                          <a:pt x="424526" y="105083"/>
                          <a:pt x="416684" y="116661"/>
                          <a:pt x="405476" y="124133"/>
                        </a:cubicBezTo>
                        <a:lnTo>
                          <a:pt x="376901" y="143183"/>
                        </a:lnTo>
                        <a:cubicBezTo>
                          <a:pt x="370551" y="152708"/>
                          <a:pt x="366645" y="164429"/>
                          <a:pt x="357851" y="171758"/>
                        </a:cubicBezTo>
                        <a:cubicBezTo>
                          <a:pt x="334691" y="191058"/>
                          <a:pt x="308957" y="192531"/>
                          <a:pt x="281651" y="200333"/>
                        </a:cubicBezTo>
                        <a:cubicBezTo>
                          <a:pt x="271997" y="203091"/>
                          <a:pt x="262601" y="206683"/>
                          <a:pt x="253076" y="209858"/>
                        </a:cubicBezTo>
                        <a:cubicBezTo>
                          <a:pt x="235867" y="207946"/>
                          <a:pt x="158123" y="203182"/>
                          <a:pt x="129251" y="190808"/>
                        </a:cubicBezTo>
                        <a:cubicBezTo>
                          <a:pt x="0" y="135415"/>
                          <a:pt x="192508" y="202369"/>
                          <a:pt x="72101" y="162233"/>
                        </a:cubicBezTo>
                        <a:cubicBezTo>
                          <a:pt x="49529" y="128374"/>
                          <a:pt x="64499" y="133658"/>
                          <a:pt x="34001" y="133658"/>
                        </a:cubicBez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fr-FR"/>
                  </a:p>
                </p:txBody>
              </p:sp>
              <p:sp>
                <p:nvSpPr>
                  <p:cNvPr id="396" name="Rectangle à coins arrondis 377">
                    <a:extLst>
                      <a:ext uri="{FF2B5EF4-FFF2-40B4-BE49-F238E27FC236}">
                        <a16:creationId xmlns:a16="http://schemas.microsoft.com/office/drawing/2014/main" id="{7738AEE7-B407-4A21-8629-F18072589612}"/>
                      </a:ext>
                    </a:extLst>
                  </p:cNvPr>
                  <p:cNvSpPr/>
                  <p:nvPr/>
                </p:nvSpPr>
                <p:spPr>
                  <a:xfrm>
                    <a:off x="3881430" y="5143512"/>
                    <a:ext cx="428628" cy="1428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99" name="Ellipse 398">
                    <a:extLst>
                      <a:ext uri="{FF2B5EF4-FFF2-40B4-BE49-F238E27FC236}">
                        <a16:creationId xmlns:a16="http://schemas.microsoft.com/office/drawing/2014/main" id="{BD5A50ED-74E1-48A0-B2F3-99E236FD9329}"/>
                      </a:ext>
                    </a:extLst>
                  </p:cNvPr>
                  <p:cNvSpPr/>
                  <p:nvPr/>
                </p:nvSpPr>
                <p:spPr>
                  <a:xfrm>
                    <a:off x="4095744" y="4857760"/>
                    <a:ext cx="714380" cy="71438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grpSp>
            <p:nvGrpSpPr>
              <p:cNvPr id="307" name="Groupe 389">
                <a:extLst>
                  <a:ext uri="{FF2B5EF4-FFF2-40B4-BE49-F238E27FC236}">
                    <a16:creationId xmlns:a16="http://schemas.microsoft.com/office/drawing/2014/main" id="{2CEF6300-699C-4575-9212-52227AB8DA97}"/>
                  </a:ext>
                </a:extLst>
              </p:cNvPr>
              <p:cNvGrpSpPr/>
              <p:nvPr/>
            </p:nvGrpSpPr>
            <p:grpSpPr>
              <a:xfrm>
                <a:off x="9131280" y="5024436"/>
                <a:ext cx="108000" cy="468000"/>
                <a:chOff x="7956372" y="1071546"/>
                <a:chExt cx="142876" cy="642942"/>
              </a:xfrm>
            </p:grpSpPr>
            <p:sp>
              <p:nvSpPr>
                <p:cNvPr id="372" name="Rectangle 371">
                  <a:extLst>
                    <a:ext uri="{FF2B5EF4-FFF2-40B4-BE49-F238E27FC236}">
                      <a16:creationId xmlns:a16="http://schemas.microsoft.com/office/drawing/2014/main" id="{6203B169-2203-4496-BBC0-BA3EA57A33FD}"/>
                    </a:ext>
                  </a:extLst>
                </p:cNvPr>
                <p:cNvSpPr/>
                <p:nvPr/>
              </p:nvSpPr>
              <p:spPr>
                <a:xfrm>
                  <a:off x="7989115" y="1071546"/>
                  <a:ext cx="77391" cy="642942"/>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73" name="Ellipse 372">
                  <a:extLst>
                    <a:ext uri="{FF2B5EF4-FFF2-40B4-BE49-F238E27FC236}">
                      <a16:creationId xmlns:a16="http://schemas.microsoft.com/office/drawing/2014/main" id="{23A15F55-34CA-4DD8-B04A-BA4ADF9DC609}"/>
                    </a:ext>
                  </a:extLst>
                </p:cNvPr>
                <p:cNvSpPr/>
                <p:nvPr/>
              </p:nvSpPr>
              <p:spPr>
                <a:xfrm>
                  <a:off x="7956372" y="1321579"/>
                  <a:ext cx="142876" cy="142876"/>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312" name="Groupe 392">
                <a:extLst>
                  <a:ext uri="{FF2B5EF4-FFF2-40B4-BE49-F238E27FC236}">
                    <a16:creationId xmlns:a16="http://schemas.microsoft.com/office/drawing/2014/main" id="{B602A885-0A03-42AA-A834-F9534DE4D3F9}"/>
                  </a:ext>
                </a:extLst>
              </p:cNvPr>
              <p:cNvGrpSpPr/>
              <p:nvPr/>
            </p:nvGrpSpPr>
            <p:grpSpPr>
              <a:xfrm>
                <a:off x="9353550" y="5140702"/>
                <a:ext cx="108000" cy="360000"/>
                <a:chOff x="8096252" y="857232"/>
                <a:chExt cx="108000" cy="432000"/>
              </a:xfrm>
            </p:grpSpPr>
            <p:sp>
              <p:nvSpPr>
                <p:cNvPr id="367" name="Rectangle 366">
                  <a:extLst>
                    <a:ext uri="{FF2B5EF4-FFF2-40B4-BE49-F238E27FC236}">
                      <a16:creationId xmlns:a16="http://schemas.microsoft.com/office/drawing/2014/main" id="{FFEDC8DD-F6BD-4F2E-8E27-654EA13B4B27}"/>
                    </a:ext>
                  </a:extLst>
                </p:cNvPr>
                <p:cNvSpPr/>
                <p:nvPr/>
              </p:nvSpPr>
              <p:spPr>
                <a:xfrm>
                  <a:off x="8120980" y="857232"/>
                  <a:ext cx="58499" cy="432000"/>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71" name="Ellipse 370">
                  <a:extLst>
                    <a:ext uri="{FF2B5EF4-FFF2-40B4-BE49-F238E27FC236}">
                      <a16:creationId xmlns:a16="http://schemas.microsoft.com/office/drawing/2014/main" id="{A5FD4463-0CDF-4F5B-86FA-521701191FCC}"/>
                    </a:ext>
                  </a:extLst>
                </p:cNvPr>
                <p:cNvSpPr/>
                <p:nvPr/>
              </p:nvSpPr>
              <p:spPr>
                <a:xfrm>
                  <a:off x="8096252" y="1025232"/>
                  <a:ext cx="108000" cy="96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313" name="Groupe 395">
                <a:extLst>
                  <a:ext uri="{FF2B5EF4-FFF2-40B4-BE49-F238E27FC236}">
                    <a16:creationId xmlns:a16="http://schemas.microsoft.com/office/drawing/2014/main" id="{C491B740-1083-4311-991F-6FADDA45A914}"/>
                  </a:ext>
                </a:extLst>
              </p:cNvPr>
              <p:cNvGrpSpPr/>
              <p:nvPr/>
            </p:nvGrpSpPr>
            <p:grpSpPr>
              <a:xfrm>
                <a:off x="7940655" y="4976811"/>
                <a:ext cx="108000" cy="468000"/>
                <a:chOff x="7956372" y="1071546"/>
                <a:chExt cx="142876" cy="642942"/>
              </a:xfrm>
            </p:grpSpPr>
            <p:sp>
              <p:nvSpPr>
                <p:cNvPr id="359" name="Rectangle 358">
                  <a:extLst>
                    <a:ext uri="{FF2B5EF4-FFF2-40B4-BE49-F238E27FC236}">
                      <a16:creationId xmlns:a16="http://schemas.microsoft.com/office/drawing/2014/main" id="{753C2533-8ABA-4908-BEA3-33A07E235D91}"/>
                    </a:ext>
                  </a:extLst>
                </p:cNvPr>
                <p:cNvSpPr/>
                <p:nvPr/>
              </p:nvSpPr>
              <p:spPr>
                <a:xfrm>
                  <a:off x="7989115" y="1071546"/>
                  <a:ext cx="77391" cy="642942"/>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63" name="Ellipse 362">
                  <a:extLst>
                    <a:ext uri="{FF2B5EF4-FFF2-40B4-BE49-F238E27FC236}">
                      <a16:creationId xmlns:a16="http://schemas.microsoft.com/office/drawing/2014/main" id="{FC861B96-0177-4D9C-B53C-70EFA371AEDE}"/>
                    </a:ext>
                  </a:extLst>
                </p:cNvPr>
                <p:cNvSpPr/>
                <p:nvPr/>
              </p:nvSpPr>
              <p:spPr>
                <a:xfrm>
                  <a:off x="7956372" y="1321579"/>
                  <a:ext cx="142876" cy="142876"/>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317" name="Groupe 398">
                <a:extLst>
                  <a:ext uri="{FF2B5EF4-FFF2-40B4-BE49-F238E27FC236}">
                    <a16:creationId xmlns:a16="http://schemas.microsoft.com/office/drawing/2014/main" id="{25683ACE-8DAC-4691-860A-1390C932134C}"/>
                  </a:ext>
                </a:extLst>
              </p:cNvPr>
              <p:cNvGrpSpPr/>
              <p:nvPr/>
            </p:nvGrpSpPr>
            <p:grpSpPr>
              <a:xfrm>
                <a:off x="8162925" y="5093077"/>
                <a:ext cx="108000" cy="360000"/>
                <a:chOff x="8096252" y="857232"/>
                <a:chExt cx="108000" cy="432000"/>
              </a:xfrm>
            </p:grpSpPr>
            <p:sp>
              <p:nvSpPr>
                <p:cNvPr id="351" name="Rectangle 350">
                  <a:extLst>
                    <a:ext uri="{FF2B5EF4-FFF2-40B4-BE49-F238E27FC236}">
                      <a16:creationId xmlns:a16="http://schemas.microsoft.com/office/drawing/2014/main" id="{316710BD-D4DB-4C89-A305-C84499677CCB}"/>
                    </a:ext>
                  </a:extLst>
                </p:cNvPr>
                <p:cNvSpPr/>
                <p:nvPr/>
              </p:nvSpPr>
              <p:spPr>
                <a:xfrm>
                  <a:off x="8120980" y="857232"/>
                  <a:ext cx="58499" cy="432000"/>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58" name="Ellipse 357">
                  <a:extLst>
                    <a:ext uri="{FF2B5EF4-FFF2-40B4-BE49-F238E27FC236}">
                      <a16:creationId xmlns:a16="http://schemas.microsoft.com/office/drawing/2014/main" id="{F52C6512-2497-4188-B166-78697DABBD85}"/>
                    </a:ext>
                  </a:extLst>
                </p:cNvPr>
                <p:cNvSpPr/>
                <p:nvPr/>
              </p:nvSpPr>
              <p:spPr>
                <a:xfrm>
                  <a:off x="8096252" y="1025232"/>
                  <a:ext cx="108000" cy="96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318" name="Groupe 189">
                <a:extLst>
                  <a:ext uri="{FF2B5EF4-FFF2-40B4-BE49-F238E27FC236}">
                    <a16:creationId xmlns:a16="http://schemas.microsoft.com/office/drawing/2014/main" id="{560B9B92-4782-47F2-8299-59171A58E7F7}"/>
                  </a:ext>
                </a:extLst>
              </p:cNvPr>
              <p:cNvGrpSpPr/>
              <p:nvPr/>
            </p:nvGrpSpPr>
            <p:grpSpPr>
              <a:xfrm>
                <a:off x="6738950" y="5000636"/>
                <a:ext cx="108000" cy="468000"/>
                <a:chOff x="7956372" y="1071546"/>
                <a:chExt cx="142876" cy="642942"/>
              </a:xfrm>
              <a:solidFill>
                <a:srgbClr val="FFFF00"/>
              </a:solidFill>
            </p:grpSpPr>
            <p:sp>
              <p:nvSpPr>
                <p:cNvPr id="346" name="Rectangle 345">
                  <a:extLst>
                    <a:ext uri="{FF2B5EF4-FFF2-40B4-BE49-F238E27FC236}">
                      <a16:creationId xmlns:a16="http://schemas.microsoft.com/office/drawing/2014/main" id="{E3A5288C-DE1B-474D-9E70-436F453F477F}"/>
                    </a:ext>
                  </a:extLst>
                </p:cNvPr>
                <p:cNvSpPr/>
                <p:nvPr/>
              </p:nvSpPr>
              <p:spPr>
                <a:xfrm>
                  <a:off x="7989115" y="1071546"/>
                  <a:ext cx="77391" cy="642942"/>
                </a:xfrm>
                <a:prstGeom prst="rect">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50" name="Ellipse 349">
                  <a:extLst>
                    <a:ext uri="{FF2B5EF4-FFF2-40B4-BE49-F238E27FC236}">
                      <a16:creationId xmlns:a16="http://schemas.microsoft.com/office/drawing/2014/main" id="{ADF9086F-0827-4295-AA24-B4E17E581C56}"/>
                    </a:ext>
                  </a:extLst>
                </p:cNvPr>
                <p:cNvSpPr/>
                <p:nvPr/>
              </p:nvSpPr>
              <p:spPr>
                <a:xfrm>
                  <a:off x="7956372" y="1321579"/>
                  <a:ext cx="142876" cy="142876"/>
                </a:xfrm>
                <a:prstGeom prst="ellipse">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323" name="Groupe 401">
                <a:extLst>
                  <a:ext uri="{FF2B5EF4-FFF2-40B4-BE49-F238E27FC236}">
                    <a16:creationId xmlns:a16="http://schemas.microsoft.com/office/drawing/2014/main" id="{9949A25A-767B-492B-9CC4-2F0A129331DF}"/>
                  </a:ext>
                </a:extLst>
              </p:cNvPr>
              <p:cNvGrpSpPr/>
              <p:nvPr/>
            </p:nvGrpSpPr>
            <p:grpSpPr>
              <a:xfrm>
                <a:off x="6943694" y="5102589"/>
                <a:ext cx="108000" cy="360000"/>
                <a:chOff x="8096252" y="857232"/>
                <a:chExt cx="108000" cy="432000"/>
              </a:xfrm>
              <a:solidFill>
                <a:srgbClr val="FFFF00"/>
              </a:solidFill>
            </p:grpSpPr>
            <p:sp>
              <p:nvSpPr>
                <p:cNvPr id="340" name="Rectangle 339">
                  <a:extLst>
                    <a:ext uri="{FF2B5EF4-FFF2-40B4-BE49-F238E27FC236}">
                      <a16:creationId xmlns:a16="http://schemas.microsoft.com/office/drawing/2014/main" id="{4E419E11-0553-418F-856C-D3BBA6E8553C}"/>
                    </a:ext>
                  </a:extLst>
                </p:cNvPr>
                <p:cNvSpPr/>
                <p:nvPr/>
              </p:nvSpPr>
              <p:spPr>
                <a:xfrm>
                  <a:off x="8120980" y="857232"/>
                  <a:ext cx="58499" cy="432000"/>
                </a:xfrm>
                <a:prstGeom prst="rect">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45" name="Ellipse 344">
                  <a:extLst>
                    <a:ext uri="{FF2B5EF4-FFF2-40B4-BE49-F238E27FC236}">
                      <a16:creationId xmlns:a16="http://schemas.microsoft.com/office/drawing/2014/main" id="{45D6197B-CCCE-421A-B595-CF6F42A7283E}"/>
                    </a:ext>
                  </a:extLst>
                </p:cNvPr>
                <p:cNvSpPr/>
                <p:nvPr/>
              </p:nvSpPr>
              <p:spPr>
                <a:xfrm>
                  <a:off x="8096252" y="1025232"/>
                  <a:ext cx="108000" cy="96000"/>
                </a:xfrm>
                <a:prstGeom prst="ellipse">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324" name="Groupe 404">
                <a:extLst>
                  <a:ext uri="{FF2B5EF4-FFF2-40B4-BE49-F238E27FC236}">
                    <a16:creationId xmlns:a16="http://schemas.microsoft.com/office/drawing/2014/main" id="{EA0517FD-790A-4241-A242-67B984CF1051}"/>
                  </a:ext>
                </a:extLst>
              </p:cNvPr>
              <p:cNvGrpSpPr/>
              <p:nvPr/>
            </p:nvGrpSpPr>
            <p:grpSpPr>
              <a:xfrm>
                <a:off x="5568950" y="5029211"/>
                <a:ext cx="108000" cy="468000"/>
                <a:chOff x="7956372" y="1071546"/>
                <a:chExt cx="142876" cy="642942"/>
              </a:xfrm>
              <a:solidFill>
                <a:srgbClr val="FFFF00"/>
              </a:solidFill>
            </p:grpSpPr>
            <p:sp>
              <p:nvSpPr>
                <p:cNvPr id="335" name="Rectangle 334">
                  <a:extLst>
                    <a:ext uri="{FF2B5EF4-FFF2-40B4-BE49-F238E27FC236}">
                      <a16:creationId xmlns:a16="http://schemas.microsoft.com/office/drawing/2014/main" id="{C777759F-14CD-45AC-A5FD-8CD832AFC925}"/>
                    </a:ext>
                  </a:extLst>
                </p:cNvPr>
                <p:cNvSpPr/>
                <p:nvPr/>
              </p:nvSpPr>
              <p:spPr>
                <a:xfrm>
                  <a:off x="7989115" y="1071546"/>
                  <a:ext cx="77391" cy="642942"/>
                </a:xfrm>
                <a:prstGeom prst="rect">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39" name="Ellipse 338">
                  <a:extLst>
                    <a:ext uri="{FF2B5EF4-FFF2-40B4-BE49-F238E27FC236}">
                      <a16:creationId xmlns:a16="http://schemas.microsoft.com/office/drawing/2014/main" id="{98B82941-A73A-4540-9F7E-A2A7D45C4259}"/>
                    </a:ext>
                  </a:extLst>
                </p:cNvPr>
                <p:cNvSpPr/>
                <p:nvPr/>
              </p:nvSpPr>
              <p:spPr>
                <a:xfrm>
                  <a:off x="7956372" y="1321579"/>
                  <a:ext cx="142876" cy="142876"/>
                </a:xfrm>
                <a:prstGeom prst="ellipse">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nvGrpSpPr>
              <p:cNvPr id="328" name="Groupe 407">
                <a:extLst>
                  <a:ext uri="{FF2B5EF4-FFF2-40B4-BE49-F238E27FC236}">
                    <a16:creationId xmlns:a16="http://schemas.microsoft.com/office/drawing/2014/main" id="{F3771CE6-3A03-49EF-8371-FAFD11DE10E3}"/>
                  </a:ext>
                </a:extLst>
              </p:cNvPr>
              <p:cNvGrpSpPr/>
              <p:nvPr/>
            </p:nvGrpSpPr>
            <p:grpSpPr>
              <a:xfrm>
                <a:off x="5773694" y="5072074"/>
                <a:ext cx="108000" cy="360000"/>
                <a:chOff x="8096252" y="857232"/>
                <a:chExt cx="108000" cy="432000"/>
              </a:xfrm>
              <a:solidFill>
                <a:srgbClr val="FFFF00"/>
              </a:solidFill>
            </p:grpSpPr>
            <p:sp>
              <p:nvSpPr>
                <p:cNvPr id="329" name="Rectangle 328">
                  <a:extLst>
                    <a:ext uri="{FF2B5EF4-FFF2-40B4-BE49-F238E27FC236}">
                      <a16:creationId xmlns:a16="http://schemas.microsoft.com/office/drawing/2014/main" id="{2C8E7F65-DFF5-49F8-94F7-1315388E5ADA}"/>
                    </a:ext>
                  </a:extLst>
                </p:cNvPr>
                <p:cNvSpPr/>
                <p:nvPr/>
              </p:nvSpPr>
              <p:spPr>
                <a:xfrm>
                  <a:off x="8120980" y="857232"/>
                  <a:ext cx="58499" cy="432000"/>
                </a:xfrm>
                <a:prstGeom prst="rect">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334" name="Ellipse 333">
                  <a:extLst>
                    <a:ext uri="{FF2B5EF4-FFF2-40B4-BE49-F238E27FC236}">
                      <a16:creationId xmlns:a16="http://schemas.microsoft.com/office/drawing/2014/main" id="{3157F5B6-2343-46F2-92E8-6A7CF99A84CA}"/>
                    </a:ext>
                  </a:extLst>
                </p:cNvPr>
                <p:cNvSpPr/>
                <p:nvPr/>
              </p:nvSpPr>
              <p:spPr>
                <a:xfrm>
                  <a:off x="8096252" y="1025232"/>
                  <a:ext cx="108000" cy="96000"/>
                </a:xfrm>
                <a:prstGeom prst="ellipse">
                  <a:avLst/>
                </a:prstGeom>
                <a:grp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grpSp>
        </p:grpSp>
      </p:grpSp>
    </p:spTree>
    <p:extLst>
      <p:ext uri="{BB962C8B-B14F-4D97-AF65-F5344CB8AC3E}">
        <p14:creationId xmlns:p14="http://schemas.microsoft.com/office/powerpoint/2010/main" val="4024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234"/>
                                        </p:tgtEl>
                                        <p:attrNameLst>
                                          <p:attrName>style.visibility</p:attrName>
                                        </p:attrNameLst>
                                      </p:cBhvr>
                                      <p:to>
                                        <p:strVal val="visible"/>
                                      </p:to>
                                    </p:set>
                                    <p:animEffect transition="in" filter="wipe(right)">
                                      <p:cBhvr>
                                        <p:cTn id="14" dur="1000"/>
                                        <p:tgtEl>
                                          <p:spTgt spid="23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06"/>
                                        </p:tgtEl>
                                        <p:attrNameLst>
                                          <p:attrName>style.visibility</p:attrName>
                                        </p:attrNameLst>
                                      </p:cBhvr>
                                      <p:to>
                                        <p:strVal val="visible"/>
                                      </p:to>
                                    </p:set>
                                    <p:animEffect transition="in" filter="wipe(left)">
                                      <p:cBhvr>
                                        <p:cTn id="23" dur="1000"/>
                                        <p:tgtEl>
                                          <p:spTgt spid="10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257"/>
                                        </p:tgtEl>
                                        <p:attrNameLst>
                                          <p:attrName>style.visibility</p:attrName>
                                        </p:attrNameLst>
                                      </p:cBhvr>
                                      <p:to>
                                        <p:strVal val="visible"/>
                                      </p:to>
                                    </p:set>
                                    <p:animEffect transition="in" filter="wipe(up)">
                                      <p:cBhvr>
                                        <p:cTn id="28" dur="1000"/>
                                        <p:tgtEl>
                                          <p:spTgt spid="25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296"/>
                                        </p:tgtEl>
                                        <p:attrNameLst>
                                          <p:attrName>style.visibility</p:attrName>
                                        </p:attrNameLst>
                                      </p:cBhvr>
                                      <p:to>
                                        <p:strVal val="visible"/>
                                      </p:to>
                                    </p:set>
                                    <p:animEffect transition="in" filter="wipe(up)">
                                      <p:cBhvr>
                                        <p:cTn id="33" dur="1000"/>
                                        <p:tgtEl>
                                          <p:spTgt spid="29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96"/>
                                        </p:tgtEl>
                                        <p:attrNameLst>
                                          <p:attrName>style.visibility</p:attrName>
                                        </p:attrNameLst>
                                      </p:cBhvr>
                                      <p:to>
                                        <p:strVal val="visible"/>
                                      </p:to>
                                    </p:set>
                                    <p:animEffect transition="in" filter="wipe(up)">
                                      <p:cBhvr>
                                        <p:cTn id="38" dur="1000"/>
                                        <p:tgtEl>
                                          <p:spTgt spid="9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134"/>
                                        </p:tgtEl>
                                        <p:attrNameLst>
                                          <p:attrName>style.visibility</p:attrName>
                                        </p:attrNameLst>
                                      </p:cBhvr>
                                      <p:to>
                                        <p:strVal val="visible"/>
                                      </p:to>
                                    </p:set>
                                    <p:animEffect transition="in" filter="wipe(up)">
                                      <p:cBhvr>
                                        <p:cTn id="43" dur="1000"/>
                                        <p:tgtEl>
                                          <p:spTgt spid="134"/>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2"/>
                                        </p:tgtEl>
                                        <p:attrNameLst>
                                          <p:attrName>style.visibility</p:attrName>
                                        </p:attrNameLst>
                                      </p:cBhvr>
                                      <p:to>
                                        <p:strVal val="visible"/>
                                      </p:to>
                                    </p:set>
                                    <p:anim calcmode="lin" valueType="num">
                                      <p:cBhvr additive="base">
                                        <p:cTn id="48" dur="500" fill="hold"/>
                                        <p:tgtEl>
                                          <p:spTgt spid="32"/>
                                        </p:tgtEl>
                                        <p:attrNameLst>
                                          <p:attrName>ppt_x</p:attrName>
                                        </p:attrNameLst>
                                      </p:cBhvr>
                                      <p:tavLst>
                                        <p:tav tm="0">
                                          <p:val>
                                            <p:strVal val="#ppt_x"/>
                                          </p:val>
                                        </p:tav>
                                        <p:tav tm="100000">
                                          <p:val>
                                            <p:strVal val="#ppt_x"/>
                                          </p:val>
                                        </p:tav>
                                      </p:tavLst>
                                    </p:anim>
                                    <p:anim calcmode="lin" valueType="num">
                                      <p:cBhvr additive="base">
                                        <p:cTn id="49"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552098" y="7280451"/>
            <a:ext cx="8269111" cy="4708981"/>
          </a:xfrm>
          <a:prstGeom prst="rect">
            <a:avLst/>
          </a:prstGeom>
          <a:noFill/>
        </p:spPr>
        <p:txBody>
          <a:bodyPr wrap="square" rtlCol="0">
            <a:spAutoFit/>
          </a:bodyPr>
          <a:lstStyle/>
          <a:p>
            <a:pPr algn="just"/>
            <a:r>
              <a:rPr lang="fr-FR" sz="2000" dirty="0"/>
              <a:t>Il y a ainsi un brassage des chromosomes homologues dans les cellules filles : on parle de </a:t>
            </a:r>
            <a:r>
              <a:rPr lang="fr-FR" sz="2000" dirty="0">
                <a:solidFill>
                  <a:srgbClr val="FF0000"/>
                </a:solidFill>
              </a:rPr>
              <a:t>brassage </a:t>
            </a:r>
            <a:r>
              <a:rPr lang="fr-FR" sz="2000" dirty="0" err="1">
                <a:solidFill>
                  <a:srgbClr val="FF0000"/>
                </a:solidFill>
              </a:rPr>
              <a:t>interchromosomique</a:t>
            </a:r>
            <a:r>
              <a:rPr lang="fr-FR" sz="2000" dirty="0"/>
              <a:t>.</a:t>
            </a:r>
          </a:p>
          <a:p>
            <a:pPr algn="just"/>
            <a:r>
              <a:rPr lang="fr-FR" sz="2000" dirty="0"/>
              <a:t>Pour 2 paires de chromosomes on obtient 4 types équiprobables (25%) de gamètes.</a:t>
            </a:r>
          </a:p>
          <a:p>
            <a:pPr algn="just"/>
            <a:r>
              <a:rPr lang="fr-FR" sz="2000" dirty="0"/>
              <a:t>Ainsi, par brassage </a:t>
            </a:r>
            <a:r>
              <a:rPr lang="fr-FR" sz="2000" dirty="0" err="1"/>
              <a:t>interchromosomique</a:t>
            </a:r>
            <a:r>
              <a:rPr lang="fr-FR" sz="2000" dirty="0"/>
              <a:t>, n paires de chromosomes homologues conduisent à 2</a:t>
            </a:r>
            <a:r>
              <a:rPr lang="fr-FR" sz="2000" baseline="30000" dirty="0"/>
              <a:t>n</a:t>
            </a:r>
            <a:r>
              <a:rPr lang="fr-FR" sz="2000" dirty="0"/>
              <a:t> génotypes de gamètes différents (L’Homme possède 23 paires de chromosomes ce qui donne 2</a:t>
            </a:r>
            <a:r>
              <a:rPr lang="fr-FR" sz="2000" baseline="30000" dirty="0"/>
              <a:t>23</a:t>
            </a:r>
            <a:r>
              <a:rPr lang="fr-FR" sz="2000" dirty="0"/>
              <a:t> combinaisons de gamètes en considérant uniquement le brassage </a:t>
            </a:r>
            <a:r>
              <a:rPr lang="fr-FR" sz="2000" dirty="0" err="1"/>
              <a:t>interchromosomique</a:t>
            </a:r>
            <a:r>
              <a:rPr lang="fr-FR" sz="2000" dirty="0"/>
              <a:t>).</a:t>
            </a:r>
          </a:p>
          <a:p>
            <a:pPr algn="just"/>
            <a:endParaRPr lang="fr-FR" sz="2000" dirty="0"/>
          </a:p>
          <a:p>
            <a:pPr algn="just"/>
            <a:endParaRPr lang="fr-FR" sz="2000" dirty="0"/>
          </a:p>
          <a:p>
            <a:pPr algn="just"/>
            <a:r>
              <a:rPr lang="fr-FR" sz="2000" dirty="0">
                <a:solidFill>
                  <a:srgbClr val="0000FF"/>
                </a:solidFill>
              </a:rPr>
              <a:t>Remarque :</a:t>
            </a:r>
          </a:p>
          <a:p>
            <a:pPr algn="just"/>
            <a:r>
              <a:rPr lang="fr-FR" sz="2000" dirty="0"/>
              <a:t> Les deux brassages s’ajoutent, en effet le brassage </a:t>
            </a:r>
            <a:r>
              <a:rPr lang="fr-FR" sz="2000" dirty="0" err="1"/>
              <a:t>interchromosomique</a:t>
            </a:r>
            <a:r>
              <a:rPr lang="fr-FR" sz="2000" dirty="0"/>
              <a:t> s’exerce sur des chromosomes remaniés au préalable par le brassage </a:t>
            </a:r>
            <a:r>
              <a:rPr lang="fr-FR" sz="2000" dirty="0" err="1"/>
              <a:t>intrachromosomique</a:t>
            </a:r>
            <a:r>
              <a:rPr lang="fr-FR" sz="2000" dirty="0"/>
              <a:t> ce qui aboutit à la formation de gamètes d’une diversité</a:t>
            </a:r>
          </a:p>
          <a:p>
            <a:pPr algn="just"/>
            <a:r>
              <a:rPr lang="fr-FR" sz="2000" dirty="0"/>
              <a:t>potentiellement infinie.</a:t>
            </a:r>
          </a:p>
        </p:txBody>
      </p:sp>
      <p:sp>
        <p:nvSpPr>
          <p:cNvPr id="4" name="ZoneTexte 3">
            <a:extLst>
              <a:ext uri="{FF2B5EF4-FFF2-40B4-BE49-F238E27FC236}">
                <a16:creationId xmlns:a16="http://schemas.microsoft.com/office/drawing/2014/main" id="{E08330C9-C3C9-9A4B-9DB1-C3E0F253B145}"/>
              </a:ext>
            </a:extLst>
          </p:cNvPr>
          <p:cNvSpPr txBox="1"/>
          <p:nvPr/>
        </p:nvSpPr>
        <p:spPr>
          <a:xfrm>
            <a:off x="185737" y="449725"/>
            <a:ext cx="8653007" cy="2062103"/>
          </a:xfrm>
          <a:prstGeom prst="rect">
            <a:avLst/>
          </a:prstGeom>
          <a:noFill/>
        </p:spPr>
        <p:txBody>
          <a:bodyPr wrap="square">
            <a:spAutoFit/>
          </a:bodyPr>
          <a:lstStyle/>
          <a:p>
            <a:pPr algn="just"/>
            <a:r>
              <a:rPr lang="fr-MA" sz="1600" b="1" baseline="30000" dirty="0">
                <a:solidFill>
                  <a:srgbClr val="24252B"/>
                </a:solidFill>
                <a:effectLst/>
                <a:latin typeface="Comic Sans MS" panose="030F0902030302020204" pitchFamily="66" charset="0"/>
              </a:rPr>
              <a:t>«</a:t>
            </a:r>
            <a:r>
              <a:rPr lang="fr-MA" sz="1600" b="1" dirty="0">
                <a:solidFill>
                  <a:srgbClr val="24252B"/>
                </a:solidFill>
                <a:effectLst/>
                <a:latin typeface="Comic Sans MS" panose="030F0902030302020204" pitchFamily="66" charset="0"/>
              </a:rPr>
              <a:t> Inter </a:t>
            </a:r>
            <a:r>
              <a:rPr lang="fr-MA" sz="1600" b="1" baseline="30000" dirty="0">
                <a:solidFill>
                  <a:srgbClr val="24252B"/>
                </a:solidFill>
                <a:effectLst/>
                <a:latin typeface="Comic Sans MS" panose="030F0902030302020204" pitchFamily="66" charset="0"/>
              </a:rPr>
              <a:t>»</a:t>
            </a:r>
            <a:r>
              <a:rPr lang="fr-MA" sz="1600" dirty="0">
                <a:solidFill>
                  <a:srgbClr val="24252B"/>
                </a:solidFill>
                <a:effectLst/>
                <a:latin typeface="Comic Sans MS" panose="030F0902030302020204" pitchFamily="66" charset="0"/>
              </a:rPr>
              <a:t> signifiant </a:t>
            </a:r>
            <a:r>
              <a:rPr lang="fr-MA" sz="1600" b="1" dirty="0">
                <a:solidFill>
                  <a:srgbClr val="24252B"/>
                </a:solidFill>
                <a:effectLst/>
                <a:latin typeface="Comic Sans MS" panose="030F0902030302020204" pitchFamily="66" charset="0"/>
              </a:rPr>
              <a:t>"entre", </a:t>
            </a:r>
            <a:r>
              <a:rPr lang="fr-MA" sz="1600" b="1" dirty="0">
                <a:solidFill>
                  <a:srgbClr val="FF0000"/>
                </a:solidFill>
                <a:effectLst/>
                <a:latin typeface="Comic Sans MS" panose="030F0902030302020204" pitchFamily="66" charset="0"/>
              </a:rPr>
              <a:t>le brassage interchromosomique </a:t>
            </a:r>
            <a:r>
              <a:rPr lang="fr-MA" sz="1600" dirty="0">
                <a:solidFill>
                  <a:srgbClr val="24252B"/>
                </a:solidFill>
                <a:effectLst/>
                <a:latin typeface="Comic Sans MS" panose="030F0902030302020204" pitchFamily="66" charset="0"/>
              </a:rPr>
              <a:t>se produit donc entre les chromosomes non homologues au cours de l’anaphase de la division réductionnelle.</a:t>
            </a:r>
          </a:p>
          <a:p>
            <a:pPr algn="just"/>
            <a:endParaRPr lang="fr-MA" sz="1600" dirty="0">
              <a:solidFill>
                <a:srgbClr val="24252B"/>
              </a:solidFill>
              <a:effectLst/>
              <a:latin typeface="Comic Sans MS" panose="030F0902030302020204" pitchFamily="66" charset="0"/>
            </a:endParaRPr>
          </a:p>
          <a:p>
            <a:pPr algn="just"/>
            <a:r>
              <a:rPr lang="fr-MA" sz="1600" b="1" dirty="0">
                <a:effectLst/>
                <a:latin typeface="Comic Sans MS" panose="030F0902030302020204" pitchFamily="66" charset="0"/>
              </a:rPr>
              <a:t>1) </a:t>
            </a:r>
            <a:r>
              <a:rPr lang="fr-MA" sz="1600" dirty="0">
                <a:effectLst/>
                <a:latin typeface="Comic Sans MS" panose="030F0902030302020204" pitchFamily="66" charset="0"/>
              </a:rPr>
              <a:t>Au cours de </a:t>
            </a:r>
            <a:r>
              <a:rPr lang="fr-MA" sz="1600" dirty="0">
                <a:solidFill>
                  <a:srgbClr val="FF0000"/>
                </a:solidFill>
                <a:effectLst/>
                <a:latin typeface="Comic Sans MS" panose="030F0902030302020204" pitchFamily="66" charset="0"/>
              </a:rPr>
              <a:t>l'anaphase I </a:t>
            </a:r>
            <a:r>
              <a:rPr lang="fr-MA" sz="1600" dirty="0">
                <a:effectLst/>
                <a:latin typeface="Comic Sans MS" panose="030F0902030302020204" pitchFamily="66" charset="0"/>
              </a:rPr>
              <a:t>de la méiose, les chromosomes homologues se séparent </a:t>
            </a:r>
            <a:r>
              <a:rPr lang="fr-MA" sz="1600" dirty="0">
                <a:solidFill>
                  <a:srgbClr val="FF0000"/>
                </a:solidFill>
                <a:effectLst/>
                <a:latin typeface="Comic Sans MS" panose="030F0902030302020204" pitchFamily="66" charset="0"/>
              </a:rPr>
              <a:t>aléatoirement</a:t>
            </a:r>
            <a:r>
              <a:rPr lang="fr-MA" sz="1600" dirty="0">
                <a:effectLst/>
                <a:latin typeface="Comic Sans MS" panose="030F0902030302020204" pitchFamily="66" charset="0"/>
              </a:rPr>
              <a:t> et migrent </a:t>
            </a:r>
            <a:r>
              <a:rPr lang="fr-MA" sz="1600" dirty="0">
                <a:solidFill>
                  <a:srgbClr val="FF0000"/>
                </a:solidFill>
                <a:effectLst/>
                <a:latin typeface="Comic Sans MS" panose="030F0902030302020204" pitchFamily="66" charset="0"/>
              </a:rPr>
              <a:t>indépendamment</a:t>
            </a:r>
            <a:r>
              <a:rPr lang="fr-MA" sz="1600" dirty="0">
                <a:effectLst/>
                <a:latin typeface="Comic Sans MS" panose="030F0902030302020204" pitchFamily="66" charset="0"/>
              </a:rPr>
              <a:t> les uns des autres vers </a:t>
            </a:r>
            <a:r>
              <a:rPr lang="fr-FR" sz="1600" dirty="0">
                <a:latin typeface="Comic Sans MS" panose="030F0902030302020204" pitchFamily="66" charset="0"/>
              </a:rPr>
              <a:t>l’un ou l’autre pôle d</a:t>
            </a:r>
            <a:r>
              <a:rPr lang="fr-MA" sz="1600" dirty="0">
                <a:effectLst/>
                <a:latin typeface="Comic Sans MS" panose="030F0902030302020204" pitchFamily="66" charset="0"/>
              </a:rPr>
              <a:t> de la cellule. Il y a ainsi pour chaque paire d'homologues deux possibilités de migration en fonction de la disposition des homologues lors de la métaphase I. Chaque homologue porte les mêmes gènes mais une combinaison allélique différente.</a:t>
            </a:r>
          </a:p>
        </p:txBody>
      </p:sp>
      <p:sp>
        <p:nvSpPr>
          <p:cNvPr id="6" name="ZoneTexte 5">
            <a:extLst>
              <a:ext uri="{FF2B5EF4-FFF2-40B4-BE49-F238E27FC236}">
                <a16:creationId xmlns:a16="http://schemas.microsoft.com/office/drawing/2014/main" id="{6D00CB02-09A8-B845-B0E6-E71C4F8F42ED}"/>
              </a:ext>
            </a:extLst>
          </p:cNvPr>
          <p:cNvSpPr txBox="1"/>
          <p:nvPr/>
        </p:nvSpPr>
        <p:spPr>
          <a:xfrm>
            <a:off x="185737" y="2997262"/>
            <a:ext cx="8708666" cy="1846659"/>
          </a:xfrm>
          <a:prstGeom prst="rect">
            <a:avLst/>
          </a:prstGeom>
          <a:noFill/>
        </p:spPr>
        <p:txBody>
          <a:bodyPr wrap="square">
            <a:spAutoFit/>
          </a:bodyPr>
          <a:lstStyle/>
          <a:p>
            <a:r>
              <a:rPr lang="fr-MA" sz="1600" b="1" dirty="0">
                <a:effectLst/>
                <a:latin typeface="Comic Sans MS" panose="030F0902030302020204" pitchFamily="66" charset="0"/>
              </a:rPr>
              <a:t>2) </a:t>
            </a:r>
            <a:r>
              <a:rPr lang="fr-MA" sz="1600" dirty="0">
                <a:effectLst/>
                <a:latin typeface="Comic Sans MS" panose="030F0902030302020204" pitchFamily="66" charset="0"/>
              </a:rPr>
              <a:t>Pour calculer le nombre de combinaisons possibles des gamètes obtenus suite au brassage interchromosomique , on applique la formule suivante : </a:t>
            </a:r>
            <a:r>
              <a:rPr lang="fr-MA" sz="1600" b="1" dirty="0">
                <a:solidFill>
                  <a:srgbClr val="FF0000"/>
                </a:solidFill>
                <a:effectLst/>
                <a:latin typeface="Comic Sans MS" panose="030F0902030302020204" pitchFamily="66" charset="0"/>
              </a:rPr>
              <a:t>2n</a:t>
            </a:r>
          </a:p>
          <a:p>
            <a:r>
              <a:rPr lang="fr-MA" sz="1600" dirty="0">
                <a:effectLst/>
                <a:latin typeface="Comic Sans MS" panose="030F0902030302020204" pitchFamily="66" charset="0"/>
              </a:rPr>
              <a:t>n : représente le nombre de paires de chromosomes</a:t>
            </a:r>
          </a:p>
          <a:p>
            <a:r>
              <a:rPr lang="fr-MA" sz="1600" dirty="0">
                <a:effectLst/>
                <a:latin typeface="Comic Sans MS" panose="030F0902030302020204" pitchFamily="66" charset="0"/>
              </a:rPr>
              <a:t>* 2n =4             </a:t>
            </a:r>
            <a:r>
              <a:rPr lang="fr-MA" sz="1600" b="1" dirty="0">
                <a:solidFill>
                  <a:srgbClr val="0070C0"/>
                </a:solidFill>
                <a:effectLst/>
                <a:latin typeface="Comic Sans MS" panose="030F0902030302020204" pitchFamily="66" charset="0"/>
              </a:rPr>
              <a:t>2n = 2</a:t>
            </a:r>
            <a:r>
              <a:rPr lang="fr-MA" sz="1600" b="1" baseline="30000" dirty="0">
                <a:solidFill>
                  <a:srgbClr val="0070C0"/>
                </a:solidFill>
                <a:effectLst/>
                <a:latin typeface="Comic Sans MS" panose="030F0902030302020204" pitchFamily="66" charset="0"/>
              </a:rPr>
              <a:t>2</a:t>
            </a:r>
            <a:r>
              <a:rPr lang="fr-MA" sz="1600" b="1" dirty="0">
                <a:solidFill>
                  <a:srgbClr val="0070C0"/>
                </a:solidFill>
                <a:effectLst/>
                <a:latin typeface="Comic Sans MS" panose="030F0902030302020204" pitchFamily="66" charset="0"/>
              </a:rPr>
              <a:t> = 4 types de gamètes différents</a:t>
            </a:r>
          </a:p>
          <a:p>
            <a:r>
              <a:rPr lang="fr-MA" sz="1600" dirty="0">
                <a:effectLst/>
                <a:latin typeface="Comic Sans MS" panose="030F0902030302020204" pitchFamily="66" charset="0"/>
              </a:rPr>
              <a:t>* 2n =6             </a:t>
            </a:r>
            <a:r>
              <a:rPr lang="fr-MA" sz="1600" b="1" dirty="0">
                <a:solidFill>
                  <a:srgbClr val="0070C0"/>
                </a:solidFill>
                <a:effectLst/>
                <a:latin typeface="Comic Sans MS" panose="030F0902030302020204" pitchFamily="66" charset="0"/>
              </a:rPr>
              <a:t>2n = 2</a:t>
            </a:r>
            <a:r>
              <a:rPr lang="fr-MA" sz="1600" b="1" baseline="30000" dirty="0">
                <a:solidFill>
                  <a:srgbClr val="0070C0"/>
                </a:solidFill>
                <a:effectLst/>
                <a:latin typeface="Comic Sans MS" panose="030F0902030302020204" pitchFamily="66" charset="0"/>
              </a:rPr>
              <a:t>3</a:t>
            </a:r>
            <a:r>
              <a:rPr lang="fr-MA" sz="1600" b="1" dirty="0">
                <a:solidFill>
                  <a:srgbClr val="0070C0"/>
                </a:solidFill>
                <a:effectLst/>
                <a:latin typeface="Comic Sans MS" panose="030F0902030302020204" pitchFamily="66" charset="0"/>
              </a:rPr>
              <a:t> = 8 types de gamètes différents</a:t>
            </a:r>
          </a:p>
          <a:p>
            <a:r>
              <a:rPr lang="fr-MA" sz="1600" dirty="0">
                <a:effectLst/>
                <a:latin typeface="Comic Sans MS" panose="030F0902030302020204" pitchFamily="66" charset="0"/>
              </a:rPr>
              <a:t>* Chez l’être humain 2n =46 : Il y a 23 paires de chromosomes,</a:t>
            </a:r>
          </a:p>
          <a:p>
            <a:r>
              <a:rPr lang="fr-MA" sz="1600" dirty="0">
                <a:effectLst/>
                <a:latin typeface="Comic Sans MS" panose="030F0902030302020204" pitchFamily="66" charset="0"/>
              </a:rPr>
              <a:t>donc il y a production de </a:t>
            </a:r>
            <a:r>
              <a:rPr lang="fr-MA" sz="1600" b="1" dirty="0">
                <a:solidFill>
                  <a:srgbClr val="FF0000"/>
                </a:solidFill>
                <a:effectLst/>
                <a:latin typeface="Comic Sans MS" panose="030F0902030302020204" pitchFamily="66" charset="0"/>
              </a:rPr>
              <a:t>2n = 2</a:t>
            </a:r>
            <a:r>
              <a:rPr lang="fr-MA" sz="1600" b="1" baseline="30000" dirty="0">
                <a:solidFill>
                  <a:srgbClr val="FF0000"/>
                </a:solidFill>
                <a:effectLst/>
                <a:latin typeface="Comic Sans MS" panose="030F0902030302020204" pitchFamily="66" charset="0"/>
              </a:rPr>
              <a:t>23</a:t>
            </a:r>
            <a:r>
              <a:rPr lang="fr-MA" sz="1600" b="1" dirty="0">
                <a:solidFill>
                  <a:srgbClr val="FF0000"/>
                </a:solidFill>
                <a:effectLst/>
                <a:latin typeface="Comic Sans MS" panose="030F0902030302020204" pitchFamily="66" charset="0"/>
              </a:rPr>
              <a:t> = 8.388.608 types de gamètes différents</a:t>
            </a:r>
          </a:p>
        </p:txBody>
      </p:sp>
      <p:sp>
        <p:nvSpPr>
          <p:cNvPr id="8" name="ZoneTexte 7">
            <a:extLst>
              <a:ext uri="{FF2B5EF4-FFF2-40B4-BE49-F238E27FC236}">
                <a16:creationId xmlns:a16="http://schemas.microsoft.com/office/drawing/2014/main" id="{652F0B92-5982-D44D-92D7-795708FB8F46}"/>
              </a:ext>
            </a:extLst>
          </p:cNvPr>
          <p:cNvSpPr txBox="1"/>
          <p:nvPr/>
        </p:nvSpPr>
        <p:spPr>
          <a:xfrm>
            <a:off x="270344" y="5600521"/>
            <a:ext cx="8624060" cy="830997"/>
          </a:xfrm>
          <a:prstGeom prst="rect">
            <a:avLst/>
          </a:prstGeom>
          <a:solidFill>
            <a:schemeClr val="accent3">
              <a:lumMod val="60000"/>
              <a:lumOff val="40000"/>
            </a:schemeClr>
          </a:solidFill>
        </p:spPr>
        <p:txBody>
          <a:bodyPr wrap="square">
            <a:spAutoFit/>
          </a:bodyPr>
          <a:lstStyle/>
          <a:p>
            <a:r>
              <a:rPr lang="fr-MA" sz="1600" dirty="0">
                <a:effectLst/>
                <a:latin typeface="Comic Sans MS" panose="030F0902030302020204" pitchFamily="66" charset="0"/>
              </a:rPr>
              <a:t>Il y a donc un grand nombre de gamètes génétiquement différents</a:t>
            </a:r>
            <a:r>
              <a:rPr lang="fr-MA" sz="1600" dirty="0">
                <a:latin typeface="Comic Sans MS" panose="030F0902030302020204" pitchFamily="66" charset="0"/>
              </a:rPr>
              <a:t> : </a:t>
            </a:r>
            <a:endParaRPr lang="fr-MA" sz="1600" dirty="0">
              <a:effectLst/>
              <a:latin typeface="Comic Sans MS" panose="030F0902030302020204" pitchFamily="66" charset="0"/>
            </a:endParaRPr>
          </a:p>
          <a:p>
            <a:r>
              <a:rPr lang="fr-MA" sz="1600" dirty="0">
                <a:effectLst/>
                <a:latin typeface="Comic Sans MS" panose="030F0902030302020204" pitchFamily="66" charset="0"/>
              </a:rPr>
              <a:t>Le </a:t>
            </a:r>
            <a:r>
              <a:rPr lang="fr-MA" sz="1600" b="1" dirty="0">
                <a:solidFill>
                  <a:srgbClr val="FF0000"/>
                </a:solidFill>
                <a:effectLst/>
                <a:latin typeface="Comic Sans MS" panose="030F0902030302020204" pitchFamily="66" charset="0"/>
              </a:rPr>
              <a:t>brassage interchromosomique </a:t>
            </a:r>
            <a:r>
              <a:rPr lang="fr-MA" sz="1600" dirty="0">
                <a:effectLst/>
                <a:latin typeface="Comic Sans MS" panose="030F0902030302020204" pitchFamily="66" charset="0"/>
              </a:rPr>
              <a:t>permet la </a:t>
            </a:r>
            <a:r>
              <a:rPr lang="fr-MA" sz="1600" b="1" dirty="0">
                <a:solidFill>
                  <a:srgbClr val="FF0000"/>
                </a:solidFill>
                <a:effectLst/>
                <a:latin typeface="Comic Sans MS" panose="030F0902030302020204" pitchFamily="66" charset="0"/>
              </a:rPr>
              <a:t>formation de gamètes très diversifiés </a:t>
            </a:r>
            <a:r>
              <a:rPr lang="fr-MA" sz="1600" dirty="0">
                <a:effectLst/>
                <a:latin typeface="Comic Sans MS" panose="030F0902030302020204" pitchFamily="66" charset="0"/>
              </a:rPr>
              <a:t>ayant un programme génétique différent.</a:t>
            </a:r>
          </a:p>
        </p:txBody>
      </p:sp>
    </p:spTree>
    <p:extLst>
      <p:ext uri="{BB962C8B-B14F-4D97-AF65-F5344CB8AC3E}">
        <p14:creationId xmlns:p14="http://schemas.microsoft.com/office/powerpoint/2010/main" val="3891734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877B603-CA8F-4F29-AD0F-0DEA8DA975AB}"/>
              </a:ext>
            </a:extLst>
          </p:cNvPr>
          <p:cNvPicPr>
            <a:picLocks noChangeAspect="1"/>
          </p:cNvPicPr>
          <p:nvPr/>
        </p:nvPicPr>
        <p:blipFill>
          <a:blip r:embed="rId2"/>
          <a:stretch>
            <a:fillRect/>
          </a:stretch>
        </p:blipFill>
        <p:spPr>
          <a:xfrm>
            <a:off x="264310" y="255829"/>
            <a:ext cx="8615380" cy="4517542"/>
          </a:xfrm>
          <a:prstGeom prst="rect">
            <a:avLst/>
          </a:prstGeom>
          <a:ln w="127000" cap="sq">
            <a:solidFill>
              <a:srgbClr val="FF0000"/>
            </a:solidFill>
            <a:miter lim="800000"/>
          </a:ln>
          <a:effectLst>
            <a:outerShdw blurRad="57150" dist="50800" dir="2700000" algn="tl" rotWithShape="0">
              <a:srgbClr val="000000">
                <a:alpha val="40000"/>
              </a:srgbClr>
            </a:outerShdw>
          </a:effectLst>
        </p:spPr>
      </p:pic>
      <p:sp>
        <p:nvSpPr>
          <p:cNvPr id="5" name="ZoneTexte 4">
            <a:extLst>
              <a:ext uri="{FF2B5EF4-FFF2-40B4-BE49-F238E27FC236}">
                <a16:creationId xmlns:a16="http://schemas.microsoft.com/office/drawing/2014/main" id="{903C7A58-1EEF-4BC5-B70E-C8942D12C466}"/>
              </a:ext>
            </a:extLst>
          </p:cNvPr>
          <p:cNvSpPr txBox="1"/>
          <p:nvPr/>
        </p:nvSpPr>
        <p:spPr>
          <a:xfrm>
            <a:off x="151075" y="5247954"/>
            <a:ext cx="8835763" cy="1354217"/>
          </a:xfrm>
          <a:prstGeom prst="rect">
            <a:avLst/>
          </a:prstGeom>
          <a:solidFill>
            <a:schemeClr val="accent1">
              <a:lumMod val="20000"/>
              <a:lumOff val="80000"/>
            </a:schemeClr>
          </a:solidFill>
        </p:spPr>
        <p:txBody>
          <a:bodyPr wrap="square">
            <a:spAutoFit/>
          </a:bodyPr>
          <a:lstStyle/>
          <a:p>
            <a:r>
              <a:rPr lang="fr-MA" sz="1600" dirty="0">
                <a:effectLst/>
                <a:latin typeface="Helvetica" pitchFamily="2" charset="0"/>
              </a:rPr>
              <a:t> </a:t>
            </a:r>
            <a:r>
              <a:rPr lang="fr-MA" sz="1600" dirty="0">
                <a:effectLst/>
                <a:latin typeface="Comic Sans MS" panose="030F0902030302020204" pitchFamily="66" charset="0"/>
              </a:rPr>
              <a:t>1) Les différents types de gamètes obtenus à la fin de la méiose sont :</a:t>
            </a:r>
          </a:p>
          <a:p>
            <a:r>
              <a:rPr lang="fr-MA" sz="1600" dirty="0">
                <a:effectLst/>
                <a:latin typeface="Comic Sans MS" panose="030F0902030302020204" pitchFamily="66" charset="0"/>
              </a:rPr>
              <a:t>             </a:t>
            </a:r>
            <a:r>
              <a:rPr lang="fr-MA" sz="1600" b="1" dirty="0">
                <a:solidFill>
                  <a:srgbClr val="FF0000"/>
                </a:solidFill>
                <a:effectLst/>
                <a:latin typeface="Comic Sans MS" panose="030F0902030302020204" pitchFamily="66" charset="0"/>
              </a:rPr>
              <a:t>* (A,B) : Gamète de type parental ; 25%</a:t>
            </a:r>
          </a:p>
          <a:p>
            <a:r>
              <a:rPr lang="fr-MA" sz="1600" b="1" dirty="0">
                <a:solidFill>
                  <a:srgbClr val="FF0000"/>
                </a:solidFill>
                <a:effectLst/>
                <a:latin typeface="Comic Sans MS" panose="030F0902030302020204" pitchFamily="66" charset="0"/>
              </a:rPr>
              <a:t>         * (</a:t>
            </a:r>
            <a:r>
              <a:rPr lang="fr-MA" sz="1600" b="1" dirty="0" err="1">
                <a:solidFill>
                  <a:srgbClr val="FF0000"/>
                </a:solidFill>
                <a:effectLst/>
                <a:latin typeface="Comic Sans MS" panose="030F0902030302020204" pitchFamily="66" charset="0"/>
              </a:rPr>
              <a:t>a,b</a:t>
            </a:r>
            <a:r>
              <a:rPr lang="fr-MA" sz="1600" b="1" dirty="0">
                <a:solidFill>
                  <a:srgbClr val="FF0000"/>
                </a:solidFill>
                <a:effectLst/>
                <a:latin typeface="Comic Sans MS" panose="030F0902030302020204" pitchFamily="66" charset="0"/>
              </a:rPr>
              <a:t>) : Gamète de type parental ; 25%</a:t>
            </a:r>
          </a:p>
          <a:p>
            <a:r>
              <a:rPr lang="fr-MA" sz="1600" dirty="0">
                <a:effectLst/>
                <a:latin typeface="Comic Sans MS" panose="030F0902030302020204" pitchFamily="66" charset="0"/>
              </a:rPr>
              <a:t>             </a:t>
            </a:r>
            <a:r>
              <a:rPr lang="fr-MA" sz="1600" b="1" dirty="0">
                <a:solidFill>
                  <a:srgbClr val="0070C0"/>
                </a:solidFill>
                <a:effectLst/>
                <a:latin typeface="Comic Sans MS" panose="030F0902030302020204" pitchFamily="66" charset="0"/>
              </a:rPr>
              <a:t>* (</a:t>
            </a:r>
            <a:r>
              <a:rPr lang="fr-MA" sz="1600" b="1" dirty="0" err="1">
                <a:solidFill>
                  <a:srgbClr val="0070C0"/>
                </a:solidFill>
                <a:effectLst/>
                <a:latin typeface="Comic Sans MS" panose="030F0902030302020204" pitchFamily="66" charset="0"/>
              </a:rPr>
              <a:t>A,b</a:t>
            </a:r>
            <a:r>
              <a:rPr lang="fr-MA" sz="1600" b="1" dirty="0">
                <a:solidFill>
                  <a:srgbClr val="0070C0"/>
                </a:solidFill>
                <a:effectLst/>
                <a:latin typeface="Comic Sans MS" panose="030F0902030302020204" pitchFamily="66" charset="0"/>
              </a:rPr>
              <a:t>) : Gamète de type recombiné ; 25%</a:t>
            </a:r>
          </a:p>
          <a:p>
            <a:r>
              <a:rPr lang="fr-MA" sz="1600" dirty="0">
                <a:effectLst/>
                <a:latin typeface="Comic Sans MS" panose="030F0902030302020204" pitchFamily="66" charset="0"/>
              </a:rPr>
              <a:t>             </a:t>
            </a:r>
            <a:r>
              <a:rPr lang="fr-MA" sz="1600" b="1" dirty="0">
                <a:solidFill>
                  <a:srgbClr val="0070C0"/>
                </a:solidFill>
                <a:effectLst/>
                <a:latin typeface="Comic Sans MS" panose="030F0902030302020204" pitchFamily="66" charset="0"/>
              </a:rPr>
              <a:t>* (</a:t>
            </a:r>
            <a:r>
              <a:rPr lang="fr-MA" sz="1600" b="1" dirty="0" err="1">
                <a:solidFill>
                  <a:srgbClr val="0070C0"/>
                </a:solidFill>
                <a:effectLst/>
                <a:latin typeface="Comic Sans MS" panose="030F0902030302020204" pitchFamily="66" charset="0"/>
              </a:rPr>
              <a:t>a,B</a:t>
            </a:r>
            <a:r>
              <a:rPr lang="fr-MA" sz="1600" b="1" dirty="0">
                <a:solidFill>
                  <a:srgbClr val="0070C0"/>
                </a:solidFill>
                <a:effectLst/>
                <a:latin typeface="Comic Sans MS" panose="030F0902030302020204" pitchFamily="66" charset="0"/>
              </a:rPr>
              <a:t>) : Gamète de type recombiné . 25%</a:t>
            </a:r>
          </a:p>
        </p:txBody>
      </p:sp>
      <p:pic>
        <p:nvPicPr>
          <p:cNvPr id="6" name="Image 5">
            <a:extLst>
              <a:ext uri="{FF2B5EF4-FFF2-40B4-BE49-F238E27FC236}">
                <a16:creationId xmlns:a16="http://schemas.microsoft.com/office/drawing/2014/main" id="{8525A7EF-B194-4048-AFC2-84F01D855F27}"/>
              </a:ext>
            </a:extLst>
          </p:cNvPr>
          <p:cNvPicPr>
            <a:picLocks noChangeAspect="1"/>
          </p:cNvPicPr>
          <p:nvPr/>
        </p:nvPicPr>
        <p:blipFill>
          <a:blip r:embed="rId3"/>
          <a:stretch>
            <a:fillRect/>
          </a:stretch>
        </p:blipFill>
        <p:spPr>
          <a:xfrm>
            <a:off x="7930605" y="65084"/>
            <a:ext cx="895343" cy="1223432"/>
          </a:xfrm>
          <a:prstGeom prst="rect">
            <a:avLst/>
          </a:prstGeom>
        </p:spPr>
      </p:pic>
    </p:spTree>
    <p:extLst>
      <p:ext uri="{BB962C8B-B14F-4D97-AF65-F5344CB8AC3E}">
        <p14:creationId xmlns:p14="http://schemas.microsoft.com/office/powerpoint/2010/main" val="2661827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A922D3E-A09A-E74C-B076-F3FD6C8DBA15}"/>
              </a:ext>
            </a:extLst>
          </p:cNvPr>
          <p:cNvSpPr txBox="1"/>
          <p:nvPr/>
        </p:nvSpPr>
        <p:spPr>
          <a:xfrm>
            <a:off x="521493" y="1504206"/>
            <a:ext cx="8101013" cy="1077218"/>
          </a:xfrm>
          <a:prstGeom prst="rect">
            <a:avLst/>
          </a:prstGeom>
          <a:solidFill>
            <a:schemeClr val="accent4">
              <a:lumMod val="20000"/>
              <a:lumOff val="80000"/>
            </a:schemeClr>
          </a:solidFill>
        </p:spPr>
        <p:txBody>
          <a:bodyPr wrap="square">
            <a:spAutoFit/>
          </a:bodyPr>
          <a:lstStyle/>
          <a:p>
            <a:r>
              <a:rPr lang="fr-MA" sz="1600" dirty="0">
                <a:solidFill>
                  <a:srgbClr val="24252B"/>
                </a:solidFill>
                <a:effectLst/>
                <a:latin typeface="Comic Sans MS" panose="030F0902030302020204" pitchFamily="66" charset="0"/>
              </a:rPr>
              <a:t>Le </a:t>
            </a:r>
            <a:r>
              <a:rPr lang="fr-MA" sz="1600" b="1" dirty="0">
                <a:solidFill>
                  <a:srgbClr val="FF0000"/>
                </a:solidFill>
                <a:effectLst/>
                <a:latin typeface="Comic Sans MS" panose="030F0902030302020204" pitchFamily="66" charset="0"/>
              </a:rPr>
              <a:t>brassage interchromosomique </a:t>
            </a:r>
            <a:r>
              <a:rPr lang="fr-MA" sz="1600" dirty="0">
                <a:solidFill>
                  <a:srgbClr val="24252B"/>
                </a:solidFill>
                <a:effectLst/>
                <a:latin typeface="Comic Sans MS" panose="030F0902030302020204" pitchFamily="66" charset="0"/>
              </a:rPr>
              <a:t>correspond à la </a:t>
            </a:r>
            <a:r>
              <a:rPr lang="fr-MA" sz="1600" b="1" dirty="0">
                <a:solidFill>
                  <a:srgbClr val="FF0000"/>
                </a:solidFill>
                <a:effectLst/>
                <a:latin typeface="Comic Sans MS" panose="030F0902030302020204" pitchFamily="66" charset="0"/>
              </a:rPr>
              <a:t>disjonction </a:t>
            </a:r>
            <a:r>
              <a:rPr lang="fr-MA" sz="1600" b="1" dirty="0">
                <a:solidFill>
                  <a:srgbClr val="24252B"/>
                </a:solidFill>
                <a:effectLst/>
                <a:latin typeface="Comic Sans MS" panose="030F0902030302020204" pitchFamily="66" charset="0"/>
              </a:rPr>
              <a:t>(séparation) </a:t>
            </a:r>
            <a:r>
              <a:rPr lang="fr-MA" sz="1600" b="1" dirty="0">
                <a:solidFill>
                  <a:srgbClr val="FF0000"/>
                </a:solidFill>
                <a:effectLst/>
                <a:latin typeface="Comic Sans MS" panose="030F0902030302020204" pitchFamily="66" charset="0"/>
              </a:rPr>
              <a:t>aléatoire </a:t>
            </a:r>
            <a:r>
              <a:rPr lang="fr-MA" sz="1600" dirty="0">
                <a:solidFill>
                  <a:srgbClr val="24252B"/>
                </a:solidFill>
                <a:effectLst/>
                <a:latin typeface="Comic Sans MS" panose="030F0902030302020204" pitchFamily="66" charset="0"/>
              </a:rPr>
              <a:t>et</a:t>
            </a:r>
            <a:r>
              <a:rPr lang="fr-MA" sz="1600" b="1" dirty="0">
                <a:solidFill>
                  <a:srgbClr val="24252B"/>
                </a:solidFill>
                <a:effectLst/>
                <a:latin typeface="Comic Sans MS" panose="030F0902030302020204" pitchFamily="66" charset="0"/>
              </a:rPr>
              <a:t> </a:t>
            </a:r>
            <a:r>
              <a:rPr lang="fr-MA" sz="1600" b="1" dirty="0">
                <a:solidFill>
                  <a:srgbClr val="FF0000"/>
                </a:solidFill>
                <a:effectLst/>
                <a:latin typeface="Comic Sans MS" panose="030F0902030302020204" pitchFamily="66" charset="0"/>
              </a:rPr>
              <a:t>indépendante</a:t>
            </a:r>
            <a:r>
              <a:rPr lang="fr-MA" sz="1600" dirty="0">
                <a:solidFill>
                  <a:srgbClr val="24252B"/>
                </a:solidFill>
                <a:effectLst/>
                <a:latin typeface="Comic Sans MS" panose="030F0902030302020204" pitchFamily="66" charset="0"/>
              </a:rPr>
              <a:t> des </a:t>
            </a:r>
            <a:r>
              <a:rPr lang="fr-MA" sz="1600" b="1" dirty="0">
                <a:solidFill>
                  <a:srgbClr val="24252B"/>
                </a:solidFill>
                <a:effectLst/>
                <a:latin typeface="Comic Sans MS" panose="030F0902030302020204" pitchFamily="66" charset="0"/>
              </a:rPr>
              <a:t>chromosomes homologues </a:t>
            </a:r>
            <a:r>
              <a:rPr lang="fr-MA" sz="1600" b="1" dirty="0">
                <a:solidFill>
                  <a:srgbClr val="24252B"/>
                </a:solidFill>
                <a:latin typeface="Comic Sans MS" panose="030F0902030302020204" pitchFamily="66" charset="0"/>
              </a:rPr>
              <a:t> (</a:t>
            </a:r>
            <a:r>
              <a:rPr lang="fr-MA" sz="1600" dirty="0">
                <a:solidFill>
                  <a:srgbClr val="24252B"/>
                </a:solidFill>
                <a:effectLst/>
                <a:latin typeface="Comic Sans MS" panose="030F0902030302020204" pitchFamily="66" charset="0"/>
              </a:rPr>
              <a:t>donc des </a:t>
            </a:r>
            <a:r>
              <a:rPr lang="fr-MA" sz="1600" b="1" dirty="0">
                <a:solidFill>
                  <a:srgbClr val="24252B"/>
                </a:solidFill>
                <a:effectLst/>
                <a:latin typeface="Comic Sans MS" panose="030F0902030302020204" pitchFamily="66" charset="0"/>
              </a:rPr>
              <a:t>allèles paternels et  maternels) </a:t>
            </a:r>
            <a:r>
              <a:rPr lang="fr-MA" sz="1600" dirty="0">
                <a:solidFill>
                  <a:srgbClr val="24252B"/>
                </a:solidFill>
                <a:effectLst/>
                <a:latin typeface="Comic Sans MS" panose="030F0902030302020204" pitchFamily="66" charset="0"/>
              </a:rPr>
              <a:t>et </a:t>
            </a:r>
            <a:r>
              <a:rPr lang="fr-MA" sz="1600" b="1" dirty="0">
                <a:solidFill>
                  <a:srgbClr val="24252B"/>
                </a:solidFill>
                <a:effectLst/>
                <a:latin typeface="Comic Sans MS" panose="030F0902030302020204" pitchFamily="66" charset="0"/>
              </a:rPr>
              <a:t>leur migration aux pôles opposés </a:t>
            </a:r>
            <a:r>
              <a:rPr lang="fr-MA" sz="1600" dirty="0">
                <a:solidFill>
                  <a:srgbClr val="24252B"/>
                </a:solidFill>
                <a:effectLst/>
                <a:latin typeface="Comic Sans MS" panose="030F0902030302020204" pitchFamily="66" charset="0"/>
              </a:rPr>
              <a:t>de la cellule au </a:t>
            </a:r>
            <a:r>
              <a:rPr lang="fr-MA" sz="1600" b="1" dirty="0">
                <a:solidFill>
                  <a:srgbClr val="24252B"/>
                </a:solidFill>
                <a:effectLst/>
                <a:latin typeface="Comic Sans MS" panose="030F0902030302020204" pitchFamily="66" charset="0"/>
              </a:rPr>
              <a:t>cours de l'anaphase I de la méiose.</a:t>
            </a:r>
          </a:p>
        </p:txBody>
      </p:sp>
      <p:sp>
        <p:nvSpPr>
          <p:cNvPr id="5" name="ZoneTexte 4">
            <a:extLst>
              <a:ext uri="{FF2B5EF4-FFF2-40B4-BE49-F238E27FC236}">
                <a16:creationId xmlns:a16="http://schemas.microsoft.com/office/drawing/2014/main" id="{552E4AA5-3CA7-EF4D-8DFA-A84D84B787BD}"/>
              </a:ext>
            </a:extLst>
          </p:cNvPr>
          <p:cNvSpPr txBox="1"/>
          <p:nvPr/>
        </p:nvSpPr>
        <p:spPr>
          <a:xfrm>
            <a:off x="500062" y="919848"/>
            <a:ext cx="6043613" cy="338554"/>
          </a:xfrm>
          <a:prstGeom prst="rect">
            <a:avLst/>
          </a:prstGeom>
          <a:solidFill>
            <a:schemeClr val="bg1"/>
          </a:solidFill>
        </p:spPr>
        <p:txBody>
          <a:bodyPr wrap="square">
            <a:spAutoFit/>
          </a:bodyPr>
          <a:lstStyle/>
          <a:p>
            <a:r>
              <a:rPr lang="fr-MA" sz="1600" b="1" dirty="0">
                <a:effectLst/>
                <a:latin typeface="Comic Sans MS" panose="030F0902030302020204" pitchFamily="66" charset="0"/>
              </a:rPr>
              <a:t>2) Définition du Brassage interchromosomique: </a:t>
            </a:r>
            <a:endParaRPr lang="fr-FR" sz="1600" dirty="0"/>
          </a:p>
        </p:txBody>
      </p:sp>
      <p:sp>
        <p:nvSpPr>
          <p:cNvPr id="9" name="ZoneTexte 8">
            <a:extLst>
              <a:ext uri="{FF2B5EF4-FFF2-40B4-BE49-F238E27FC236}">
                <a16:creationId xmlns:a16="http://schemas.microsoft.com/office/drawing/2014/main" id="{2CF5CA32-7374-0E4D-97C5-8C252FC97A6C}"/>
              </a:ext>
            </a:extLst>
          </p:cNvPr>
          <p:cNvSpPr txBox="1"/>
          <p:nvPr/>
        </p:nvSpPr>
        <p:spPr>
          <a:xfrm>
            <a:off x="592931" y="3613488"/>
            <a:ext cx="7958137" cy="1323439"/>
          </a:xfrm>
          <a:prstGeom prst="rect">
            <a:avLst/>
          </a:prstGeom>
          <a:solidFill>
            <a:schemeClr val="accent4">
              <a:lumMod val="20000"/>
              <a:lumOff val="80000"/>
            </a:schemeClr>
          </a:solidFill>
        </p:spPr>
        <p:txBody>
          <a:bodyPr wrap="square">
            <a:spAutoFit/>
          </a:bodyPr>
          <a:lstStyle/>
          <a:p>
            <a:pPr marL="285750" indent="-285750">
              <a:buFont typeface="Arial" panose="020B0604020202020204" pitchFamily="34" charset="0"/>
              <a:buChar char="•"/>
            </a:pPr>
            <a:r>
              <a:rPr lang="fr-MA" sz="1600" b="1" dirty="0">
                <a:solidFill>
                  <a:srgbClr val="24252B"/>
                </a:solidFill>
                <a:effectLst/>
                <a:latin typeface="Comic Sans MS" panose="030F0902030302020204" pitchFamily="66" charset="0"/>
              </a:rPr>
              <a:t>Son importance : </a:t>
            </a:r>
            <a:r>
              <a:rPr lang="fr-MA" sz="1600" dirty="0">
                <a:solidFill>
                  <a:srgbClr val="24252B"/>
                </a:solidFill>
                <a:effectLst/>
                <a:latin typeface="Comic Sans MS" panose="030F0902030302020204" pitchFamily="66" charset="0"/>
              </a:rPr>
              <a:t>le brassage interchromosomique aboutit à </a:t>
            </a:r>
            <a:r>
              <a:rPr lang="fr-MA" sz="1600" b="1" dirty="0">
                <a:solidFill>
                  <a:srgbClr val="FF0000"/>
                </a:solidFill>
                <a:effectLst/>
                <a:latin typeface="Comic Sans MS" panose="030F0902030302020204" pitchFamily="66" charset="0"/>
              </a:rPr>
              <a:t>une grande diversité génétique des gamètes.</a:t>
            </a:r>
          </a:p>
          <a:p>
            <a:endParaRPr lang="fr-MA" sz="1600" b="1" dirty="0">
              <a:solidFill>
                <a:srgbClr val="FF0000"/>
              </a:solidFill>
              <a:effectLst/>
              <a:latin typeface="Comic Sans MS" panose="030F0902030302020204" pitchFamily="66" charset="0"/>
            </a:endParaRPr>
          </a:p>
          <a:p>
            <a:r>
              <a:rPr lang="fr-MA" sz="1600" dirty="0">
                <a:solidFill>
                  <a:srgbClr val="24252B"/>
                </a:solidFill>
                <a:effectLst/>
                <a:latin typeface="Comic Sans MS" panose="030F0902030302020204" pitchFamily="66" charset="0"/>
              </a:rPr>
              <a:t>* Cette grande diversité est </a:t>
            </a:r>
            <a:r>
              <a:rPr lang="fr-MA" sz="1600" b="1" dirty="0">
                <a:solidFill>
                  <a:srgbClr val="24252B"/>
                </a:solidFill>
                <a:effectLst/>
                <a:latin typeface="Comic Sans MS" panose="030F0902030302020204" pitchFamily="66" charset="0"/>
              </a:rPr>
              <a:t>le résultat de la disposition aléatoire des chromosomes des paires homologues lors de la métaphase I.</a:t>
            </a:r>
          </a:p>
        </p:txBody>
      </p:sp>
    </p:spTree>
    <p:extLst>
      <p:ext uri="{BB962C8B-B14F-4D97-AF65-F5344CB8AC3E}">
        <p14:creationId xmlns:p14="http://schemas.microsoft.com/office/powerpoint/2010/main" val="508332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AFA6514-9F33-496B-A632-55425F5BF919}"/>
              </a:ext>
            </a:extLst>
          </p:cNvPr>
          <p:cNvPicPr>
            <a:picLocks noChangeAspect="1"/>
          </p:cNvPicPr>
          <p:nvPr/>
        </p:nvPicPr>
        <p:blipFill rotWithShape="1">
          <a:blip r:embed="rId2"/>
          <a:srcRect b="42321"/>
          <a:stretch/>
        </p:blipFill>
        <p:spPr>
          <a:xfrm>
            <a:off x="0" y="1288111"/>
            <a:ext cx="9127444" cy="1343770"/>
          </a:xfrm>
          <a:prstGeom prst="rect">
            <a:avLst/>
          </a:prstGeom>
        </p:spPr>
      </p:pic>
      <p:pic>
        <p:nvPicPr>
          <p:cNvPr id="6" name="Image 5">
            <a:extLst>
              <a:ext uri="{FF2B5EF4-FFF2-40B4-BE49-F238E27FC236}">
                <a16:creationId xmlns:a16="http://schemas.microsoft.com/office/drawing/2014/main" id="{22963E96-20B7-4B4A-95DD-44547311421B}"/>
              </a:ext>
            </a:extLst>
          </p:cNvPr>
          <p:cNvPicPr>
            <a:picLocks noChangeAspect="1"/>
          </p:cNvPicPr>
          <p:nvPr/>
        </p:nvPicPr>
        <p:blipFill rotWithShape="1">
          <a:blip r:embed="rId2"/>
          <a:srcRect t="58362"/>
          <a:stretch/>
        </p:blipFill>
        <p:spPr>
          <a:xfrm>
            <a:off x="23854" y="4166484"/>
            <a:ext cx="9127444" cy="970058"/>
          </a:xfrm>
          <a:prstGeom prst="rect">
            <a:avLst/>
          </a:prstGeom>
        </p:spPr>
      </p:pic>
    </p:spTree>
    <p:extLst>
      <p:ext uri="{BB962C8B-B14F-4D97-AF65-F5344CB8AC3E}">
        <p14:creationId xmlns:p14="http://schemas.microsoft.com/office/powerpoint/2010/main" val="1407065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2ACB7E32-B102-4D9C-8237-510ACC835EA7}"/>
              </a:ext>
            </a:extLst>
          </p:cNvPr>
          <p:cNvPicPr>
            <a:picLocks noChangeAspect="1"/>
          </p:cNvPicPr>
          <p:nvPr/>
        </p:nvPicPr>
        <p:blipFill>
          <a:blip r:embed="rId2"/>
          <a:stretch>
            <a:fillRect/>
          </a:stretch>
        </p:blipFill>
        <p:spPr>
          <a:xfrm>
            <a:off x="267731" y="1128045"/>
            <a:ext cx="8646829" cy="4159573"/>
          </a:xfrm>
          <a:prstGeom prst="rect">
            <a:avLst/>
          </a:prstGeom>
          <a:ln w="127000" cap="sq">
            <a:solidFill>
              <a:srgbClr val="FF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8941339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8DB04BF5-BEB5-4613-BF9B-FA06C0948674}"/>
              </a:ext>
            </a:extLst>
          </p:cNvPr>
          <p:cNvPicPr>
            <a:picLocks noChangeAspect="1"/>
          </p:cNvPicPr>
          <p:nvPr/>
        </p:nvPicPr>
        <p:blipFill rotWithShape="1">
          <a:blip r:embed="rId2"/>
          <a:srcRect l="2827" t="72091" r="2091"/>
          <a:stretch/>
        </p:blipFill>
        <p:spPr>
          <a:xfrm>
            <a:off x="492980" y="254442"/>
            <a:ext cx="8221649" cy="1160891"/>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pic>
        <p:nvPicPr>
          <p:cNvPr id="4" name="Image 3">
            <a:extLst>
              <a:ext uri="{FF2B5EF4-FFF2-40B4-BE49-F238E27FC236}">
                <a16:creationId xmlns:a16="http://schemas.microsoft.com/office/drawing/2014/main" id="{6E6F0AAE-184C-4A2E-9638-CDE65D323CF9}"/>
              </a:ext>
            </a:extLst>
          </p:cNvPr>
          <p:cNvPicPr>
            <a:picLocks noChangeAspect="1"/>
          </p:cNvPicPr>
          <p:nvPr/>
        </p:nvPicPr>
        <p:blipFill rotWithShape="1">
          <a:blip r:embed="rId3"/>
          <a:srcRect l="4309" t="44352" r="78386" b="43389"/>
          <a:stretch/>
        </p:blipFill>
        <p:spPr>
          <a:xfrm>
            <a:off x="457200" y="1553140"/>
            <a:ext cx="1415332" cy="556593"/>
          </a:xfrm>
          <a:prstGeom prst="rect">
            <a:avLst/>
          </a:prstGeom>
        </p:spPr>
      </p:pic>
      <p:pic>
        <p:nvPicPr>
          <p:cNvPr id="5" name="Image 4">
            <a:extLst>
              <a:ext uri="{FF2B5EF4-FFF2-40B4-BE49-F238E27FC236}">
                <a16:creationId xmlns:a16="http://schemas.microsoft.com/office/drawing/2014/main" id="{D2940CE6-19B8-44E4-B6B7-A09D965D0306}"/>
              </a:ext>
            </a:extLst>
          </p:cNvPr>
          <p:cNvPicPr>
            <a:picLocks noChangeAspect="1"/>
          </p:cNvPicPr>
          <p:nvPr/>
        </p:nvPicPr>
        <p:blipFill rotWithShape="1">
          <a:blip r:embed="rId3"/>
          <a:srcRect l="21516" r="20156" b="1710"/>
          <a:stretch/>
        </p:blipFill>
        <p:spPr>
          <a:xfrm>
            <a:off x="1872532" y="1553140"/>
            <a:ext cx="5398936" cy="5050418"/>
          </a:xfrm>
          <a:prstGeom prst="rect">
            <a:avLst/>
          </a:prstGeom>
        </p:spPr>
      </p:pic>
      <p:pic>
        <p:nvPicPr>
          <p:cNvPr id="6" name="Image 5">
            <a:extLst>
              <a:ext uri="{FF2B5EF4-FFF2-40B4-BE49-F238E27FC236}">
                <a16:creationId xmlns:a16="http://schemas.microsoft.com/office/drawing/2014/main" id="{AE6848F7-B441-446F-94B3-B50F62E75255}"/>
              </a:ext>
            </a:extLst>
          </p:cNvPr>
          <p:cNvPicPr>
            <a:picLocks noChangeAspect="1"/>
          </p:cNvPicPr>
          <p:nvPr/>
        </p:nvPicPr>
        <p:blipFill>
          <a:blip r:embed="rId4"/>
          <a:stretch>
            <a:fillRect/>
          </a:stretch>
        </p:blipFill>
        <p:spPr>
          <a:xfrm>
            <a:off x="7819286" y="1155577"/>
            <a:ext cx="895343" cy="1223432"/>
          </a:xfrm>
          <a:prstGeom prst="rect">
            <a:avLst/>
          </a:prstGeom>
        </p:spPr>
      </p:pic>
    </p:spTree>
    <p:extLst>
      <p:ext uri="{BB962C8B-B14F-4D97-AF65-F5344CB8AC3E}">
        <p14:creationId xmlns:p14="http://schemas.microsoft.com/office/powerpoint/2010/main" val="1854201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au 3">
            <a:extLst>
              <a:ext uri="{FF2B5EF4-FFF2-40B4-BE49-F238E27FC236}">
                <a16:creationId xmlns:a16="http://schemas.microsoft.com/office/drawing/2014/main" id="{8C922A64-8D82-9A4D-8D6A-A9095FCA80A0}"/>
              </a:ext>
            </a:extLst>
          </p:cNvPr>
          <p:cNvGraphicFramePr>
            <a:graphicFrameLocks noGrp="1"/>
          </p:cNvGraphicFramePr>
          <p:nvPr>
            <p:extLst>
              <p:ext uri="{D42A27DB-BD31-4B8C-83A1-F6EECF244321}">
                <p14:modId xmlns:p14="http://schemas.microsoft.com/office/powerpoint/2010/main" val="3361568595"/>
              </p:ext>
            </p:extLst>
          </p:nvPr>
        </p:nvGraphicFramePr>
        <p:xfrm>
          <a:off x="44245" y="576855"/>
          <a:ext cx="9055509" cy="5990922"/>
        </p:xfrm>
        <a:graphic>
          <a:graphicData uri="http://schemas.openxmlformats.org/drawingml/2006/table">
            <a:tbl>
              <a:tblPr firstRow="1" bandRow="1">
                <a:tableStyleId>{7DF18680-E054-41AD-8BC1-D1AEF772440D}</a:tableStyleId>
              </a:tblPr>
              <a:tblGrid>
                <a:gridCol w="1697907">
                  <a:extLst>
                    <a:ext uri="{9D8B030D-6E8A-4147-A177-3AD203B41FA5}">
                      <a16:colId xmlns:a16="http://schemas.microsoft.com/office/drawing/2014/main" val="2549158549"/>
                    </a:ext>
                  </a:extLst>
                </a:gridCol>
                <a:gridCol w="1802165">
                  <a:extLst>
                    <a:ext uri="{9D8B030D-6E8A-4147-A177-3AD203B41FA5}">
                      <a16:colId xmlns:a16="http://schemas.microsoft.com/office/drawing/2014/main" val="925228174"/>
                    </a:ext>
                  </a:extLst>
                </a:gridCol>
                <a:gridCol w="1831954">
                  <a:extLst>
                    <a:ext uri="{9D8B030D-6E8A-4147-A177-3AD203B41FA5}">
                      <a16:colId xmlns:a16="http://schemas.microsoft.com/office/drawing/2014/main" val="3913248519"/>
                    </a:ext>
                  </a:extLst>
                </a:gridCol>
                <a:gridCol w="1912381">
                  <a:extLst>
                    <a:ext uri="{9D8B030D-6E8A-4147-A177-3AD203B41FA5}">
                      <a16:colId xmlns:a16="http://schemas.microsoft.com/office/drawing/2014/main" val="771144802"/>
                    </a:ext>
                  </a:extLst>
                </a:gridCol>
                <a:gridCol w="1811102">
                  <a:extLst>
                    <a:ext uri="{9D8B030D-6E8A-4147-A177-3AD203B41FA5}">
                      <a16:colId xmlns:a16="http://schemas.microsoft.com/office/drawing/2014/main" val="498816555"/>
                    </a:ext>
                  </a:extLst>
                </a:gridCol>
              </a:tblGrid>
              <a:tr h="1282417">
                <a:tc>
                  <a:txBody>
                    <a:bodyPr/>
                    <a:lstStyle/>
                    <a:p>
                      <a:r>
                        <a:rPr lang="fr-FR" dirty="0"/>
                        <a:t>           Gamètes </a:t>
                      </a:r>
                    </a:p>
                    <a:p>
                      <a:r>
                        <a:rPr lang="fr-FR" dirty="0"/>
                        <a:t>                 mâles</a:t>
                      </a:r>
                    </a:p>
                    <a:p>
                      <a:r>
                        <a:rPr lang="fr-FR" dirty="0"/>
                        <a:t>Gamètes </a:t>
                      </a:r>
                    </a:p>
                    <a:p>
                      <a:r>
                        <a:rPr lang="fr-FR" dirty="0"/>
                        <a:t>femelles</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lt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tx1"/>
                          </a:solidFill>
                          <a:effectLst/>
                        </a:rPr>
                        <a:t>Rh+/ ; B /</a:t>
                      </a:r>
                    </a:p>
                    <a:p>
                      <a:pPr algn="ctr"/>
                      <a:endParaRPr lang="fr-FR" dirty="0"/>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lt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tx1"/>
                          </a:solidFill>
                          <a:effectLst/>
                        </a:rPr>
                        <a:t>Rh+/ ; O /</a:t>
                      </a:r>
                    </a:p>
                    <a:p>
                      <a:pPr algn="ctr"/>
                      <a:endParaRPr lang="fr-FR" dirty="0"/>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lt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tx1"/>
                          </a:solidFill>
                          <a:effectLst/>
                        </a:rPr>
                        <a:t>Rh-/ ;  B /</a:t>
                      </a:r>
                    </a:p>
                    <a:p>
                      <a:pPr algn="ctr"/>
                      <a:endParaRPr lang="fr-FR" dirty="0"/>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lt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tx1"/>
                          </a:solidFill>
                          <a:effectLst/>
                        </a:rPr>
                        <a:t>Rh-/ ; O/</a:t>
                      </a:r>
                    </a:p>
                    <a:p>
                      <a:pPr algn="ctr"/>
                      <a:endParaRPr lang="fr-FR" dirty="0"/>
                    </a:p>
                  </a:txBody>
                  <a:tcPr anchor="ctr"/>
                </a:tc>
                <a:extLst>
                  <a:ext uri="{0D108BD9-81ED-4DB2-BD59-A6C34878D82A}">
                    <a16:rowId xmlns:a16="http://schemas.microsoft.com/office/drawing/2014/main" val="3127920104"/>
                  </a:ext>
                </a:extLst>
              </a:tr>
              <a:tr h="986475">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tx1"/>
                          </a:solidFill>
                          <a:effectLst/>
                        </a:rPr>
                        <a:t>Rh+/ ; A /</a:t>
                      </a:r>
                    </a:p>
                    <a:p>
                      <a:pPr algn="ctr"/>
                      <a:endParaRPr lang="fr-FR" b="1" dirty="0">
                        <a:solidFill>
                          <a:schemeClr val="tx1"/>
                        </a:solidFill>
                      </a:endParaRPr>
                    </a:p>
                  </a:txBody>
                  <a:tcPr anchor="ctr"/>
                </a:tc>
                <a:tc>
                  <a:txBody>
                    <a:bodyPr/>
                    <a:lstStyle/>
                    <a:p>
                      <a:endParaRPr lang="fr-FR" b="1" dirty="0"/>
                    </a:p>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bg1"/>
                          </a:solidFill>
                          <a:effectLst/>
                        </a:rPr>
                        <a:t>Rh+//Rh+ ; A//B</a:t>
                      </a:r>
                    </a:p>
                    <a:p>
                      <a:r>
                        <a:rPr lang="fr-FR" b="1" dirty="0"/>
                        <a:t>               1</a:t>
                      </a:r>
                    </a:p>
                  </a:txBody>
                  <a:tcPr anchor="ctr">
                    <a:solidFill>
                      <a:srgbClr val="CFA63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dk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bg1"/>
                          </a:solidFill>
                          <a:effectLst/>
                        </a:rPr>
                        <a:t>Rh+//Rh+ ; A//O</a:t>
                      </a:r>
                    </a:p>
                    <a:p>
                      <a:r>
                        <a:rPr lang="fr-FR" b="1" dirty="0"/>
                        <a:t>             2</a:t>
                      </a:r>
                    </a:p>
                  </a:txBody>
                  <a:tcPr anchor="ctr">
                    <a:solidFill>
                      <a:schemeClr val="accent5">
                        <a:lumMod val="7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kern="1200" dirty="0">
                        <a:solidFill>
                          <a:schemeClr val="dk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bg1"/>
                          </a:solidFill>
                          <a:effectLst/>
                        </a:rPr>
                        <a:t>Rh+//Rh- ; A//B</a:t>
                      </a:r>
                    </a:p>
                    <a:p>
                      <a:r>
                        <a:rPr lang="fr-FR" dirty="0"/>
                        <a:t>               3</a:t>
                      </a:r>
                    </a:p>
                  </a:txBody>
                  <a:tcPr anchor="ctr">
                    <a:solidFill>
                      <a:srgbClr val="FF0000"/>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kern="1200" dirty="0">
                        <a:solidFill>
                          <a:schemeClr val="dk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dk1"/>
                          </a:solidFill>
                          <a:effectLst/>
                          <a:highlight>
                            <a:srgbClr val="FFFF00"/>
                          </a:highlight>
                        </a:rPr>
                        <a:t>Rh+//Rh-; A//O</a:t>
                      </a:r>
                    </a:p>
                    <a:p>
                      <a:endParaRPr lang="fr-FR" dirty="0"/>
                    </a:p>
                  </a:txBody>
                  <a:tcPr anchor="ctr">
                    <a:solidFill>
                      <a:schemeClr val="accent4">
                        <a:lumMod val="40000"/>
                        <a:lumOff val="60000"/>
                      </a:schemeClr>
                    </a:solidFill>
                  </a:tcPr>
                </a:tc>
                <a:extLst>
                  <a:ext uri="{0D108BD9-81ED-4DB2-BD59-A6C34878D82A}">
                    <a16:rowId xmlns:a16="http://schemas.microsoft.com/office/drawing/2014/main" val="183513701"/>
                  </a:ext>
                </a:extLst>
              </a:tr>
              <a:tr h="151574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tx1"/>
                          </a:solidFill>
                          <a:effectLst/>
                        </a:rPr>
                        <a:t>Rh+/ ; O/</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tx1"/>
                        </a:solidFill>
                        <a:effectLst/>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dk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bg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bg1"/>
                          </a:solidFill>
                          <a:effectLst/>
                        </a:rPr>
                        <a:t>Rh+//Rh+ ; B//O</a:t>
                      </a:r>
                    </a:p>
                    <a:p>
                      <a:endParaRPr lang="fr-FR" b="1" dirty="0"/>
                    </a:p>
                    <a:p>
                      <a:r>
                        <a:rPr lang="fr-FR" b="1" dirty="0"/>
                        <a:t>             4</a:t>
                      </a:r>
                    </a:p>
                  </a:txBody>
                  <a:tcPr anchor="ctr">
                    <a:solidFill>
                      <a:srgbClr val="D883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dk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bg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bg1"/>
                          </a:solidFill>
                          <a:effectLst/>
                        </a:rPr>
                        <a:t>Rh+//Rh+ ; O//O</a:t>
                      </a:r>
                    </a:p>
                    <a:p>
                      <a:r>
                        <a:rPr lang="fr-FR" b="1" dirty="0"/>
                        <a:t>     </a:t>
                      </a:r>
                    </a:p>
                    <a:p>
                      <a:r>
                        <a:rPr lang="fr-FR" b="1" dirty="0"/>
                        <a:t>               5</a:t>
                      </a:r>
                    </a:p>
                  </a:txBody>
                  <a:tcPr anchor="ctr">
                    <a:solidFill>
                      <a:schemeClr val="bg2">
                        <a:lumMod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kern="1200" dirty="0">
                        <a:solidFill>
                          <a:schemeClr val="dk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dk1"/>
                          </a:solidFill>
                          <a:effectLst/>
                          <a:highlight>
                            <a:srgbClr val="FFFF00"/>
                          </a:highlight>
                        </a:rPr>
                        <a:t>Rh+ //Rh- ; B //O</a:t>
                      </a:r>
                    </a:p>
                    <a:p>
                      <a:endParaRPr lang="fr-FR" dirty="0"/>
                    </a:p>
                  </a:txBody>
                  <a:tcPr anchor="ctr">
                    <a:solidFill>
                      <a:schemeClr val="accent4">
                        <a:lumMod val="40000"/>
                        <a:lumOff val="6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kern="1200" dirty="0">
                        <a:solidFill>
                          <a:schemeClr val="dk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bg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bg1"/>
                          </a:solidFill>
                          <a:effectLst/>
                        </a:rPr>
                        <a:t>Rh+//Rh- ; O//O</a:t>
                      </a:r>
                    </a:p>
                    <a:p>
                      <a:endParaRPr lang="fr-FR" dirty="0"/>
                    </a:p>
                    <a:p>
                      <a:r>
                        <a:rPr lang="fr-FR" dirty="0"/>
                        <a:t>               6</a:t>
                      </a:r>
                    </a:p>
                  </a:txBody>
                  <a:tcPr anchor="ctr">
                    <a:solidFill>
                      <a:schemeClr val="accent3">
                        <a:lumMod val="75000"/>
                      </a:schemeClr>
                    </a:solidFill>
                  </a:tcPr>
                </a:tc>
                <a:extLst>
                  <a:ext uri="{0D108BD9-81ED-4DB2-BD59-A6C34878D82A}">
                    <a16:rowId xmlns:a16="http://schemas.microsoft.com/office/drawing/2014/main" val="74079776"/>
                  </a:ext>
                </a:extLst>
              </a:tr>
              <a:tr h="151574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tx1"/>
                          </a:solidFill>
                          <a:effectLst/>
                        </a:rPr>
                        <a:t>Rh- / ; A /</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tx1"/>
                        </a:solidFill>
                        <a:effectLst/>
                      </a:endParaRP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kern="1200" dirty="0">
                        <a:solidFill>
                          <a:schemeClr val="dk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bg1"/>
                          </a:solidFill>
                          <a:effectLst/>
                        </a:rPr>
                        <a:t>Rh+//Rh- ; A//B</a:t>
                      </a:r>
                    </a:p>
                    <a:p>
                      <a:endParaRPr lang="fr-FR" dirty="0"/>
                    </a:p>
                  </a:txBody>
                  <a:tcPr anchor="ctr">
                    <a:solidFill>
                      <a:srgbClr val="FF0000"/>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kern="1200" dirty="0">
                        <a:solidFill>
                          <a:schemeClr val="dk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dk1"/>
                          </a:solidFill>
                          <a:effectLst/>
                          <a:highlight>
                            <a:srgbClr val="FFFF00"/>
                          </a:highlight>
                        </a:rPr>
                        <a:t>Rh+//Rh- ; A//O</a:t>
                      </a:r>
                    </a:p>
                    <a:p>
                      <a:endParaRPr lang="fr-FR" dirty="0"/>
                    </a:p>
                  </a:txBody>
                  <a:tcPr anchor="ctr">
                    <a:solidFill>
                      <a:schemeClr val="accent4">
                        <a:lumMod val="40000"/>
                        <a:lumOff val="6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kern="1200" dirty="0">
                        <a:solidFill>
                          <a:schemeClr val="dk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bg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bg1"/>
                          </a:solidFill>
                          <a:effectLst/>
                        </a:rPr>
                        <a:t>Rh-//Rh- ; A //B</a:t>
                      </a:r>
                    </a:p>
                    <a:p>
                      <a:endParaRPr lang="fr-FR" dirty="0"/>
                    </a:p>
                    <a:p>
                      <a:r>
                        <a:rPr lang="fr-FR" dirty="0"/>
                        <a:t>                7</a:t>
                      </a:r>
                    </a:p>
                  </a:txBody>
                  <a:tcPr anchor="ctr">
                    <a:solidFill>
                      <a:srgbClr val="FFC000"/>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kern="1200" dirty="0">
                        <a:solidFill>
                          <a:schemeClr val="dk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fr-MA" sz="1800" b="1" kern="1200" dirty="0">
                        <a:solidFill>
                          <a:schemeClr val="bg1"/>
                        </a:solidFill>
                        <a:effectLs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bg1"/>
                          </a:solidFill>
                          <a:effectLst/>
                        </a:rPr>
                        <a:t>Rh-//Rh- ; A//O</a:t>
                      </a:r>
                    </a:p>
                    <a:p>
                      <a:endParaRPr lang="fr-FR" dirty="0"/>
                    </a:p>
                    <a:p>
                      <a:r>
                        <a:rPr lang="fr-FR" dirty="0"/>
                        <a:t>               8</a:t>
                      </a:r>
                    </a:p>
                  </a:txBody>
                  <a:tcPr anchor="ctr">
                    <a:solidFill>
                      <a:schemeClr val="accent2">
                        <a:lumMod val="60000"/>
                        <a:lumOff val="40000"/>
                      </a:schemeClr>
                    </a:solidFill>
                  </a:tcPr>
                </a:tc>
                <a:extLst>
                  <a:ext uri="{0D108BD9-81ED-4DB2-BD59-A6C34878D82A}">
                    <a16:rowId xmlns:a16="http://schemas.microsoft.com/office/drawing/2014/main" val="72403736"/>
                  </a:ext>
                </a:extLst>
              </a:tr>
              <a:tr h="69053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tx1"/>
                          </a:solidFill>
                          <a:effectLst/>
                        </a:rPr>
                        <a:t>Rh- / ; O /</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dk1"/>
                          </a:solidFill>
                          <a:effectLst/>
                          <a:highlight>
                            <a:srgbClr val="FFFF00"/>
                          </a:highlight>
                        </a:rPr>
                        <a:t>Rh+//Rh- ; B//O</a:t>
                      </a:r>
                    </a:p>
                  </a:txBody>
                  <a:tcPr anchor="ctr">
                    <a:solidFill>
                      <a:schemeClr val="accent4">
                        <a:lumMod val="40000"/>
                        <a:lumOff val="6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bg1"/>
                          </a:solidFill>
                          <a:effectLst/>
                        </a:rPr>
                        <a:t>Rh+//Rh- ; O//O</a:t>
                      </a:r>
                      <a:r>
                        <a:rPr lang="fr-FR" dirty="0"/>
                        <a:t>       </a:t>
                      </a:r>
                    </a:p>
                  </a:txBody>
                  <a:tcPr anchor="ctr">
                    <a:solidFill>
                      <a:schemeClr val="accent3">
                        <a:lumMod val="7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bg1"/>
                          </a:solidFill>
                          <a:effectLst/>
                        </a:rPr>
                        <a:t>Rh-//Rh- ; B //O</a:t>
                      </a:r>
                    </a:p>
                    <a:p>
                      <a:r>
                        <a:rPr lang="fr-FR" dirty="0"/>
                        <a:t>                9</a:t>
                      </a:r>
                    </a:p>
                  </a:txBody>
                  <a:tcPr anchor="ctr">
                    <a:solidFill>
                      <a:schemeClr val="tx2">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MA" sz="1800" b="1" kern="1200" dirty="0">
                          <a:solidFill>
                            <a:schemeClr val="bg1"/>
                          </a:solidFill>
                          <a:effectLst/>
                        </a:rPr>
                        <a:t>Rh-//Rh- ; O//O</a:t>
                      </a:r>
                    </a:p>
                    <a:p>
                      <a:r>
                        <a:rPr lang="fr-FR" dirty="0"/>
                        <a:t>              10</a:t>
                      </a:r>
                    </a:p>
                  </a:txBody>
                  <a:tcPr anchor="ctr">
                    <a:solidFill>
                      <a:schemeClr val="accent6">
                        <a:lumMod val="75000"/>
                      </a:schemeClr>
                    </a:solidFill>
                  </a:tcPr>
                </a:tc>
                <a:extLst>
                  <a:ext uri="{0D108BD9-81ED-4DB2-BD59-A6C34878D82A}">
                    <a16:rowId xmlns:a16="http://schemas.microsoft.com/office/drawing/2014/main" val="2139064342"/>
                  </a:ext>
                </a:extLst>
              </a:tr>
            </a:tbl>
          </a:graphicData>
        </a:graphic>
      </p:graphicFrame>
      <p:sp>
        <p:nvSpPr>
          <p:cNvPr id="15" name="ZoneTexte 14">
            <a:extLst>
              <a:ext uri="{FF2B5EF4-FFF2-40B4-BE49-F238E27FC236}">
                <a16:creationId xmlns:a16="http://schemas.microsoft.com/office/drawing/2014/main" id="{B5CCFEE8-C3DF-1D4C-B07E-812015A23863}"/>
              </a:ext>
            </a:extLst>
          </p:cNvPr>
          <p:cNvSpPr txBox="1"/>
          <p:nvPr/>
        </p:nvSpPr>
        <p:spPr>
          <a:xfrm>
            <a:off x="147484" y="140439"/>
            <a:ext cx="3247723" cy="338554"/>
          </a:xfrm>
          <a:prstGeom prst="rect">
            <a:avLst/>
          </a:prstGeom>
          <a:solidFill>
            <a:srgbClr val="00FF00"/>
          </a:solidFill>
        </p:spPr>
        <p:txBody>
          <a:bodyPr wrap="square" rtlCol="0">
            <a:spAutoFit/>
          </a:bodyPr>
          <a:lstStyle/>
          <a:p>
            <a:r>
              <a:rPr lang="fr-FR" sz="1600" b="1" dirty="0">
                <a:highlight>
                  <a:srgbClr val="00FF00"/>
                </a:highlight>
                <a:latin typeface="Comic Sans MS" panose="030F0902030302020204" pitchFamily="66" charset="0"/>
              </a:rPr>
              <a:t>1) et 2) : voir tableau suivant</a:t>
            </a:r>
          </a:p>
        </p:txBody>
      </p:sp>
      <p:cxnSp>
        <p:nvCxnSpPr>
          <p:cNvPr id="3" name="Connecteur droit 2">
            <a:extLst>
              <a:ext uri="{FF2B5EF4-FFF2-40B4-BE49-F238E27FC236}">
                <a16:creationId xmlns:a16="http://schemas.microsoft.com/office/drawing/2014/main" id="{C3777D42-14DD-4B7D-84EF-C567B857CFA1}"/>
              </a:ext>
            </a:extLst>
          </p:cNvPr>
          <p:cNvCxnSpPr>
            <a:cxnSpLocks/>
          </p:cNvCxnSpPr>
          <p:nvPr/>
        </p:nvCxnSpPr>
        <p:spPr>
          <a:xfrm>
            <a:off x="88491" y="576855"/>
            <a:ext cx="1682854" cy="1243994"/>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036525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04611" y="330426"/>
            <a:ext cx="8734778" cy="4093428"/>
          </a:xfrm>
          <a:prstGeom prst="rect">
            <a:avLst/>
          </a:prstGeom>
          <a:noFill/>
        </p:spPr>
        <p:txBody>
          <a:bodyPr wrap="square" rtlCol="0">
            <a:spAutoFit/>
          </a:bodyPr>
          <a:lstStyle/>
          <a:p>
            <a:pPr algn="just"/>
            <a:r>
              <a:rPr lang="fr-FR" sz="1600" b="1" dirty="0">
                <a:latin typeface="Comic Sans MS" panose="030F0902030302020204" pitchFamily="66" charset="0"/>
              </a:rPr>
              <a:t>3)   * Les génotypes de types parentaux et leurs proportions:</a:t>
            </a:r>
            <a:endParaRPr lang="fr-FR" sz="1600" dirty="0"/>
          </a:p>
          <a:p>
            <a:pPr algn="just"/>
            <a:r>
              <a:rPr lang="fr-FR" sz="1600" dirty="0"/>
              <a:t>               </a:t>
            </a:r>
            <a:r>
              <a:rPr lang="fr-FR" sz="1600" b="1" dirty="0"/>
              <a:t>- (A//O; Rh+//Rh-) : 2/16</a:t>
            </a:r>
          </a:p>
          <a:p>
            <a:pPr algn="just"/>
            <a:r>
              <a:rPr lang="fr-FR" sz="1600" b="1" dirty="0"/>
              <a:t>               - (B//O; Rh+//Rh-) : 2/16               </a:t>
            </a:r>
            <a:r>
              <a:rPr lang="fr-FR" sz="1600" b="1" dirty="0">
                <a:latin typeface="Comic Sans MS" panose="030F0902030302020204" pitchFamily="66" charset="0"/>
              </a:rPr>
              <a:t>soit        </a:t>
            </a:r>
            <a:r>
              <a:rPr lang="fr-FR" sz="1600" b="1" dirty="0">
                <a:highlight>
                  <a:srgbClr val="FFFF00"/>
                </a:highlight>
                <a:latin typeface="Comic Sans MS" panose="030F0902030302020204" pitchFamily="66" charset="0"/>
              </a:rPr>
              <a:t>4/16</a:t>
            </a:r>
          </a:p>
          <a:p>
            <a:pPr algn="just"/>
            <a:endParaRPr lang="fr-FR" sz="1600" b="1" dirty="0"/>
          </a:p>
          <a:p>
            <a:pPr algn="just"/>
            <a:r>
              <a:rPr lang="fr-FR" sz="1600" b="1" dirty="0">
                <a:latin typeface="Comic Sans MS" panose="030F0902030302020204" pitchFamily="66" charset="0"/>
              </a:rPr>
              <a:t>      * Les génotypes de types recombinés et leurs proportions:   soit  </a:t>
            </a:r>
            <a:r>
              <a:rPr lang="fr-FR" sz="1600" b="1" dirty="0">
                <a:highlight>
                  <a:srgbClr val="FFFF00"/>
                </a:highlight>
                <a:latin typeface="Comic Sans MS" panose="030F0902030302020204" pitchFamily="66" charset="0"/>
              </a:rPr>
              <a:t>12/16</a:t>
            </a:r>
            <a:r>
              <a:rPr lang="fr-FR" sz="1600" b="1" dirty="0">
                <a:latin typeface="Comic Sans MS" panose="030F0902030302020204" pitchFamily="66" charset="0"/>
              </a:rPr>
              <a:t> </a:t>
            </a:r>
            <a:endParaRPr lang="fr-FR" sz="1600" b="1" dirty="0"/>
          </a:p>
          <a:p>
            <a:pPr algn="just"/>
            <a:r>
              <a:rPr lang="fr-FR" sz="1600" b="1" dirty="0">
                <a:highlight>
                  <a:srgbClr val="00FF00"/>
                </a:highlight>
              </a:rPr>
              <a:t>       - (A//B; Rh+//Rh)+ : 1/16      - (O//O; Rh+//Rh+) : 1/16                                 </a:t>
            </a:r>
          </a:p>
          <a:p>
            <a:pPr algn="just"/>
            <a:r>
              <a:rPr lang="fr-FR" sz="1600" b="1" dirty="0">
                <a:highlight>
                  <a:srgbClr val="00FF00"/>
                </a:highlight>
              </a:rPr>
              <a:t>       - (A//O; Rh+//Rh+) : 1/16      </a:t>
            </a:r>
            <a:r>
              <a:rPr lang="fr-FR" sz="1600" b="1" dirty="0">
                <a:solidFill>
                  <a:srgbClr val="FF0000"/>
                </a:solidFill>
                <a:highlight>
                  <a:srgbClr val="00FF00"/>
                </a:highlight>
              </a:rPr>
              <a:t>- (O//O; Rh+//Rh-) : 2/16        </a:t>
            </a:r>
            <a:r>
              <a:rPr lang="fr-FR" sz="1600" b="1" dirty="0">
                <a:highlight>
                  <a:srgbClr val="00FF00"/>
                </a:highlight>
              </a:rPr>
              <a:t> - (B//O; Rh-//Rh-) : 1/16</a:t>
            </a:r>
            <a:endParaRPr lang="fr-FR" sz="1600" b="1" dirty="0">
              <a:solidFill>
                <a:srgbClr val="FF0000"/>
              </a:solidFill>
              <a:highlight>
                <a:srgbClr val="00FF00"/>
              </a:highlight>
            </a:endParaRPr>
          </a:p>
          <a:p>
            <a:pPr algn="just"/>
            <a:r>
              <a:rPr lang="fr-FR" sz="1600" b="1" dirty="0">
                <a:solidFill>
                  <a:srgbClr val="FF0000"/>
                </a:solidFill>
                <a:highlight>
                  <a:srgbClr val="00FF00"/>
                </a:highlight>
              </a:rPr>
              <a:t>       - (A//B; Rh+//Rh-) : 2/16        </a:t>
            </a:r>
            <a:r>
              <a:rPr lang="fr-FR" sz="1600" b="1" dirty="0">
                <a:highlight>
                  <a:srgbClr val="00FF00"/>
                </a:highlight>
              </a:rPr>
              <a:t>- (A//B; Rh-//Rh-) : 1/16          - (O//O; Rh-//Rh-) : 1/16</a:t>
            </a:r>
            <a:endParaRPr lang="fr-FR" sz="1600" b="1" dirty="0">
              <a:solidFill>
                <a:srgbClr val="FF0000"/>
              </a:solidFill>
              <a:highlight>
                <a:srgbClr val="00FF00"/>
              </a:highlight>
            </a:endParaRPr>
          </a:p>
          <a:p>
            <a:pPr algn="just"/>
            <a:r>
              <a:rPr lang="fr-FR" sz="1600" b="1" dirty="0">
                <a:highlight>
                  <a:srgbClr val="00FF00"/>
                </a:highlight>
              </a:rPr>
              <a:t>       - (B//O; Rh+//Rh+) : 2/16       - (A//O; Rh-//Rh-) : 1/16 </a:t>
            </a:r>
          </a:p>
          <a:p>
            <a:pPr algn="just"/>
            <a:r>
              <a:rPr lang="fr-FR" sz="1600" b="1" dirty="0">
                <a:latin typeface="Comic Sans MS" panose="030F0902030302020204" pitchFamily="66" charset="0"/>
              </a:rPr>
              <a:t>4) </a:t>
            </a:r>
            <a:r>
              <a:rPr lang="fr-FR" sz="1600" dirty="0">
                <a:latin typeface="Comic Sans MS" panose="030F0902030302020204" pitchFamily="66" charset="0"/>
              </a:rPr>
              <a:t>Dans le cas de l’étude  de deux gènes indépendants, suite </a:t>
            </a:r>
            <a:r>
              <a:rPr lang="fr-FR" sz="1600" b="1" dirty="0">
                <a:latin typeface="Comic Sans MS" panose="030F0902030302020204" pitchFamily="66" charset="0"/>
              </a:rPr>
              <a:t>au brassage interchromosomique </a:t>
            </a:r>
            <a:r>
              <a:rPr lang="fr-FR" sz="1600" dirty="0">
                <a:latin typeface="Comic Sans MS" panose="030F0902030302020204" pitchFamily="66" charset="0"/>
              </a:rPr>
              <a:t>lors de la méiose, les parents peuvent former chacun </a:t>
            </a:r>
            <a:r>
              <a:rPr lang="fr-FR" sz="1600" b="1" dirty="0">
                <a:latin typeface="Comic Sans MS" panose="030F0902030302020204" pitchFamily="66" charset="0"/>
              </a:rPr>
              <a:t>4 types de gamètes  génétiquement différents .</a:t>
            </a:r>
          </a:p>
          <a:p>
            <a:pPr marL="285750" indent="-285750" algn="just">
              <a:buFont typeface="Courier New" panose="02070309020205020404" pitchFamily="49" charset="0"/>
              <a:buChar char="o"/>
            </a:pPr>
            <a:r>
              <a:rPr lang="fr-FR" sz="1600" dirty="0">
                <a:latin typeface="Comic Sans MS" panose="030F0902030302020204" pitchFamily="66" charset="0"/>
              </a:rPr>
              <a:t>L’échiquier de croisement  lors de la fécondation montre la diversité des génotypes  possibles de la descendance : soit </a:t>
            </a:r>
            <a:r>
              <a:rPr lang="fr-FR" sz="1600" b="1" dirty="0">
                <a:latin typeface="Comic Sans MS" panose="030F0902030302020204" pitchFamily="66" charset="0"/>
              </a:rPr>
              <a:t>10 génotypes génétiquement différents.</a:t>
            </a:r>
          </a:p>
          <a:p>
            <a:pPr marL="285750" indent="-285750" algn="just">
              <a:buFont typeface="Courier New" panose="02070309020205020404" pitchFamily="49" charset="0"/>
              <a:buChar char="o"/>
            </a:pPr>
            <a:r>
              <a:rPr lang="fr-FR" sz="1600" b="1" dirty="0">
                <a:latin typeface="Comic Sans MS" panose="030F0902030302020204" pitchFamily="66" charset="0"/>
              </a:rPr>
              <a:t>Le nombre de zygote génétiquement différents qu’un couple peut procréer sans tenir compte du brassage </a:t>
            </a:r>
            <a:r>
              <a:rPr lang="fr-FR" sz="1600" b="1" dirty="0" err="1">
                <a:latin typeface="Comic Sans MS" panose="030F0902030302020204" pitchFamily="66" charset="0"/>
              </a:rPr>
              <a:t>intrachromosomique</a:t>
            </a:r>
            <a:r>
              <a:rPr lang="fr-FR" sz="1600" b="1" dirty="0">
                <a:latin typeface="Comic Sans MS" panose="030F0902030302020204" pitchFamily="66" charset="0"/>
              </a:rPr>
              <a:t> est :</a:t>
            </a:r>
          </a:p>
        </p:txBody>
      </p:sp>
      <p:sp>
        <p:nvSpPr>
          <p:cNvPr id="6" name="Rectangle 5">
            <a:extLst>
              <a:ext uri="{FF2B5EF4-FFF2-40B4-BE49-F238E27FC236}">
                <a16:creationId xmlns:a16="http://schemas.microsoft.com/office/drawing/2014/main" id="{8895A3D2-CFBA-AA41-A523-02E5F906F241}"/>
              </a:ext>
            </a:extLst>
          </p:cNvPr>
          <p:cNvSpPr/>
          <p:nvPr/>
        </p:nvSpPr>
        <p:spPr>
          <a:xfrm>
            <a:off x="1508623" y="4423854"/>
            <a:ext cx="6126753" cy="400110"/>
          </a:xfrm>
          <a:prstGeom prst="rect">
            <a:avLst/>
          </a:prstGeom>
          <a:solidFill>
            <a:srgbClr val="FFFF00"/>
          </a:solidFill>
        </p:spPr>
        <p:txBody>
          <a:bodyPr wrap="square">
            <a:spAutoFit/>
          </a:bodyPr>
          <a:lstStyle/>
          <a:p>
            <a:r>
              <a:rPr lang="fr-FR" sz="2000" b="1" dirty="0">
                <a:solidFill>
                  <a:srgbClr val="FF0000"/>
                </a:solidFill>
                <a:highlight>
                  <a:srgbClr val="FFFF00"/>
                </a:highlight>
                <a:latin typeface="Comic Sans MS" panose="030F0902030302020204" pitchFamily="66" charset="0"/>
                <a:cs typeface="Sakkal Majalla" panose="02000000000000000000" pitchFamily="2" charset="-78"/>
              </a:rPr>
              <a:t>    (2</a:t>
            </a:r>
            <a:r>
              <a:rPr lang="fr-FR" sz="2000" b="1" baseline="30000" dirty="0">
                <a:solidFill>
                  <a:srgbClr val="FF0000"/>
                </a:solidFill>
                <a:highlight>
                  <a:srgbClr val="FFFF00"/>
                </a:highlight>
                <a:latin typeface="Comic Sans MS" panose="030F0902030302020204" pitchFamily="66" charset="0"/>
                <a:cs typeface="Sakkal Majalla" panose="02000000000000000000" pitchFamily="2" charset="-78"/>
              </a:rPr>
              <a:t>23 </a:t>
            </a:r>
            <a:r>
              <a:rPr lang="fr-FR" sz="2000" b="1" dirty="0">
                <a:solidFill>
                  <a:srgbClr val="FF0000"/>
                </a:solidFill>
                <a:highlight>
                  <a:srgbClr val="FFFF00"/>
                </a:highlight>
                <a:latin typeface="Comic Sans MS" panose="030F0902030302020204" pitchFamily="66" charset="0"/>
                <a:cs typeface="Sakkal Majalla" panose="02000000000000000000" pitchFamily="2" charset="-78"/>
              </a:rPr>
              <a:t>)</a:t>
            </a:r>
            <a:r>
              <a:rPr lang="fr-FR" sz="2000" b="1" dirty="0">
                <a:highlight>
                  <a:srgbClr val="FFFF00"/>
                </a:highlight>
                <a:latin typeface="Comic Sans MS" panose="030F0902030302020204" pitchFamily="66" charset="0"/>
                <a:cs typeface="Sakkal Majalla" panose="02000000000000000000" pitchFamily="2" charset="-78"/>
              </a:rPr>
              <a:t> X </a:t>
            </a:r>
            <a:r>
              <a:rPr lang="fr-FR" sz="2000" b="1" dirty="0">
                <a:solidFill>
                  <a:srgbClr val="FF0000"/>
                </a:solidFill>
                <a:highlight>
                  <a:srgbClr val="FFFF00"/>
                </a:highlight>
                <a:latin typeface="Comic Sans MS" panose="030F0902030302020204" pitchFamily="66" charset="0"/>
                <a:cs typeface="Sakkal Majalla" panose="02000000000000000000" pitchFamily="2" charset="-78"/>
              </a:rPr>
              <a:t>(2</a:t>
            </a:r>
            <a:r>
              <a:rPr lang="fr-FR" sz="2000" b="1" baseline="30000" dirty="0">
                <a:solidFill>
                  <a:srgbClr val="FF0000"/>
                </a:solidFill>
                <a:highlight>
                  <a:srgbClr val="FFFF00"/>
                </a:highlight>
                <a:latin typeface="Comic Sans MS" panose="030F0902030302020204" pitchFamily="66" charset="0"/>
                <a:cs typeface="Sakkal Majalla" panose="02000000000000000000" pitchFamily="2" charset="-78"/>
              </a:rPr>
              <a:t>23 </a:t>
            </a:r>
            <a:r>
              <a:rPr lang="fr-FR" sz="2000" b="1" dirty="0">
                <a:solidFill>
                  <a:srgbClr val="FF0000"/>
                </a:solidFill>
                <a:highlight>
                  <a:srgbClr val="FFFF00"/>
                </a:highlight>
                <a:latin typeface="Comic Sans MS" panose="030F0902030302020204" pitchFamily="66" charset="0"/>
                <a:cs typeface="Sakkal Majalla" panose="02000000000000000000" pitchFamily="2" charset="-78"/>
              </a:rPr>
              <a:t>) = (2</a:t>
            </a:r>
            <a:r>
              <a:rPr lang="fr-FR" sz="2000" b="1" baseline="30000" dirty="0">
                <a:solidFill>
                  <a:srgbClr val="FF0000"/>
                </a:solidFill>
                <a:highlight>
                  <a:srgbClr val="FFFF00"/>
                </a:highlight>
                <a:latin typeface="Comic Sans MS" panose="030F0902030302020204" pitchFamily="66" charset="0"/>
                <a:cs typeface="Sakkal Majalla" panose="02000000000000000000" pitchFamily="2" charset="-78"/>
              </a:rPr>
              <a:t>46 </a:t>
            </a:r>
            <a:r>
              <a:rPr lang="fr-FR" sz="2000" b="1" dirty="0">
                <a:solidFill>
                  <a:srgbClr val="FF0000"/>
                </a:solidFill>
                <a:highlight>
                  <a:srgbClr val="FFFF00"/>
                </a:highlight>
                <a:latin typeface="Comic Sans MS" panose="030F0902030302020204" pitchFamily="66" charset="0"/>
                <a:cs typeface="Sakkal Majalla" panose="02000000000000000000" pitchFamily="2" charset="-78"/>
              </a:rPr>
              <a:t>) = 70368744180000</a:t>
            </a:r>
          </a:p>
        </p:txBody>
      </p:sp>
      <p:sp>
        <p:nvSpPr>
          <p:cNvPr id="4" name="ZoneTexte 3">
            <a:extLst>
              <a:ext uri="{FF2B5EF4-FFF2-40B4-BE49-F238E27FC236}">
                <a16:creationId xmlns:a16="http://schemas.microsoft.com/office/drawing/2014/main" id="{1F10E525-894F-48FE-A562-306BED1A6214}"/>
              </a:ext>
            </a:extLst>
          </p:cNvPr>
          <p:cNvSpPr txBox="1"/>
          <p:nvPr/>
        </p:nvSpPr>
        <p:spPr>
          <a:xfrm>
            <a:off x="204611" y="5323135"/>
            <a:ext cx="8734778" cy="1077218"/>
          </a:xfrm>
          <a:prstGeom prst="rect">
            <a:avLst/>
          </a:prstGeom>
          <a:noFill/>
        </p:spPr>
        <p:txBody>
          <a:bodyPr wrap="square" rtlCol="0">
            <a:spAutoFit/>
          </a:bodyPr>
          <a:lstStyle/>
          <a:p>
            <a:pPr algn="just"/>
            <a:r>
              <a:rPr lang="fr-FR" sz="1600" b="1" dirty="0">
                <a:latin typeface="Comic Sans MS" panose="030F0902030302020204" pitchFamily="66" charset="0"/>
              </a:rPr>
              <a:t>5)  </a:t>
            </a:r>
            <a:r>
              <a:rPr lang="fr-FR" sz="1600" dirty="0">
                <a:latin typeface="Comic Sans MS" panose="030F0902030302020204" pitchFamily="66" charset="0"/>
              </a:rPr>
              <a:t>Au cours de la fécondation, la réunion au hasard des gamètes génétiquement différents, produits lors de la méiose, engendre de </a:t>
            </a:r>
            <a:r>
              <a:rPr lang="fr-FR" sz="1600" b="1" dirty="0">
                <a:latin typeface="Comic Sans MS" panose="030F0902030302020204" pitchFamily="66" charset="0"/>
              </a:rPr>
              <a:t>nouvelles combinaisons alléliques </a:t>
            </a:r>
            <a:r>
              <a:rPr lang="fr-FR" sz="1600" dirty="0">
                <a:latin typeface="Comic Sans MS" panose="030F0902030302020204" pitchFamily="66" charset="0"/>
              </a:rPr>
              <a:t>donne le zygote, conduisant à des phénotypes nouveaux.</a:t>
            </a:r>
          </a:p>
          <a:p>
            <a:pPr algn="just"/>
            <a:r>
              <a:rPr lang="fr-FR" sz="1600" dirty="0">
                <a:latin typeface="Comic Sans MS" panose="030F0902030302020204" pitchFamily="66" charset="0"/>
              </a:rPr>
              <a:t>   On dit que la fécondation </a:t>
            </a:r>
            <a:r>
              <a:rPr lang="fr-FR" sz="1600" b="1" dirty="0">
                <a:solidFill>
                  <a:srgbClr val="FF0000"/>
                </a:solidFill>
                <a:latin typeface="Comic Sans MS" panose="030F0902030302020204" pitchFamily="66" charset="0"/>
              </a:rPr>
              <a:t>amplifie le brassage génétique</a:t>
            </a:r>
            <a:r>
              <a:rPr lang="fr-FR" sz="1600" dirty="0">
                <a:latin typeface="Comic Sans MS" panose="030F0902030302020204" pitchFamily="66" charset="0"/>
              </a:rPr>
              <a:t>. </a:t>
            </a:r>
            <a:endParaRPr lang="fr-FR" sz="1600" dirty="0"/>
          </a:p>
        </p:txBody>
      </p:sp>
    </p:spTree>
    <p:extLst>
      <p:ext uri="{BB962C8B-B14F-4D97-AF65-F5344CB8AC3E}">
        <p14:creationId xmlns:p14="http://schemas.microsoft.com/office/powerpoint/2010/main" val="2316425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 calcmode="lin" valueType="num">
                                      <p:cBhvr additive="base">
                                        <p:cTn id="12"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 calcmode="lin" valueType="num">
                                      <p:cBhvr additive="base">
                                        <p:cTn id="16"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 calcmode="lin" valueType="num">
                                      <p:cBhvr additive="base">
                                        <p:cTn id="22"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checkerboard(across)">
                                      <p:cBhvr>
                                        <p:cTn id="28" dur="500"/>
                                        <p:tgtEl>
                                          <p:spTgt spid="2">
                                            <p:txEl>
                                              <p:pRg st="5" end="5"/>
                                            </p:txEl>
                                          </p:spTgt>
                                        </p:tgtEl>
                                      </p:cBhvr>
                                    </p:animEffect>
                                  </p:childTnLst>
                                </p:cTn>
                              </p:par>
                              <p:par>
                                <p:cTn id="29" presetID="5" presetClass="entr" presetSubtype="10" fill="hold" nodeType="with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checkerboard(across)">
                                      <p:cBhvr>
                                        <p:cTn id="31" dur="500"/>
                                        <p:tgtEl>
                                          <p:spTgt spid="2">
                                            <p:txEl>
                                              <p:pRg st="6" end="6"/>
                                            </p:txEl>
                                          </p:spTgt>
                                        </p:tgtEl>
                                      </p:cBhvr>
                                    </p:animEffect>
                                  </p:childTnLst>
                                </p:cTn>
                              </p:par>
                              <p:par>
                                <p:cTn id="32" presetID="5" presetClass="entr" presetSubtype="10" fill="hold" nodeType="withEffect">
                                  <p:stCondLst>
                                    <p:cond delay="0"/>
                                  </p:stCondLst>
                                  <p:childTnLst>
                                    <p:set>
                                      <p:cBhvr>
                                        <p:cTn id="33" dur="1" fill="hold">
                                          <p:stCondLst>
                                            <p:cond delay="0"/>
                                          </p:stCondLst>
                                        </p:cTn>
                                        <p:tgtEl>
                                          <p:spTgt spid="2">
                                            <p:txEl>
                                              <p:pRg st="7" end="7"/>
                                            </p:txEl>
                                          </p:spTgt>
                                        </p:tgtEl>
                                        <p:attrNameLst>
                                          <p:attrName>style.visibility</p:attrName>
                                        </p:attrNameLst>
                                      </p:cBhvr>
                                      <p:to>
                                        <p:strVal val="visible"/>
                                      </p:to>
                                    </p:set>
                                    <p:animEffect transition="in" filter="checkerboard(across)">
                                      <p:cBhvr>
                                        <p:cTn id="34" dur="500"/>
                                        <p:tgtEl>
                                          <p:spTgt spid="2">
                                            <p:txEl>
                                              <p:pRg st="7" end="7"/>
                                            </p:txEl>
                                          </p:spTgt>
                                        </p:tgtEl>
                                      </p:cBhvr>
                                    </p:animEffect>
                                  </p:childTnLst>
                                </p:cTn>
                              </p:par>
                              <p:par>
                                <p:cTn id="35" presetID="5" presetClass="entr" presetSubtype="10" fill="hold" nodeType="with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Effect transition="in" filter="checkerboard(across)">
                                      <p:cBhvr>
                                        <p:cTn id="37" dur="500"/>
                                        <p:tgtEl>
                                          <p:spTgt spid="2">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
                                            <p:txEl>
                                              <p:pRg st="9" end="9"/>
                                            </p:txEl>
                                          </p:spTgt>
                                        </p:tgtEl>
                                        <p:attrNameLst>
                                          <p:attrName>style.visibility</p:attrName>
                                        </p:attrNameLst>
                                      </p:cBhvr>
                                      <p:to>
                                        <p:strVal val="visible"/>
                                      </p:to>
                                    </p:set>
                                    <p:animEffect transition="in" filter="dissolve">
                                      <p:cBhvr>
                                        <p:cTn id="42" dur="500"/>
                                        <p:tgtEl>
                                          <p:spTgt spid="2">
                                            <p:txEl>
                                              <p:pRg st="9" end="9"/>
                                            </p:txEl>
                                          </p:spTgt>
                                        </p:tgtEl>
                                      </p:cBhvr>
                                    </p:animEffect>
                                  </p:childTnLst>
                                </p:cTn>
                              </p:par>
                              <p:par>
                                <p:cTn id="43" presetID="9" presetClass="entr" presetSubtype="0" fill="hold" nodeType="withEffect">
                                  <p:stCondLst>
                                    <p:cond delay="0"/>
                                  </p:stCondLst>
                                  <p:childTnLst>
                                    <p:set>
                                      <p:cBhvr>
                                        <p:cTn id="44" dur="1" fill="hold">
                                          <p:stCondLst>
                                            <p:cond delay="0"/>
                                          </p:stCondLst>
                                        </p:cTn>
                                        <p:tgtEl>
                                          <p:spTgt spid="2">
                                            <p:txEl>
                                              <p:pRg st="10" end="10"/>
                                            </p:txEl>
                                          </p:spTgt>
                                        </p:tgtEl>
                                        <p:attrNameLst>
                                          <p:attrName>style.visibility</p:attrName>
                                        </p:attrNameLst>
                                      </p:cBhvr>
                                      <p:to>
                                        <p:strVal val="visible"/>
                                      </p:to>
                                    </p:set>
                                    <p:animEffect transition="in" filter="dissolve">
                                      <p:cBhvr>
                                        <p:cTn id="45" dur="500"/>
                                        <p:tgtEl>
                                          <p:spTgt spid="2">
                                            <p:txEl>
                                              <p:pRg st="1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
                                            <p:txEl>
                                              <p:pRg st="11" end="11"/>
                                            </p:txEl>
                                          </p:spTgt>
                                        </p:tgtEl>
                                        <p:attrNameLst>
                                          <p:attrName>style.visibility</p:attrName>
                                        </p:attrNameLst>
                                      </p:cBhvr>
                                      <p:to>
                                        <p:strVal val="visible"/>
                                      </p:to>
                                    </p:set>
                                    <p:animEffect transition="in" filter="dissolve">
                                      <p:cBhvr>
                                        <p:cTn id="50" dur="500"/>
                                        <p:tgtEl>
                                          <p:spTgt spid="2">
                                            <p:txEl>
                                              <p:pRg st="11" end="1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1" nodeType="clickEffect">
                                  <p:stCondLst>
                                    <p:cond delay="0"/>
                                  </p:stCondLst>
                                  <p:childTnLst>
                                    <p:set>
                                      <p:cBhvr>
                                        <p:cTn id="5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anim calcmode="lin" valueType="num">
                                      <p:cBhvr additive="base">
                                        <p:cTn id="63" dur="500" fill="hold"/>
                                        <p:tgtEl>
                                          <p:spTgt spid="4"/>
                                        </p:tgtEl>
                                        <p:attrNameLst>
                                          <p:attrName>ppt_x</p:attrName>
                                        </p:attrNameLst>
                                      </p:cBhvr>
                                      <p:tavLst>
                                        <p:tav tm="0">
                                          <p:val>
                                            <p:strVal val="#ppt_x"/>
                                          </p:val>
                                        </p:tav>
                                        <p:tav tm="100000">
                                          <p:val>
                                            <p:strVal val="#ppt_x"/>
                                          </p:val>
                                        </p:tav>
                                      </p:tavLst>
                                    </p:anim>
                                    <p:anim calcmode="lin" valueType="num">
                                      <p:cBhvr additive="base">
                                        <p:cTn id="6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uiExpand="1" build="allAtOnce"/>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a9.tiff"/>
          <p:cNvPicPr>
            <a:picLocks noChangeAspect="1"/>
          </p:cNvPicPr>
          <p:nvPr/>
        </p:nvPicPr>
        <p:blipFill rotWithShape="1">
          <a:blip r:embed="rId2">
            <a:extLst>
              <a:ext uri="{28A0092B-C50C-407E-A947-70E740481C1C}">
                <a14:useLocalDpi xmlns:a14="http://schemas.microsoft.com/office/drawing/2010/main" val="0"/>
              </a:ext>
            </a:extLst>
          </a:blip>
          <a:srcRect b="91268"/>
          <a:stretch/>
        </p:blipFill>
        <p:spPr>
          <a:xfrm>
            <a:off x="1841228" y="181531"/>
            <a:ext cx="5497819" cy="713234"/>
          </a:xfrm>
          <a:prstGeom prst="rect">
            <a:avLst/>
          </a:prstGeom>
          <a:ln w="38100" cap="sq">
            <a:solidFill>
              <a:schemeClr val="accent6">
                <a:lumMod val="40000"/>
                <a:lumOff val="60000"/>
              </a:schemeClr>
            </a:solidFill>
            <a:prstDash val="solid"/>
            <a:miter lim="800000"/>
          </a:ln>
          <a:effectLst>
            <a:outerShdw blurRad="50800" dist="38100" dir="2700000" algn="tl" rotWithShape="0">
              <a:srgbClr val="000000">
                <a:alpha val="43000"/>
              </a:srgbClr>
            </a:outerShdw>
          </a:effectLst>
        </p:spPr>
      </p:pic>
      <p:pic>
        <p:nvPicPr>
          <p:cNvPr id="3" name="Image 2" descr="a9.tiff"/>
          <p:cNvPicPr>
            <a:picLocks noChangeAspect="1"/>
          </p:cNvPicPr>
          <p:nvPr/>
        </p:nvPicPr>
        <p:blipFill rotWithShape="1">
          <a:blip r:embed="rId2">
            <a:extLst>
              <a:ext uri="{28A0092B-C50C-407E-A947-70E740481C1C}">
                <a14:useLocalDpi xmlns:a14="http://schemas.microsoft.com/office/drawing/2010/main" val="0"/>
              </a:ext>
            </a:extLst>
          </a:blip>
          <a:srcRect t="8025"/>
          <a:stretch/>
        </p:blipFill>
        <p:spPr>
          <a:xfrm rot="16200000">
            <a:off x="1823090" y="126220"/>
            <a:ext cx="5497819" cy="7513025"/>
          </a:xfrm>
          <a:prstGeom prst="rect">
            <a:avLst/>
          </a:prstGeom>
          <a:ln w="38100" cap="sq">
            <a:solidFill>
              <a:srgbClr val="FF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824424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que 1">
            <a:extLst>
              <a:ext uri="{FF2B5EF4-FFF2-40B4-BE49-F238E27FC236}">
                <a16:creationId xmlns:a16="http://schemas.microsoft.com/office/drawing/2014/main" id="{343049ED-D4FF-4D01-B70E-00EA35C165E0}"/>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3131840" y="2060848"/>
            <a:ext cx="2685824" cy="1944216"/>
          </a:xfrm>
          <a:prstGeom prst="rect">
            <a:avLst/>
          </a:prstGeom>
        </p:spPr>
      </p:pic>
    </p:spTree>
    <p:extLst>
      <p:ext uri="{BB962C8B-B14F-4D97-AF65-F5344CB8AC3E}">
        <p14:creationId xmlns:p14="http://schemas.microsoft.com/office/powerpoint/2010/main" val="485937822"/>
      </p:ext>
    </p:extLst>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1011</TotalTime>
  <Words>1929</Words>
  <Application>Microsoft Office PowerPoint</Application>
  <PresentationFormat>On-screen Show (4:3)</PresentationFormat>
  <Paragraphs>224</Paragraphs>
  <Slides>32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Arial Black</vt:lpstr>
      <vt:lpstr>Calibri</vt:lpstr>
      <vt:lpstr>Comic Sans MS</vt:lpstr>
      <vt:lpstr>Courier New</vt:lpstr>
      <vt:lpstr>Helvetica</vt:lpstr>
      <vt:lpstr>Sakkal Majalla</vt:lpstr>
      <vt:lpstr>Thème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Transmission de l'information génétique par reproduction sexuée</dc:title>
  <dc:creator>mac</dc:creator>
  <cp:lastModifiedBy>word</cp:lastModifiedBy>
  <cp:revision>117</cp:revision>
  <dcterms:created xsi:type="dcterms:W3CDTF">2020-10-07T20:18:42Z</dcterms:created>
  <dcterms:modified xsi:type="dcterms:W3CDTF">2026-01-14T21:13:58Z</dcterms:modified>
</cp:coreProperties>
</file>